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Attended new patients per week (sample)</a:t>
            </a:r>
          </a:p>
        </c:rich>
      </c:tx>
      <c:layout/>
      <c:overlay val="0"/>
    </c:title>
    <c:autoTitleDeleted val="0"/>
    <c:plotArea>
      <c:layout/>
      <c:barChart>
        <c:barDir val="col"/>
        <c:grouping val="clustered"/>
        <c:varyColors val="0"/>
        <c:ser>
          <c:idx val="0"/>
          <c:order val="0"/>
          <c:tx>
            <c:strRef>
              <c:f>Sheet1!$B$1</c:f>
              <c:strCache>
                <c:ptCount val="1"/>
                <c:pt idx="0">
                  <c:v>Attended</c:v>
                </c:pt>
              </c:strCache>
            </c:strRef>
          </c:tx>
          <c:spPr>
            <a:solidFill>
              <a:srgbClr val="5FE0C0"/>
            </a:solidFill>
            <a:effectLst/>
          </c:spPr>
          <c:invertIfNegative val="0"/>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cat>
            <c:multiLvlStrRef>
              <c:f>Sheet1!$A$2:$A$7</c:f>
              <c:multiLvlStrCache>
                <c:ptCount val="6"/>
                <c:lvl>
                  <c:pt idx="0">
                    <c:v>Wk 1</c:v>
                  </c:pt>
                  <c:pt idx="1">
                    <c:v>Wk 2</c:v>
                  </c:pt>
                  <c:pt idx="2">
                    <c:v>Wk 3</c:v>
                  </c:pt>
                  <c:pt idx="3">
                    <c:v>Wk 4</c:v>
                  </c:pt>
                  <c:pt idx="4">
                    <c:v>Wk 5</c:v>
                  </c:pt>
                  <c:pt idx="5">
                    <c:v>Wk 6</c:v>
                  </c:pt>
                </c:lvl>
              </c:multiLvlStrCache>
            </c:multiLvlStrRef>
          </c:cat>
          <c:val>
            <c:numRef>
              <c:f>Sheet1!$B$2:$B$7</c:f>
              <c:numCache>
                <c:formatCode>General</c:formatCode>
                <c:ptCount val="6"/>
                <c:pt idx="0">
                  <c:v>8</c:v>
                </c:pt>
                <c:pt idx="1">
                  <c:v>11</c:v>
                </c:pt>
                <c:pt idx="2">
                  <c:v>13</c:v>
                </c:pt>
                <c:pt idx="3">
                  <c:v>15</c:v>
                </c:pt>
                <c:pt idx="4">
                  <c:v>12</c:v>
                </c:pt>
                <c:pt idx="5">
                  <c:v>13</c:v>
                </c:pt>
              </c:numCache>
            </c:numRef>
          </c:val>
        </c:ser>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9FB0D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Monthly attended new-patient appointments (demo data)</a:t>
            </a:r>
          </a:p>
        </c:rich>
      </c:tx>
      <c:layout/>
      <c:overlay val="0"/>
    </c:title>
    <c:autoTitleDeleted val="0"/>
    <c:plotArea>
      <c:layout/>
      <c:barChart>
        <c:barDir val="col"/>
        <c:grouping val="clustered"/>
        <c:varyColors val="0"/>
        <c:ser>
          <c:idx val="0"/>
          <c:order val="0"/>
          <c:tx>
            <c:strRef>
              <c:f>Sheet1!$B$1</c:f>
              <c:strCache>
                <c:ptCount val="1"/>
                <c:pt idx="0">
                  <c:v>Attended</c:v>
                </c:pt>
              </c:strCache>
            </c:strRef>
          </c:tx>
          <c:spPr>
            <a:solidFill>
              <a:srgbClr val="9FB0D0"/>
            </a:solidFill>
            <a:effectLst/>
          </c:spPr>
          <c:invertIfNegative val="0"/>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9FB0D0"/>
              </a:solidFill>
              <a:effectLst/>
            </c:spPr>
          </c:dPt>
          <c:dPt>
            <c:idx val="1"/>
            <c:invertIfNegative val="0"/>
            <c:bubble3D val="0"/>
            <c:spPr>
              <a:solidFill>
                <a:srgbClr val="5FE0C0"/>
              </a:solidFill>
              <a:effectLst/>
            </c:spPr>
          </c:dPt>
          <c:dPt>
            <c:idx val="2"/>
            <c:invertIfNegative val="0"/>
            <c:bubble3D val="0"/>
            <c:spPr>
              <a:solidFill>
                <a:srgbClr val="5FE0C0"/>
              </a:solidFill>
              <a:effectLst/>
            </c:spPr>
          </c:dPt>
          <c:dPt>
            <c:idx val="3"/>
            <c:invertIfNegative val="0"/>
            <c:bubble3D val="0"/>
            <c:spPr>
              <a:solidFill>
                <a:srgbClr val="5FE0C0"/>
              </a:solidFill>
              <a:effectLst/>
            </c:spPr>
          </c:dPt>
          <c:dPt>
            <c:idx val="4"/>
            <c:invertIfNegative val="0"/>
            <c:bubble3D val="0"/>
            <c:spPr>
              <a:solidFill>
                <a:srgbClr val="5FE0C0"/>
              </a:solidFill>
              <a:effectLst/>
            </c:spPr>
          </c:dPt>
          <c:dPt>
            <c:idx val="5"/>
            <c:invertIfNegative val="0"/>
            <c:bubble3D val="0"/>
            <c:spPr>
              <a:solidFill>
                <a:srgbClr val="5FE0C0"/>
              </a:solidFill>
              <a:effectLst/>
            </c:spPr>
          </c:dPt>
          <c:dPt>
            <c:idx val="6"/>
            <c:invertIfNegative val="0"/>
            <c:bubble3D val="0"/>
            <c:spPr>
              <a:solidFill>
                <a:srgbClr val="5FE0C0"/>
              </a:solidFill>
              <a:effectLst/>
            </c:spPr>
          </c:dPt>
          <c:cat>
            <c:multiLvlStrRef>
              <c:f>Sheet1!$A$2:$A$8</c:f>
              <c:multiLvlStrCache>
                <c:ptCount val="7"/>
                <c:lvl>
                  <c:pt idx="0">
                    <c:v>Before</c:v>
                  </c:pt>
                  <c:pt idx="1">
                    <c:v>M1</c:v>
                  </c:pt>
                  <c:pt idx="2">
                    <c:v>M2</c:v>
                  </c:pt>
                  <c:pt idx="3">
                    <c:v>M3</c:v>
                  </c:pt>
                  <c:pt idx="4">
                    <c:v>M4</c:v>
                  </c:pt>
                  <c:pt idx="5">
                    <c:v>M5</c:v>
                  </c:pt>
                  <c:pt idx="6">
                    <c:v>M6</c:v>
                  </c:pt>
                </c:lvl>
              </c:multiLvlStrCache>
            </c:multiLvlStrRef>
          </c:cat>
          <c:val>
            <c:numRef>
              <c:f>Sheet1!$B$2:$B$8</c:f>
              <c:numCache>
                <c:formatCode>General</c:formatCode>
                <c:ptCount val="7"/>
                <c:pt idx="0">
                  <c:v>22</c:v>
                </c:pt>
                <c:pt idx="1">
                  <c:v>30</c:v>
                </c:pt>
                <c:pt idx="2">
                  <c:v>41</c:v>
                </c:pt>
                <c:pt idx="3">
                  <c:v>52</c:v>
                </c:pt>
                <c:pt idx="4">
                  <c:v>61</c:v>
                </c:pt>
                <c:pt idx="5">
                  <c:v>68</c:v>
                </c:pt>
                <c:pt idx="6">
                  <c:v>72</c:v>
                </c:pt>
              </c:numCache>
            </c:numRef>
          </c:val>
        </c:ser>
        <c:dLbls>
          <c:numFmt formatCode="#,##0" sourceLinked="0"/>
          <c:txPr>
            <a:bodyPr/>
            <a:lstStyle/>
            <a:p>
              <a:pPr>
                <a:defRPr b="0" i="0" strike="noStrike" sz="14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9FB0D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CALL, 0:00-1:00. Open with permission and a plan: 'Thanks for the time. I'll keep this to about 20 minutes. First I want to show you something I did on your clinic, then how we fix it, then you tell me if it makes sense.' Ask them to say in one line what they run and how new patients find them today. Write down their answer. You will use it on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1:00-1:30. Keep it to 30 seconds: 'I've spent 8 years running paid ads, with over $2M in spend managed. For clinics we run the ads, the instant reply, the booking and the tracking.' Then move on. Don't add the '30,000+ appointments' line until you've confirmed what it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1:30-2:30. Be upfront: 'These are fashion and D2C brands, not clinics. I'm showing them because it's the same ad engine we'll use for you. We haven't run this for a clinic yet, and I'd rather say that than pretend.' Then: 'What you'll see in your own account is the same kind of report.'
CAPTIONS match what the screenshots show. Be ready for: 'Which brands?' Answer: 'Names are private. Happy to share more when we're working together.' Only add client names after you have their written 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2:30-4:00. THIS IS YOUR STRONGEST SLIDE. Do this before every call:
1. Message the clinic through its website form, WhatsApp or Instagram, posing as a patient asking about a treatment. Do it at night or on a weekend if you can.
2. Screenshot the enquiry and the first reply, with times.
3. Fill the three boxes. If they have not replied yet, write 'No reply yet' and the hours waited.
4. Delete the yellow TEMPLATE badge and this note before presenting.
Say: 'Before this call I sent your clinic a message the way a new patient would. This is what happened.' Then stop talking and let them read it.
RULES: Use only your own message. Never use real patient data. Be honest and polite. If their reply was fast, say so and congratulate them, then move to Track and Show up, where most clinics still leak. If you can't run the test, delete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4:00-6:00. DISCOVERY. Ask: 'Which of these sounds most like you?' Many clinics are two at once.
Follow-ups:
- Referral clinic: 'How many new patients did you get last month, and how many came from referrals?'
- Already advertising: 'What do you spend a month, and how fast do you reply to new enquiries?'
- Agency clinic: 'Can your agency tell you how many new patients the ads brought in last month?'
Write their numbers down for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6:00-7:30. Say 'most agencies' or 'many agencies', never a competitor's name. Their own words from the last slide set this up: 'You told me your agency reports cost per lead. Nobody tracks what happens after. That's the gap we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7:30-10:00. Walk the five stages, but spend your time where THEY said they leak:
- Referral clinic: Attract, then Reply.
- Already advertising: Reply and Show up. 'Before you spend another rupee on ads, let's fix the leak.'
- Paying an agency: Track.
Next two slides show what each stage looks like in practice.
CLAIM CHECKS: past-patient win-back and review requests are the Win-Back and Review Booster bonuses on your site. Tracking to revenue needs the clinic to share what each treatment is worth. Confirm that is in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10:00-12:00. DEMO MOMENT. Say: 'This is the Reply and Show up stages. On the left, a lead messages at 9:47 on a Sunday and gets an answer in under a minute with real times offered. On the right, your calendar fills, and reminders go out so people show up.'
Ask: 'What happens in your clinic today when someone messages at that time?'
BETTER THAN A MOCK: if you have a real demo set up (a test number, a test calendar), switch to it and show it live, or play a 60-second screen recording. Tell them it's a demo clinic, not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12:00-14:00. THE TRACK STAGE. Say: 'This is what lands in your inbox every week. Not reach, not cost per lead. How many leads came in, how many booked, how many came, how many were treated, and where each came from.'
Ask: 'If you saw this every Monday, what would you do differently?'
Point at the table: 'This is how you find out which source is actually paying for itself.'
REVENUE NEEDS THE CLINIC'S DATA: they have to share treatment value from their booking or billing system. Say so, so it isn't a surprise later.
All numbers here are sample. They add up: 240 leads, 96 booked, 72 attended, 41 treated.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14:00-15:30. Make it concrete: 'If we start on [date], the audit lands by [date], replies are live by [date], ads go live by [date], and we sit down on [day 30] to agree your number.' Only promise these dates if your team can hit them. Check capacity before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15:30-18:00. Fill this in LIVE with their numbers from slide 5. Example flow: 'You said a new patient is worth about [X] over the first year. If we bring [Y] extra attended patients a month, that's [X x Y] a month. Against [ad spend + our fee]. Does that make sense?' Then be quiet.
Never invent their numbers. If they don't know the value of a patient, ask for their average first-visit spend and the number of return visits.
Delete the yellow badge before presenting, or keep it as a cue for yourself and hide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18:00-20:00. Say it exactly: 'We agree your number of attended appointments in writing at day 30. If we haven't delivered it by day 90, we keep managing your campaigns at no charge until we do.' Do NOT say 'or you don't pay' or 'money back': the terms say we keep working free, not a refund.
STATE YOUR FEE OUT LOUD HERE. If you have a fixed fee, type it into the 'Our fee' line before the call. After you say the number, stop talking.
If they push on price, trade for something real (a longer term, a faster start). Don't cut the fee for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Say: 'Based on what you told me, [their biggest leak] is costing you [their number]. Does it make sense to start?' Then be quiet.
If yes: send the agreement the same day and book the audit kickoff.
If not yet: book a dated follow-up before you hang up. Ask 'What would you need to see to feel sure?' Never end with 'let me know'.
SCARCITY: 'One clinic per area' is true for your model. Check whether their area is free BEFORE the call, and only say it's available if it is. Don't invent a start-date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Go here only if asked.
- 'We tried agencies': ask what they didn't like, then link it to reply speed, tracking or the guarantee.
- Case studies: use the honest line. Pair it with slide 3 and the secret-shopper test.
- Cost: give the number from the fee slide.
- Ads allowed: don't promise beyond platform-rule checks. For IVF and fertility, advertising rules are stricter and differ by country. Check with the clinic and your own advisers before you promise anything about specific treatment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TEMPLATE. This slide is not shown in the slideshow. It is a layout for your FIRST REAL clinic case study. Every number is made-up demo data.
TO USE: right-click the slide in the thumbnail panel and un-hide it, move it after slide 3, then:
1. Change the title to the real clinic (or 'Anonymous Med Spa, Mumbai').
2. Right-click the chart &gt; Edit Data and enter the real monthly attended appointments.
3. Update the big number, the 'up from' number and the three chips.
4. Delete the DEMO DATA badge and '(demo)' labels.
5. Get the clinic's written OK. Never show patient names or data.
Count only appointments marked attended in the clinic's booking system, same as the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DREAMLINE LABS</a:t>
            </a:r>
            <a:endParaRPr lang="en-US" sz="1200" dirty="0"/>
          </a:p>
        </p:txBody>
      </p:sp>
      <p:sp>
        <p:nvSpPr>
          <p:cNvPr id="3" name="Text 1"/>
          <p:cNvSpPr/>
          <p:nvPr>
            <p:ph idx="101" type="title" hasCustomPrompt="1"/>
          </p:nvPr>
        </p:nvSpPr>
        <p:spPr>
          <a:xfrm>
            <a:off x="548640" y="1188720"/>
            <a:ext cx="1106424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HERO">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DREAMLINE LABS</a:t>
            </a:r>
            <a:endParaRPr lang="en-US" sz="1200" dirty="0"/>
          </a:p>
        </p:txBody>
      </p:sp>
      <p:sp>
        <p:nvSpPr>
          <p:cNvPr id="3" name="Text 1"/>
          <p:cNvSpPr/>
          <p:nvPr>
            <p:ph idx="101" type="title" hasCustomPrompt="1"/>
          </p:nvPr>
        </p:nvSpPr>
        <p:spPr>
          <a:xfrm>
            <a:off x="548640" y="2194560"/>
            <a:ext cx="9601200" cy="16459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ASE">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DREAMLINE LABS</a:t>
            </a:r>
            <a:endParaRPr lang="en-US" sz="1200" dirty="0"/>
          </a:p>
        </p:txBody>
      </p:sp>
      <p:sp>
        <p:nvSpPr>
          <p:cNvPr id="3" name="Text 1"/>
          <p:cNvSpPr/>
          <p:nvPr>
            <p:ph idx="101" type="title" hasCustomPrompt="1"/>
          </p:nvPr>
        </p:nvSpPr>
        <p:spPr>
          <a:xfrm>
            <a:off x="548640" y="1554480"/>
            <a:ext cx="5394960"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txBox="1"/>
          <p:nvPr/>
        </p:nvSpPr>
        <p:spPr>
          <a:xfrm>
            <a:off x="548640" y="365760"/>
            <a:ext cx="36576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DREAMLINE LABS</a:t>
            </a:r>
            <a:endParaRPr lang="en-US" sz="1200" dirty="0"/>
          </a:p>
        </p:txBody>
      </p:sp>
      <p:sp>
        <p:nvSpPr>
          <p:cNvPr id="3" name="Text 1"/>
          <p:cNvSpPr/>
          <p:nvPr>
            <p:ph idx="101" type="title" hasCustomPrompt="1"/>
          </p:nvPr>
        </p:nvSpPr>
        <p:spPr>
          <a:xfrm>
            <a:off x="548640" y="1188720"/>
            <a:ext cx="11064240" cy="91440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737360"/>
            <a:ext cx="82296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THE PATIENT FLOW SYSTEM FOR PRIVATE CLINICS</a:t>
            </a:r>
            <a:endParaRPr lang="en-US" sz="1400" dirty="0"/>
          </a:p>
        </p:txBody>
      </p:sp>
      <p:sp>
        <p:nvSpPr>
          <p:cNvPr id="3" name="Text 1"/>
          <p:cNvSpPr txBox="1"/>
          <p:nvPr>
            <p:ph idx="101" type="title" hasCustomPrompt="1"/>
          </p:nvPr>
        </p:nvSpPr>
        <p:spPr>
          <a:xfrm>
            <a:off x="548640" y="2194560"/>
            <a:ext cx="9601200" cy="1645920"/>
          </a:xfrm>
          <a:prstGeom prst="rect">
            <a:avLst/>
          </a:prstGeom>
          <a:noFill/>
          <a:ln/>
        </p:spPr>
        <p:txBody>
          <a:bodyPr wrap="square" lIns="0" tIns="0" rIns="0" bIns="0" rtlCol="0" anchor="t"/>
          <a:lstStyle/>
          <a:p>
            <a:pPr algn="l" indent="0" marL="0">
              <a:buNone/>
            </a:pPr>
            <a:r>
              <a:rPr lang="en-US" sz="5400" b="1" dirty="0">
                <a:solidFill>
                  <a:schemeClr val="bg1"/>
                </a:solidFill>
              </a:rPr>
              <a:t>From First Enquiry to Treated Patient. Tracked.</a:t>
            </a:r>
            <a:endParaRPr lang="en-US" sz="5400" dirty="0"/>
          </a:p>
        </p:txBody>
      </p:sp>
      <p:sp>
        <p:nvSpPr>
          <p:cNvPr id="4" name="Text 2"/>
          <p:cNvSpPr txBox="1"/>
          <p:nvPr/>
        </p:nvSpPr>
        <p:spPr>
          <a:xfrm>
            <a:off x="548640" y="4069080"/>
            <a:ext cx="9144000" cy="548640"/>
          </a:xfrm>
          <a:prstGeom prst="rect">
            <a:avLst/>
          </a:prstGeom>
          <a:noFill/>
          <a:ln/>
        </p:spPr>
        <p:txBody>
          <a:bodyPr wrap="square" lIns="0" tIns="0" rIns="0" bIns="0" rtlCol="0" anchor="ctr"/>
          <a:lstStyle/>
          <a:p>
            <a:pPr indent="0" marL="0">
              <a:buNone/>
            </a:pPr>
            <a:r>
              <a:rPr lang="en-US" sz="2800" b="1" dirty="0">
                <a:solidFill>
                  <a:schemeClr val="accent1"/>
                </a:solidFill>
              </a:rPr>
              <a:t>Done for you. Number agreed in writing.</a:t>
            </a:r>
            <a:endParaRPr lang="en-US" sz="2800" dirty="0"/>
          </a:p>
        </p:txBody>
      </p:sp>
      <p:sp>
        <p:nvSpPr>
          <p:cNvPr id="5" name="Text 3"/>
          <p:cNvSpPr txBox="1"/>
          <p:nvPr/>
        </p:nvSpPr>
        <p:spPr>
          <a:xfrm>
            <a:off x="548640" y="4709160"/>
            <a:ext cx="9144000" cy="457200"/>
          </a:xfrm>
          <a:prstGeom prst="rect">
            <a:avLst/>
          </a:prstGeom>
          <a:noFill/>
          <a:ln/>
        </p:spPr>
        <p:txBody>
          <a:bodyPr wrap="square" lIns="0" tIns="0" rIns="0" bIns="0" rtlCol="0" anchor="ctr"/>
          <a:lstStyle/>
          <a:p>
            <a:pPr indent="0" marL="0">
              <a:buNone/>
            </a:pPr>
            <a:r>
              <a:rPr lang="en-US" sz="2200" i="1" dirty="0">
                <a:solidFill>
                  <a:schemeClr val="bg1"/>
                </a:solidFill>
              </a:rPr>
              <a:t>Or we work free until we deliver</a:t>
            </a:r>
            <a:endParaRPr lang="en-US" sz="2200" dirty="0"/>
          </a:p>
        </p:txBody>
      </p:sp>
      <p:sp>
        <p:nvSpPr>
          <p:cNvPr id="6" name="Text 4"/>
          <p:cNvSpPr txBox="1"/>
          <p:nvPr/>
        </p:nvSpPr>
        <p:spPr>
          <a:xfrm>
            <a:off x="548640" y="5943600"/>
            <a:ext cx="9144000" cy="320040"/>
          </a:xfrm>
          <a:prstGeom prst="rect">
            <a:avLst/>
          </a:prstGeom>
          <a:noFill/>
          <a:ln/>
        </p:spPr>
        <p:txBody>
          <a:bodyPr wrap="square" lIns="0" tIns="0" rIns="0" bIns="0" rtlCol="0" anchor="ctr"/>
          <a:lstStyle/>
          <a:p>
            <a:pPr indent="0" marL="0">
              <a:buNone/>
            </a:pPr>
            <a:r>
              <a:rPr lang="en-US" sz="1400" dirty="0">
                <a:solidFill>
                  <a:schemeClr val="accent5"/>
                </a:solidFill>
              </a:rPr>
              <a:t>Med spa  |  Hair  |  Skin  |  IVF  |  Dental  |  Wellness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Who We Are</a:t>
            </a:r>
            <a:endParaRPr lang="en-US" sz="3800" dirty="0"/>
          </a:p>
        </p:txBody>
      </p:sp>
      <p:pic>
        <p:nvPicPr>
          <p:cNvPr id="3" name="Founder photo" descr="Nitesh Jaiswal, Founder of Dreamline Labs">    </p:cNvPr>
          <p:cNvPicPr>
            <a:picLocks noChangeAspect="1"/>
          </p:cNvPicPr>
          <p:nvPr/>
        </p:nvPicPr>
        <p:blipFill>
          <a:blip r:embed="rId1"/>
          <a:srcRect l="0" r="0" t="0" b="0"/>
          <a:stretch/>
        </p:blipFill>
        <p:spPr>
          <a:xfrm>
            <a:off x="8138160" y="914400"/>
            <a:ext cx="3474720" cy="3474720"/>
          </a:xfrm>
          <a:prstGeom prst="ellipse">
            <a:avLst/>
          </a:prstGeom>
        </p:spPr>
      </p:pic>
      <p:sp>
        <p:nvSpPr>
          <p:cNvPr id="4" name="Text 1"/>
          <p:cNvSpPr txBox="1"/>
          <p:nvPr/>
        </p:nvSpPr>
        <p:spPr>
          <a:xfrm>
            <a:off x="8138160" y="4572000"/>
            <a:ext cx="3474720" cy="365760"/>
          </a:xfrm>
          <a:prstGeom prst="rect">
            <a:avLst/>
          </a:prstGeom>
          <a:noFill/>
          <a:ln/>
        </p:spPr>
        <p:txBody>
          <a:bodyPr wrap="square" lIns="0" tIns="0" rIns="0" bIns="0" rtlCol="0" anchor="ctr"/>
          <a:lstStyle/>
          <a:p>
            <a:pPr algn="ctr" indent="0" marL="0">
              <a:buNone/>
            </a:pPr>
            <a:r>
              <a:rPr lang="en-US" sz="1800" b="1" dirty="0">
                <a:solidFill>
                  <a:schemeClr val="bg1"/>
                </a:solidFill>
              </a:rPr>
              <a:t>Nitesh Jaiswal, Founder</a:t>
            </a:r>
            <a:endParaRPr lang="en-US" sz="1800" dirty="0"/>
          </a:p>
        </p:txBody>
      </p:sp>
      <p:sp>
        <p:nvSpPr>
          <p:cNvPr id="5" name="Credential pill 1"/>
          <p:cNvSpPr/>
          <p:nvPr/>
        </p:nvSpPr>
        <p:spPr>
          <a:xfrm>
            <a:off x="548640" y="2011680"/>
            <a:ext cx="6949440" cy="777240"/>
          </a:xfrm>
          <a:prstGeom prst="roundRect">
            <a:avLst>
              <a:gd name="adj" fmla="val 49412"/>
            </a:avLst>
          </a:prstGeom>
          <a:solidFill>
            <a:schemeClr val="accent6"/>
          </a:solidFill>
          <a:ln w="12700">
            <a:solidFill>
              <a:schemeClr val="accent6"/>
            </a:solidFill>
            <a:prstDash val="solid"/>
          </a:ln>
        </p:spPr>
      </p:sp>
      <p:sp>
        <p:nvSpPr>
          <p:cNvPr id="6" name="Text 3"/>
          <p:cNvSpPr txBox="1"/>
          <p:nvPr/>
        </p:nvSpPr>
        <p:spPr>
          <a:xfrm>
            <a:off x="914400" y="2011680"/>
            <a:ext cx="6309360" cy="777240"/>
          </a:xfrm>
          <a:prstGeom prst="rect">
            <a:avLst/>
          </a:prstGeom>
          <a:noFill/>
          <a:ln/>
        </p:spPr>
        <p:txBody>
          <a:bodyPr wrap="square" lIns="0" tIns="0" rIns="0" bIns="0" rtlCol="0" anchor="ctr"/>
          <a:lstStyle/>
          <a:p>
            <a:pPr indent="0" marL="0">
              <a:buNone/>
            </a:pPr>
            <a:r>
              <a:rPr lang="en-US" sz="2000" dirty="0">
                <a:solidFill>
                  <a:schemeClr val="bg1"/>
                </a:solidFill>
              </a:rPr>
              <a:t>Growth partner for private clinics</a:t>
            </a:r>
            <a:endParaRPr lang="en-US" sz="2000" dirty="0"/>
          </a:p>
        </p:txBody>
      </p:sp>
      <p:sp>
        <p:nvSpPr>
          <p:cNvPr id="7" name="Credential pill 2"/>
          <p:cNvSpPr/>
          <p:nvPr/>
        </p:nvSpPr>
        <p:spPr>
          <a:xfrm>
            <a:off x="548640" y="2971800"/>
            <a:ext cx="6949440" cy="777240"/>
          </a:xfrm>
          <a:prstGeom prst="roundRect">
            <a:avLst>
              <a:gd name="adj" fmla="val 49412"/>
            </a:avLst>
          </a:prstGeom>
          <a:solidFill>
            <a:schemeClr val="accent6"/>
          </a:solidFill>
          <a:ln w="12700">
            <a:solidFill>
              <a:schemeClr val="accent6"/>
            </a:solidFill>
            <a:prstDash val="solid"/>
          </a:ln>
        </p:spPr>
      </p:sp>
      <p:sp>
        <p:nvSpPr>
          <p:cNvPr id="8" name="Text 5"/>
          <p:cNvSpPr txBox="1"/>
          <p:nvPr/>
        </p:nvSpPr>
        <p:spPr>
          <a:xfrm>
            <a:off x="914400" y="2971800"/>
            <a:ext cx="6309360" cy="777240"/>
          </a:xfrm>
          <a:prstGeom prst="rect">
            <a:avLst/>
          </a:prstGeom>
          <a:noFill/>
          <a:ln/>
        </p:spPr>
        <p:txBody>
          <a:bodyPr wrap="square" lIns="0" tIns="0" rIns="0" bIns="0" rtlCol="0" anchor="ctr"/>
          <a:lstStyle/>
          <a:p>
            <a:pPr indent="0" marL="0">
              <a:buNone/>
            </a:pPr>
            <a:r>
              <a:rPr lang="en-US" sz="2000" dirty="0">
                <a:solidFill>
                  <a:schemeClr val="bg1"/>
                </a:solidFill>
              </a:rPr>
              <a:t>8+ years running paid ads</a:t>
            </a:r>
            <a:endParaRPr lang="en-US" sz="2000" dirty="0"/>
          </a:p>
        </p:txBody>
      </p:sp>
      <p:sp>
        <p:nvSpPr>
          <p:cNvPr id="9" name="Credential pill 3"/>
          <p:cNvSpPr/>
          <p:nvPr/>
        </p:nvSpPr>
        <p:spPr>
          <a:xfrm>
            <a:off x="548640" y="3931920"/>
            <a:ext cx="6949440" cy="777240"/>
          </a:xfrm>
          <a:prstGeom prst="roundRect">
            <a:avLst>
              <a:gd name="adj" fmla="val 49412"/>
            </a:avLst>
          </a:prstGeom>
          <a:solidFill>
            <a:schemeClr val="accent6"/>
          </a:solidFill>
          <a:ln w="12700">
            <a:solidFill>
              <a:schemeClr val="accent6"/>
            </a:solidFill>
            <a:prstDash val="solid"/>
          </a:ln>
        </p:spPr>
      </p:sp>
      <p:sp>
        <p:nvSpPr>
          <p:cNvPr id="10" name="Text 7"/>
          <p:cNvSpPr txBox="1"/>
          <p:nvPr/>
        </p:nvSpPr>
        <p:spPr>
          <a:xfrm>
            <a:off x="914400" y="3931920"/>
            <a:ext cx="6309360" cy="777240"/>
          </a:xfrm>
          <a:prstGeom prst="rect">
            <a:avLst/>
          </a:prstGeom>
          <a:noFill/>
          <a:ln/>
        </p:spPr>
        <p:txBody>
          <a:bodyPr wrap="square" lIns="0" tIns="0" rIns="0" bIns="0" rtlCol="0" anchor="ctr"/>
          <a:lstStyle/>
          <a:p>
            <a:pPr indent="0" marL="0">
              <a:buNone/>
            </a:pPr>
            <a:r>
              <a:rPr lang="en-US" sz="2000" dirty="0">
                <a:solidFill>
                  <a:schemeClr val="bg1"/>
                </a:solidFill>
              </a:rPr>
              <a:t>$2M+ ad spend managed (₹20Cr+)</a:t>
            </a:r>
            <a:endParaRPr lang="en-US" sz="2000" dirty="0"/>
          </a:p>
        </p:txBody>
      </p:sp>
      <p:sp>
        <p:nvSpPr>
          <p:cNvPr id="11" name="Credential pill 4"/>
          <p:cNvSpPr/>
          <p:nvPr/>
        </p:nvSpPr>
        <p:spPr>
          <a:xfrm>
            <a:off x="548640" y="4892040"/>
            <a:ext cx="6949440" cy="777240"/>
          </a:xfrm>
          <a:prstGeom prst="roundRect">
            <a:avLst>
              <a:gd name="adj" fmla="val 49412"/>
            </a:avLst>
          </a:prstGeom>
          <a:solidFill>
            <a:schemeClr val="accent6"/>
          </a:solidFill>
          <a:ln w="12700">
            <a:solidFill>
              <a:schemeClr val="accent6"/>
            </a:solidFill>
            <a:prstDash val="solid"/>
          </a:ln>
        </p:spPr>
      </p:sp>
      <p:sp>
        <p:nvSpPr>
          <p:cNvPr id="12" name="Text 9"/>
          <p:cNvSpPr txBox="1"/>
          <p:nvPr/>
        </p:nvSpPr>
        <p:spPr>
          <a:xfrm>
            <a:off x="914400" y="4892040"/>
            <a:ext cx="6309360" cy="777240"/>
          </a:xfrm>
          <a:prstGeom prst="rect">
            <a:avLst/>
          </a:prstGeom>
          <a:noFill/>
          <a:ln/>
        </p:spPr>
        <p:txBody>
          <a:bodyPr wrap="square" lIns="0" tIns="0" rIns="0" bIns="0" rtlCol="0" anchor="ctr"/>
          <a:lstStyle/>
          <a:p>
            <a:pPr indent="0" marL="0">
              <a:buNone/>
            </a:pPr>
            <a:r>
              <a:rPr lang="en-US" sz="2000" dirty="0">
                <a:solidFill>
                  <a:schemeClr val="bg1"/>
                </a:solidFill>
              </a:rPr>
              <a:t>Ads, instant reply, booking and tracking under one roof</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Our ad results, in other industries</a:t>
            </a:r>
            <a:endParaRPr lang="en-US" sz="3800" dirty="0"/>
          </a:p>
        </p:txBody>
      </p:sp>
      <p:sp>
        <p:nvSpPr>
          <p:cNvPr id="3" name="Proof card 1"/>
          <p:cNvSpPr/>
          <p:nvPr/>
        </p:nvSpPr>
        <p:spPr>
          <a:xfrm>
            <a:off x="548640" y="1874520"/>
            <a:ext cx="3566160" cy="4114800"/>
          </a:xfrm>
          <a:prstGeom prst="roundRect">
            <a:avLst>
              <a:gd name="adj" fmla="val 3077"/>
            </a:avLst>
          </a:prstGeom>
          <a:solidFill>
            <a:schemeClr val="accent6"/>
          </a:solidFill>
          <a:ln w="12700">
            <a:solidFill>
              <a:schemeClr val="accent6"/>
            </a:solidFill>
            <a:prstDash val="solid"/>
          </a:ln>
        </p:spPr>
      </p:sp>
      <p:sp>
        <p:nvSpPr>
          <p:cNvPr id="4" name="Screenshot frame 1"/>
          <p:cNvSpPr/>
          <p:nvPr/>
        </p:nvSpPr>
        <p:spPr>
          <a:xfrm>
            <a:off x="731520" y="2057400"/>
            <a:ext cx="3200400" cy="1737360"/>
          </a:xfrm>
          <a:prstGeom prst="rect">
            <a:avLst/>
          </a:prstGeom>
          <a:solidFill>
            <a:schemeClr val="bg1"/>
          </a:solidFill>
          <a:ln w="12700">
            <a:solidFill>
              <a:schemeClr val="bg1"/>
            </a:solidFill>
            <a:prstDash val="solid"/>
          </a:ln>
        </p:spPr>
      </p:sp>
      <p:pic>
        <p:nvPicPr>
          <p:cNvPr id="5" name="Screenshot 1" descr="Real dashboard screenshot: ₹86L in a month">    </p:cNvPr>
          <p:cNvPicPr>
            <a:picLocks noChangeAspect="1"/>
          </p:cNvPicPr>
          <p:nvPr/>
        </p:nvPicPr>
        <p:blipFill>
          <a:blip r:embed="rId1"/>
          <a:srcRect l="0" r="0" t="0" b="0"/>
          <a:stretch/>
        </p:blipFill>
        <p:spPr>
          <a:xfrm>
            <a:off x="731520" y="2057400"/>
            <a:ext cx="3200400" cy="1737360"/>
          </a:xfrm>
          <a:prstGeom prst="rect">
            <a:avLst/>
          </a:prstGeom>
        </p:spPr>
      </p:pic>
      <p:sp>
        <p:nvSpPr>
          <p:cNvPr id="6" name="Text 3"/>
          <p:cNvSpPr txBox="1"/>
          <p:nvPr/>
        </p:nvSpPr>
        <p:spPr>
          <a:xfrm>
            <a:off x="777240" y="3931920"/>
            <a:ext cx="3108960" cy="548640"/>
          </a:xfrm>
          <a:prstGeom prst="rect">
            <a:avLst/>
          </a:prstGeom>
          <a:noFill/>
          <a:ln/>
        </p:spPr>
        <p:txBody>
          <a:bodyPr wrap="square" lIns="0" tIns="0" rIns="0" bIns="0" rtlCol="0" anchor="ctr"/>
          <a:lstStyle/>
          <a:p>
            <a:pPr indent="0" marL="0">
              <a:buNone/>
            </a:pPr>
            <a:r>
              <a:rPr lang="en-US" sz="2400" b="1" dirty="0">
                <a:solidFill>
                  <a:schemeClr val="accent1"/>
                </a:solidFill>
              </a:rPr>
              <a:t>₹86L in a month</a:t>
            </a:r>
            <a:endParaRPr lang="en-US" sz="2400" dirty="0"/>
          </a:p>
        </p:txBody>
      </p:sp>
      <p:sp>
        <p:nvSpPr>
          <p:cNvPr id="7" name="Text 4"/>
          <p:cNvSpPr txBox="1"/>
          <p:nvPr/>
        </p:nvSpPr>
        <p:spPr>
          <a:xfrm>
            <a:off x="777240" y="4526280"/>
            <a:ext cx="3108960" cy="1280160"/>
          </a:xfrm>
          <a:prstGeom prst="rect">
            <a:avLst/>
          </a:prstGeom>
          <a:noFill/>
          <a:ln/>
        </p:spPr>
        <p:txBody>
          <a:bodyPr wrap="square" lIns="0" tIns="0" rIns="0" bIns="0" rtlCol="0" anchor="t"/>
          <a:lstStyle/>
          <a:p>
            <a:pPr indent="0" marL="0">
              <a:buNone/>
            </a:pPr>
            <a:r>
              <a:rPr lang="en-US" sz="1400" dirty="0">
                <a:solidFill>
                  <a:schemeClr val="bg1"/>
                </a:solidFill>
              </a:rPr>
              <a:t>Meta purchase value at 3.33 ROAS. Fashion brand, Mar 2024</a:t>
            </a:r>
            <a:endParaRPr lang="en-US" sz="1400" dirty="0"/>
          </a:p>
        </p:txBody>
      </p:sp>
      <p:sp>
        <p:nvSpPr>
          <p:cNvPr id="8" name="Proof card 2"/>
          <p:cNvSpPr/>
          <p:nvPr/>
        </p:nvSpPr>
        <p:spPr>
          <a:xfrm>
            <a:off x="4297680" y="1874520"/>
            <a:ext cx="3566160" cy="4114800"/>
          </a:xfrm>
          <a:prstGeom prst="roundRect">
            <a:avLst>
              <a:gd name="adj" fmla="val 3077"/>
            </a:avLst>
          </a:prstGeom>
          <a:solidFill>
            <a:schemeClr val="accent6"/>
          </a:solidFill>
          <a:ln w="12700">
            <a:solidFill>
              <a:schemeClr val="accent6"/>
            </a:solidFill>
            <a:prstDash val="solid"/>
          </a:ln>
        </p:spPr>
      </p:sp>
      <p:sp>
        <p:nvSpPr>
          <p:cNvPr id="9" name="Screenshot frame 2"/>
          <p:cNvSpPr/>
          <p:nvPr/>
        </p:nvSpPr>
        <p:spPr>
          <a:xfrm>
            <a:off x="4480560" y="2057400"/>
            <a:ext cx="3200400" cy="1737360"/>
          </a:xfrm>
          <a:prstGeom prst="rect">
            <a:avLst/>
          </a:prstGeom>
          <a:solidFill>
            <a:schemeClr val="bg1"/>
          </a:solidFill>
          <a:ln w="12700">
            <a:solidFill>
              <a:schemeClr val="bg1"/>
            </a:solidFill>
            <a:prstDash val="solid"/>
          </a:ln>
        </p:spPr>
      </p:sp>
      <p:pic>
        <p:nvPicPr>
          <p:cNvPr id="10" name="Screenshot 2" descr="Real dashboard screenshot: ₹4.31 Cr">    </p:cNvPr>
          <p:cNvPicPr>
            <a:picLocks noChangeAspect="1"/>
          </p:cNvPicPr>
          <p:nvPr/>
        </p:nvPicPr>
        <p:blipFill>
          <a:blip r:embed="rId2"/>
          <a:srcRect l="0" r="0" t="0" b="0"/>
          <a:stretch/>
        </p:blipFill>
        <p:spPr>
          <a:xfrm>
            <a:off x="4480560" y="2057400"/>
            <a:ext cx="3200400" cy="1737360"/>
          </a:xfrm>
          <a:prstGeom prst="rect">
            <a:avLst/>
          </a:prstGeom>
        </p:spPr>
      </p:pic>
      <p:sp>
        <p:nvSpPr>
          <p:cNvPr id="11" name="Text 7"/>
          <p:cNvSpPr txBox="1"/>
          <p:nvPr/>
        </p:nvSpPr>
        <p:spPr>
          <a:xfrm>
            <a:off x="4526280" y="3931920"/>
            <a:ext cx="3108960" cy="548640"/>
          </a:xfrm>
          <a:prstGeom prst="rect">
            <a:avLst/>
          </a:prstGeom>
          <a:noFill/>
          <a:ln/>
        </p:spPr>
        <p:txBody>
          <a:bodyPr wrap="square" lIns="0" tIns="0" rIns="0" bIns="0" rtlCol="0" anchor="ctr"/>
          <a:lstStyle/>
          <a:p>
            <a:pPr indent="0" marL="0">
              <a:buNone/>
            </a:pPr>
            <a:r>
              <a:rPr lang="en-US" sz="2400" b="1" dirty="0">
                <a:solidFill>
                  <a:schemeClr val="accent1"/>
                </a:solidFill>
              </a:rPr>
              <a:t>₹4.31 Cr</a:t>
            </a:r>
            <a:endParaRPr lang="en-US" sz="2400" dirty="0"/>
          </a:p>
        </p:txBody>
      </p:sp>
      <p:sp>
        <p:nvSpPr>
          <p:cNvPr id="12" name="Text 8"/>
          <p:cNvSpPr txBox="1"/>
          <p:nvPr/>
        </p:nvSpPr>
        <p:spPr>
          <a:xfrm>
            <a:off x="4526280" y="4526280"/>
            <a:ext cx="3108960" cy="1280160"/>
          </a:xfrm>
          <a:prstGeom prst="rect">
            <a:avLst/>
          </a:prstGeom>
          <a:noFill/>
          <a:ln/>
        </p:spPr>
        <p:txBody>
          <a:bodyPr wrap="square" lIns="0" tIns="0" rIns="0" bIns="0" rtlCol="0" anchor="t"/>
          <a:lstStyle/>
          <a:p>
            <a:pPr indent="0" marL="0">
              <a:buNone/>
            </a:pPr>
            <a:r>
              <a:rPr lang="en-US" sz="1400" dirty="0">
                <a:solidFill>
                  <a:schemeClr val="bg1"/>
                </a:solidFill>
              </a:rPr>
              <a:t>Meta purchase value at 3.77 ROAS on ₹1.14 Cr spend. D2C brand, Jun 2024 to Jun 2025</a:t>
            </a:r>
            <a:endParaRPr lang="en-US" sz="1400" dirty="0"/>
          </a:p>
        </p:txBody>
      </p:sp>
      <p:sp>
        <p:nvSpPr>
          <p:cNvPr id="13" name="Proof card 3"/>
          <p:cNvSpPr/>
          <p:nvPr/>
        </p:nvSpPr>
        <p:spPr>
          <a:xfrm>
            <a:off x="8046720" y="1874520"/>
            <a:ext cx="3566160" cy="4114800"/>
          </a:xfrm>
          <a:prstGeom prst="roundRect">
            <a:avLst>
              <a:gd name="adj" fmla="val 3077"/>
            </a:avLst>
          </a:prstGeom>
          <a:solidFill>
            <a:schemeClr val="accent6"/>
          </a:solidFill>
          <a:ln w="12700">
            <a:solidFill>
              <a:schemeClr val="accent6"/>
            </a:solidFill>
            <a:prstDash val="solid"/>
          </a:ln>
        </p:spPr>
      </p:sp>
      <p:sp>
        <p:nvSpPr>
          <p:cNvPr id="14" name="Screenshot frame 3"/>
          <p:cNvSpPr/>
          <p:nvPr/>
        </p:nvSpPr>
        <p:spPr>
          <a:xfrm>
            <a:off x="8229600" y="2057400"/>
            <a:ext cx="3200400" cy="1737360"/>
          </a:xfrm>
          <a:prstGeom prst="rect">
            <a:avLst/>
          </a:prstGeom>
          <a:solidFill>
            <a:schemeClr val="bg1"/>
          </a:solidFill>
          <a:ln w="12700">
            <a:solidFill>
              <a:schemeClr val="bg1"/>
            </a:solidFill>
            <a:prstDash val="solid"/>
          </a:ln>
        </p:spPr>
      </p:sp>
      <p:pic>
        <p:nvPicPr>
          <p:cNvPr id="15" name="Screenshot 3" descr="Real dashboard screenshot: ₹5.69 Cr in 12 months">    </p:cNvPr>
          <p:cNvPicPr>
            <a:picLocks noChangeAspect="1"/>
          </p:cNvPicPr>
          <p:nvPr/>
        </p:nvPicPr>
        <p:blipFill>
          <a:blip r:embed="rId3"/>
          <a:srcRect l="0" r="0" t="0" b="0"/>
          <a:stretch/>
        </p:blipFill>
        <p:spPr>
          <a:xfrm>
            <a:off x="8229600" y="2057400"/>
            <a:ext cx="3200400" cy="1737360"/>
          </a:xfrm>
          <a:prstGeom prst="rect">
            <a:avLst/>
          </a:prstGeom>
        </p:spPr>
      </p:pic>
      <p:sp>
        <p:nvSpPr>
          <p:cNvPr id="16" name="Text 11"/>
          <p:cNvSpPr txBox="1"/>
          <p:nvPr/>
        </p:nvSpPr>
        <p:spPr>
          <a:xfrm>
            <a:off x="8275320" y="3931920"/>
            <a:ext cx="3108960" cy="548640"/>
          </a:xfrm>
          <a:prstGeom prst="rect">
            <a:avLst/>
          </a:prstGeom>
          <a:noFill/>
          <a:ln/>
        </p:spPr>
        <p:txBody>
          <a:bodyPr wrap="square" lIns="0" tIns="0" rIns="0" bIns="0" rtlCol="0" anchor="ctr"/>
          <a:lstStyle/>
          <a:p>
            <a:pPr indent="0" marL="0">
              <a:buNone/>
            </a:pPr>
            <a:r>
              <a:rPr lang="en-US" sz="2400" b="1" dirty="0">
                <a:solidFill>
                  <a:schemeClr val="accent1"/>
                </a:solidFill>
              </a:rPr>
              <a:t>₹5.69 Cr in 12 months</a:t>
            </a:r>
            <a:endParaRPr lang="en-US" sz="2400" dirty="0"/>
          </a:p>
        </p:txBody>
      </p:sp>
      <p:sp>
        <p:nvSpPr>
          <p:cNvPr id="17" name="Text 12"/>
          <p:cNvSpPr txBox="1"/>
          <p:nvPr/>
        </p:nvSpPr>
        <p:spPr>
          <a:xfrm>
            <a:off x="8275320" y="4526280"/>
            <a:ext cx="3108960" cy="1280160"/>
          </a:xfrm>
          <a:prstGeom prst="rect">
            <a:avLst/>
          </a:prstGeom>
          <a:noFill/>
          <a:ln/>
        </p:spPr>
        <p:txBody>
          <a:bodyPr wrap="square" lIns="0" tIns="0" rIns="0" bIns="0" rtlCol="0" anchor="t"/>
          <a:lstStyle/>
          <a:p>
            <a:pPr indent="0" marL="0">
              <a:buNone/>
            </a:pPr>
            <a:r>
              <a:rPr lang="en-US" sz="1400" dirty="0">
                <a:solidFill>
                  <a:schemeClr val="bg1"/>
                </a:solidFill>
              </a:rPr>
              <a:t>Shopify total sales, up 45%. Fashion brand</a:t>
            </a:r>
            <a:endParaRPr lang="en-US" sz="1400" dirty="0"/>
          </a:p>
        </p:txBody>
      </p:sp>
      <p:sp>
        <p:nvSpPr>
          <p:cNvPr id="18" name="Text 13"/>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1400" dirty="0">
                <a:solidFill>
                  <a:schemeClr val="accent5"/>
                </a:solidFill>
              </a:rPr>
              <a:t>Real fashion and D2C results, brand names withheld. Clinic results will come from your own weekly report.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We tested your clinic on a Sunday night</a:t>
            </a:r>
            <a:endParaRPr lang="en-US" sz="3800" dirty="0"/>
          </a:p>
        </p:txBody>
      </p:sp>
      <p:sp>
        <p:nvSpPr>
          <p:cNvPr id="3" name="Template badge"/>
          <p:cNvSpPr/>
          <p:nvPr/>
        </p:nvSpPr>
        <p:spPr>
          <a:xfrm>
            <a:off x="8321040" y="320040"/>
            <a:ext cx="3337560" cy="365760"/>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8321040" y="320040"/>
            <a:ext cx="3337560" cy="365760"/>
          </a:xfrm>
          <a:prstGeom prst="rect">
            <a:avLst/>
          </a:prstGeom>
          <a:noFill/>
          <a:ln/>
        </p:spPr>
        <p:txBody>
          <a:bodyPr wrap="square" lIns="0" tIns="0" rIns="0" bIns="0" rtlCol="0" anchor="ctr"/>
          <a:lstStyle/>
          <a:p>
            <a:pPr algn="ctr" indent="0" marL="0">
              <a:buNone/>
            </a:pPr>
            <a:r>
              <a:rPr lang="en-US" sz="1200" b="1" spc="100" kern="0" dirty="0">
                <a:solidFill>
                  <a:schemeClr val="tx1"/>
                </a:solidFill>
              </a:rPr>
              <a:t>TEMPLATE: FILL BEFORE THE CALL</a:t>
            </a:r>
            <a:endParaRPr lang="en-US" sz="1200" dirty="0"/>
          </a:p>
        </p:txBody>
      </p:sp>
      <p:sp>
        <p:nvSpPr>
          <p:cNvPr id="5" name="Screenshot placeholder frame"/>
          <p:cNvSpPr/>
          <p:nvPr/>
        </p:nvSpPr>
        <p:spPr>
          <a:xfrm>
            <a:off x="548640" y="1920240"/>
            <a:ext cx="5120640" cy="4023360"/>
          </a:xfrm>
          <a:prstGeom prst="rect">
            <a:avLst/>
          </a:prstGeom>
          <a:solidFill>
            <a:schemeClr val="accent6"/>
          </a:solidFill>
          <a:ln w="19050">
            <a:solidFill>
              <a:schemeClr val="accent5"/>
            </a:solidFill>
            <a:prstDash val="dash"/>
          </a:ln>
        </p:spPr>
      </p:sp>
      <p:sp>
        <p:nvSpPr>
          <p:cNvPr id="6" name="Text 4"/>
          <p:cNvSpPr txBox="1"/>
          <p:nvPr/>
        </p:nvSpPr>
        <p:spPr>
          <a:xfrm>
            <a:off x="914400" y="3108960"/>
            <a:ext cx="4389120" cy="1463040"/>
          </a:xfrm>
          <a:prstGeom prst="rect">
            <a:avLst/>
          </a:prstGeom>
          <a:noFill/>
          <a:ln/>
        </p:spPr>
        <p:txBody>
          <a:bodyPr wrap="square" lIns="0" tIns="0" rIns="0" bIns="0" rtlCol="0" anchor="ctr"/>
          <a:lstStyle/>
          <a:p>
            <a:pPr algn="ctr" indent="0" marL="0">
              <a:buNone/>
            </a:pPr>
            <a:r>
              <a:rPr lang="en-US" sz="1800" dirty="0">
                <a:solidFill>
                  <a:schemeClr val="accent5"/>
                </a:solidFill>
              </a:rPr>
              <a:t>Paste your screenshot of the enquiry and the reply here</a:t>
            </a:r>
            <a:endParaRPr lang="en-US" sz="1800" dirty="0"/>
          </a:p>
        </p:txBody>
      </p:sp>
      <p:sp>
        <p:nvSpPr>
          <p:cNvPr id="7" name="Test result 1"/>
          <p:cNvSpPr/>
          <p:nvPr/>
        </p:nvSpPr>
        <p:spPr>
          <a:xfrm>
            <a:off x="6035040" y="1920240"/>
            <a:ext cx="5577840" cy="1097280"/>
          </a:xfrm>
          <a:prstGeom prst="roundRect">
            <a:avLst>
              <a:gd name="adj" fmla="val 8333"/>
            </a:avLst>
          </a:prstGeom>
          <a:solidFill>
            <a:schemeClr val="accent6"/>
          </a:solidFill>
          <a:ln w="12700">
            <a:solidFill>
              <a:schemeClr val="accent6"/>
            </a:solidFill>
            <a:prstDash val="solid"/>
          </a:ln>
        </p:spPr>
      </p:sp>
      <p:sp>
        <p:nvSpPr>
          <p:cNvPr id="8" name="Text 6"/>
          <p:cNvSpPr txBox="1"/>
          <p:nvPr/>
        </p:nvSpPr>
        <p:spPr>
          <a:xfrm>
            <a:off x="6355080" y="1920240"/>
            <a:ext cx="2560320" cy="1097280"/>
          </a:xfrm>
          <a:prstGeom prst="rect">
            <a:avLst/>
          </a:prstGeom>
          <a:noFill/>
          <a:ln/>
        </p:spPr>
        <p:txBody>
          <a:bodyPr wrap="square" lIns="0" tIns="0" rIns="0" bIns="0" rtlCol="0" anchor="ctr"/>
          <a:lstStyle/>
          <a:p>
            <a:pPr indent="0" marL="0">
              <a:buNone/>
            </a:pPr>
            <a:r>
              <a:rPr lang="en-US" sz="1800" dirty="0">
                <a:solidFill>
                  <a:schemeClr val="bg1"/>
                </a:solidFill>
              </a:rPr>
              <a:t>Message sent</a:t>
            </a:r>
            <a:endParaRPr lang="en-US" sz="1800" dirty="0"/>
          </a:p>
        </p:txBody>
      </p:sp>
      <p:sp>
        <p:nvSpPr>
          <p:cNvPr id="9" name="Text 7"/>
          <p:cNvSpPr txBox="1"/>
          <p:nvPr/>
        </p:nvSpPr>
        <p:spPr>
          <a:xfrm>
            <a:off x="8778240" y="1920240"/>
            <a:ext cx="2651760" cy="1097280"/>
          </a:xfrm>
          <a:prstGeom prst="rect">
            <a:avLst/>
          </a:prstGeom>
          <a:noFill/>
          <a:ln/>
        </p:spPr>
        <p:txBody>
          <a:bodyPr wrap="square" lIns="0" tIns="0" rIns="0" bIns="0" rtlCol="0" anchor="ctr"/>
          <a:lstStyle/>
          <a:p>
            <a:pPr algn="r" indent="0" marL="0">
              <a:buNone/>
            </a:pPr>
            <a:r>
              <a:rPr lang="en-US" sz="2800" b="1" dirty="0">
                <a:solidFill>
                  <a:schemeClr val="bg1"/>
                </a:solidFill>
              </a:rPr>
              <a:t>9:47 PM Sunday</a:t>
            </a:r>
            <a:endParaRPr lang="en-US" sz="2800" dirty="0"/>
          </a:p>
        </p:txBody>
      </p:sp>
      <p:sp>
        <p:nvSpPr>
          <p:cNvPr id="10" name="Test result 2"/>
          <p:cNvSpPr/>
          <p:nvPr/>
        </p:nvSpPr>
        <p:spPr>
          <a:xfrm>
            <a:off x="6035040" y="3200400"/>
            <a:ext cx="5577840" cy="1097280"/>
          </a:xfrm>
          <a:prstGeom prst="roundRect">
            <a:avLst>
              <a:gd name="adj" fmla="val 8333"/>
            </a:avLst>
          </a:prstGeom>
          <a:solidFill>
            <a:schemeClr val="accent6"/>
          </a:solidFill>
          <a:ln w="12700">
            <a:solidFill>
              <a:schemeClr val="accent6"/>
            </a:solidFill>
            <a:prstDash val="solid"/>
          </a:ln>
        </p:spPr>
      </p:sp>
      <p:sp>
        <p:nvSpPr>
          <p:cNvPr id="11" name="Text 9"/>
          <p:cNvSpPr txBox="1"/>
          <p:nvPr/>
        </p:nvSpPr>
        <p:spPr>
          <a:xfrm>
            <a:off x="6355080" y="3200400"/>
            <a:ext cx="2560320" cy="1097280"/>
          </a:xfrm>
          <a:prstGeom prst="rect">
            <a:avLst/>
          </a:prstGeom>
          <a:noFill/>
          <a:ln/>
        </p:spPr>
        <p:txBody>
          <a:bodyPr wrap="square" lIns="0" tIns="0" rIns="0" bIns="0" rtlCol="0" anchor="ctr"/>
          <a:lstStyle/>
          <a:p>
            <a:pPr indent="0" marL="0">
              <a:buNone/>
            </a:pPr>
            <a:r>
              <a:rPr lang="en-US" sz="1800" dirty="0">
                <a:solidFill>
                  <a:schemeClr val="bg1"/>
                </a:solidFill>
              </a:rPr>
              <a:t>First reply</a:t>
            </a:r>
            <a:endParaRPr lang="en-US" sz="1800" dirty="0"/>
          </a:p>
        </p:txBody>
      </p:sp>
      <p:sp>
        <p:nvSpPr>
          <p:cNvPr id="12" name="Text 10"/>
          <p:cNvSpPr txBox="1"/>
          <p:nvPr/>
        </p:nvSpPr>
        <p:spPr>
          <a:xfrm>
            <a:off x="8778240" y="3200400"/>
            <a:ext cx="2651760" cy="1097280"/>
          </a:xfrm>
          <a:prstGeom prst="rect">
            <a:avLst/>
          </a:prstGeom>
          <a:noFill/>
          <a:ln/>
        </p:spPr>
        <p:txBody>
          <a:bodyPr wrap="square" lIns="0" tIns="0" rIns="0" bIns="0" rtlCol="0" anchor="ctr"/>
          <a:lstStyle/>
          <a:p>
            <a:pPr algn="r" indent="0" marL="0">
              <a:buNone/>
            </a:pPr>
            <a:r>
              <a:rPr lang="en-US" sz="2800" b="1" dirty="0">
                <a:solidFill>
                  <a:schemeClr val="accent1"/>
                </a:solidFill>
              </a:rPr>
              <a:t>__ : __</a:t>
            </a:r>
            <a:endParaRPr lang="en-US" sz="2800" dirty="0"/>
          </a:p>
        </p:txBody>
      </p:sp>
      <p:sp>
        <p:nvSpPr>
          <p:cNvPr id="13" name="Test result 3"/>
          <p:cNvSpPr/>
          <p:nvPr/>
        </p:nvSpPr>
        <p:spPr>
          <a:xfrm>
            <a:off x="6035040" y="4480560"/>
            <a:ext cx="5577840" cy="1097280"/>
          </a:xfrm>
          <a:prstGeom prst="roundRect">
            <a:avLst>
              <a:gd name="adj" fmla="val 8333"/>
            </a:avLst>
          </a:prstGeom>
          <a:solidFill>
            <a:schemeClr val="accent6"/>
          </a:solidFill>
          <a:ln w="12700">
            <a:solidFill>
              <a:schemeClr val="accent6"/>
            </a:solidFill>
            <a:prstDash val="solid"/>
          </a:ln>
        </p:spPr>
      </p:sp>
      <p:sp>
        <p:nvSpPr>
          <p:cNvPr id="14" name="Text 12"/>
          <p:cNvSpPr txBox="1"/>
          <p:nvPr/>
        </p:nvSpPr>
        <p:spPr>
          <a:xfrm>
            <a:off x="6355080" y="4480560"/>
            <a:ext cx="2560320" cy="1097280"/>
          </a:xfrm>
          <a:prstGeom prst="rect">
            <a:avLst/>
          </a:prstGeom>
          <a:noFill/>
          <a:ln/>
        </p:spPr>
        <p:txBody>
          <a:bodyPr wrap="square" lIns="0" tIns="0" rIns="0" bIns="0" rtlCol="0" anchor="ctr"/>
          <a:lstStyle/>
          <a:p>
            <a:pPr indent="0" marL="0">
              <a:buNone/>
            </a:pPr>
            <a:r>
              <a:rPr lang="en-US" sz="1800" dirty="0">
                <a:solidFill>
                  <a:schemeClr val="bg1"/>
                </a:solidFill>
              </a:rPr>
              <a:t>Time they waited</a:t>
            </a:r>
            <a:endParaRPr lang="en-US" sz="1800" dirty="0"/>
          </a:p>
        </p:txBody>
      </p:sp>
      <p:sp>
        <p:nvSpPr>
          <p:cNvPr id="15" name="Text 13"/>
          <p:cNvSpPr txBox="1"/>
          <p:nvPr/>
        </p:nvSpPr>
        <p:spPr>
          <a:xfrm>
            <a:off x="8778240" y="4480560"/>
            <a:ext cx="2651760" cy="1097280"/>
          </a:xfrm>
          <a:prstGeom prst="rect">
            <a:avLst/>
          </a:prstGeom>
          <a:noFill/>
          <a:ln/>
        </p:spPr>
        <p:txBody>
          <a:bodyPr wrap="square" lIns="0" tIns="0" rIns="0" bIns="0" rtlCol="0" anchor="ctr"/>
          <a:lstStyle/>
          <a:p>
            <a:pPr algn="r" indent="0" marL="0">
              <a:buNone/>
            </a:pPr>
            <a:r>
              <a:rPr lang="en-US" sz="2800" b="1" dirty="0">
                <a:solidFill>
                  <a:schemeClr val="accent4"/>
                </a:solidFill>
              </a:rPr>
              <a:t>__ hours</a:t>
            </a:r>
            <a:endParaRPr lang="en-US" sz="2800" dirty="0"/>
          </a:p>
        </p:txBody>
      </p:sp>
      <p:sp>
        <p:nvSpPr>
          <p:cNvPr id="16" name="Text 14"/>
          <p:cNvSpPr txBox="1"/>
          <p:nvPr/>
        </p:nvSpPr>
        <p:spPr>
          <a:xfrm>
            <a:off x="6035040" y="5760720"/>
            <a:ext cx="5577840" cy="365760"/>
          </a:xfrm>
          <a:prstGeom prst="rect">
            <a:avLst/>
          </a:prstGeom>
          <a:noFill/>
          <a:ln/>
        </p:spPr>
        <p:txBody>
          <a:bodyPr wrap="square" lIns="0" tIns="0" rIns="0" bIns="0" rtlCol="0" anchor="ctr"/>
          <a:lstStyle/>
          <a:p>
            <a:pPr indent="0" marL="0">
              <a:buNone/>
            </a:pPr>
            <a:r>
              <a:rPr lang="en-US" sz="1600" b="1" dirty="0">
                <a:solidFill>
                  <a:schemeClr val="bg1"/>
                </a:solidFill>
              </a:rPr>
              <a:t>While they waited, that patient was messaging the next clinic.</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tx1"/>
                </a:solidFill>
              </a:rPr>
              <a:t>Which clinic are you?</a:t>
            </a:r>
            <a:endParaRPr lang="en-US" sz="3800" dirty="0"/>
          </a:p>
        </p:txBody>
      </p:sp>
      <p:sp>
        <p:nvSpPr>
          <p:cNvPr id="3" name="Clinic type card 1"/>
          <p:cNvSpPr/>
          <p:nvPr/>
        </p:nvSpPr>
        <p:spPr>
          <a:xfrm>
            <a:off x="548640" y="1920240"/>
            <a:ext cx="3566160" cy="4160520"/>
          </a:xfrm>
          <a:prstGeom prst="roundRect">
            <a:avLst>
              <a:gd name="adj" fmla="val 3077"/>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4" name="Relying on referrals and word of mouth icon circle"/>
          <p:cNvSpPr/>
          <p:nvPr/>
        </p:nvSpPr>
        <p:spPr>
          <a:xfrm>
            <a:off x="868680" y="2194560"/>
            <a:ext cx="731520" cy="731520"/>
          </a:xfrm>
          <a:prstGeom prst="ellipse">
            <a:avLst/>
          </a:prstGeom>
          <a:solidFill>
            <a:srgbClr val="0B1636"/>
          </a:solidFill>
          <a:ln w="12700">
            <a:solidFill>
              <a:srgbClr val="0B1636"/>
            </a:solidFill>
            <a:prstDash val="solid"/>
          </a:ln>
        </p:spPr>
      </p:sp>
      <p:pic>
        <p:nvPicPr>
          <p:cNvPr id="5" name="Relying on referrals and word of mouth icon" descr="Relying on referrals and word of mouth icon">    </p:cNvPr>
          <p:cNvPicPr>
            <a:picLocks noChangeAspect="1"/>
          </p:cNvPicPr>
          <p:nvPr/>
        </p:nvPicPr>
        <p:blipFill>
          <a:blip r:embed="rId1"/>
          <a:stretch>
            <a:fillRect/>
          </a:stretch>
        </p:blipFill>
        <p:spPr>
          <a:xfrm>
            <a:off x="1066190" y="2392070"/>
            <a:ext cx="336499" cy="336499"/>
          </a:xfrm>
          <a:prstGeom prst="rect">
            <a:avLst/>
          </a:prstGeom>
        </p:spPr>
      </p:pic>
      <p:sp>
        <p:nvSpPr>
          <p:cNvPr id="6" name="Text 3"/>
          <p:cNvSpPr txBox="1"/>
          <p:nvPr/>
        </p:nvSpPr>
        <p:spPr>
          <a:xfrm>
            <a:off x="868680" y="3063240"/>
            <a:ext cx="2926080" cy="777240"/>
          </a:xfrm>
          <a:prstGeom prst="rect">
            <a:avLst/>
          </a:prstGeom>
          <a:noFill/>
          <a:ln/>
        </p:spPr>
        <p:txBody>
          <a:bodyPr wrap="square" lIns="0" tIns="0" rIns="0" bIns="0" rtlCol="0" anchor="t"/>
          <a:lstStyle/>
          <a:p>
            <a:pPr indent="0" marL="0">
              <a:buNone/>
            </a:pPr>
            <a:r>
              <a:rPr lang="en-US" sz="2000" b="1" dirty="0">
                <a:solidFill>
                  <a:schemeClr val="tx1"/>
                </a:solidFill>
              </a:rPr>
              <a:t>Relying on referrals and word of mouth</a:t>
            </a:r>
            <a:endParaRPr lang="en-US" sz="2000" dirty="0"/>
          </a:p>
        </p:txBody>
      </p:sp>
      <p:sp>
        <p:nvSpPr>
          <p:cNvPr id="7" name="Text 4"/>
          <p:cNvSpPr txBox="1"/>
          <p:nvPr/>
        </p:nvSpPr>
        <p:spPr>
          <a:xfrm>
            <a:off x="868680" y="3886200"/>
            <a:ext cx="2926080" cy="1005840"/>
          </a:xfrm>
          <a:prstGeom prst="rect">
            <a:avLst/>
          </a:prstGeom>
          <a:noFill/>
          <a:ln/>
        </p:spPr>
        <p:txBody>
          <a:bodyPr wrap="square" lIns="0" tIns="0" rIns="0" bIns="0" rtlCol="0" anchor="t"/>
          <a:lstStyle/>
          <a:p>
            <a:pPr indent="0" marL="0">
              <a:buNone/>
            </a:pPr>
            <a:r>
              <a:rPr lang="en-US" sz="1500" dirty="0">
                <a:solidFill>
                  <a:schemeClr val="tx1"/>
                </a:solidFill>
              </a:rPr>
              <a:t>Busy one month, quiet the next. Growth depends on who happens to recommend you.</a:t>
            </a:r>
            <a:endParaRPr lang="en-US" sz="1500" dirty="0"/>
          </a:p>
        </p:txBody>
      </p:sp>
      <p:sp>
        <p:nvSpPr>
          <p:cNvPr id="8" name="Text 5"/>
          <p:cNvSpPr txBox="1"/>
          <p:nvPr/>
        </p:nvSpPr>
        <p:spPr>
          <a:xfrm>
            <a:off x="868680" y="4937760"/>
            <a:ext cx="292608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WHERE WE START</a:t>
            </a:r>
            <a:endParaRPr lang="en-US" sz="1200" dirty="0"/>
          </a:p>
        </p:txBody>
      </p:sp>
      <p:sp>
        <p:nvSpPr>
          <p:cNvPr id="9" name="Text 6"/>
          <p:cNvSpPr txBox="1"/>
          <p:nvPr/>
        </p:nvSpPr>
        <p:spPr>
          <a:xfrm>
            <a:off x="868680" y="5212080"/>
            <a:ext cx="2926080" cy="777240"/>
          </a:xfrm>
          <a:prstGeom prst="rect">
            <a:avLst/>
          </a:prstGeom>
          <a:noFill/>
          <a:ln/>
        </p:spPr>
        <p:txBody>
          <a:bodyPr wrap="square" lIns="0" tIns="0" rIns="0" bIns="0" rtlCol="0" anchor="t"/>
          <a:lstStyle/>
          <a:p>
            <a:pPr indent="0" marL="0">
              <a:buNone/>
            </a:pPr>
            <a:r>
              <a:rPr lang="en-US" sz="1400" b="1" dirty="0">
                <a:solidFill>
                  <a:schemeClr val="tx1"/>
                </a:solidFill>
              </a:rPr>
              <a:t>Attract: steady new enquiries, plus past patients and reviews working for you</a:t>
            </a:r>
            <a:endParaRPr lang="en-US" sz="1400" dirty="0"/>
          </a:p>
        </p:txBody>
      </p:sp>
      <p:sp>
        <p:nvSpPr>
          <p:cNvPr id="10" name="Clinic type card 2"/>
          <p:cNvSpPr/>
          <p:nvPr/>
        </p:nvSpPr>
        <p:spPr>
          <a:xfrm>
            <a:off x="4297680" y="1920240"/>
            <a:ext cx="3566160" cy="4160520"/>
          </a:xfrm>
          <a:prstGeom prst="roundRect">
            <a:avLst>
              <a:gd name="adj" fmla="val 3077"/>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11" name="Advertising, but it's not converting icon circle"/>
          <p:cNvSpPr/>
          <p:nvPr/>
        </p:nvSpPr>
        <p:spPr>
          <a:xfrm>
            <a:off x="4617720" y="2194560"/>
            <a:ext cx="731520" cy="731520"/>
          </a:xfrm>
          <a:prstGeom prst="ellipse">
            <a:avLst/>
          </a:prstGeom>
          <a:solidFill>
            <a:srgbClr val="0B1636"/>
          </a:solidFill>
          <a:ln w="12700">
            <a:solidFill>
              <a:srgbClr val="0B1636"/>
            </a:solidFill>
            <a:prstDash val="solid"/>
          </a:ln>
        </p:spPr>
      </p:sp>
      <p:pic>
        <p:nvPicPr>
          <p:cNvPr id="12" name="Advertising, but it's not converting icon" descr="Advertising, but it's not converting icon">    </p:cNvPr>
          <p:cNvPicPr>
            <a:picLocks noChangeAspect="1"/>
          </p:cNvPicPr>
          <p:nvPr/>
        </p:nvPicPr>
        <p:blipFill>
          <a:blip r:embed="rId2"/>
          <a:stretch>
            <a:fillRect/>
          </a:stretch>
        </p:blipFill>
        <p:spPr>
          <a:xfrm>
            <a:off x="4815230" y="2392070"/>
            <a:ext cx="336499" cy="336499"/>
          </a:xfrm>
          <a:prstGeom prst="rect">
            <a:avLst/>
          </a:prstGeom>
        </p:spPr>
      </p:pic>
      <p:sp>
        <p:nvSpPr>
          <p:cNvPr id="13" name="Text 9"/>
          <p:cNvSpPr txBox="1"/>
          <p:nvPr/>
        </p:nvSpPr>
        <p:spPr>
          <a:xfrm>
            <a:off x="4617720" y="3063240"/>
            <a:ext cx="2926080" cy="777240"/>
          </a:xfrm>
          <a:prstGeom prst="rect">
            <a:avLst/>
          </a:prstGeom>
          <a:noFill/>
          <a:ln/>
        </p:spPr>
        <p:txBody>
          <a:bodyPr wrap="square" lIns="0" tIns="0" rIns="0" bIns="0" rtlCol="0" anchor="t"/>
          <a:lstStyle/>
          <a:p>
            <a:pPr indent="0" marL="0">
              <a:buNone/>
            </a:pPr>
            <a:r>
              <a:rPr lang="en-US" sz="2000" b="1" dirty="0">
                <a:solidFill>
                  <a:schemeClr val="tx1"/>
                </a:solidFill>
              </a:rPr>
              <a:t>Advertising, but it's not converting</a:t>
            </a:r>
            <a:endParaRPr lang="en-US" sz="2000" dirty="0"/>
          </a:p>
        </p:txBody>
      </p:sp>
      <p:sp>
        <p:nvSpPr>
          <p:cNvPr id="14" name="Text 10"/>
          <p:cNvSpPr txBox="1"/>
          <p:nvPr/>
        </p:nvSpPr>
        <p:spPr>
          <a:xfrm>
            <a:off x="4617720" y="3886200"/>
            <a:ext cx="2926080" cy="1005840"/>
          </a:xfrm>
          <a:prstGeom prst="rect">
            <a:avLst/>
          </a:prstGeom>
          <a:noFill/>
          <a:ln/>
        </p:spPr>
        <p:txBody>
          <a:bodyPr wrap="square" lIns="0" tIns="0" rIns="0" bIns="0" rtlCol="0" anchor="t"/>
          <a:lstStyle/>
          <a:p>
            <a:pPr indent="0" marL="0">
              <a:buNone/>
            </a:pPr>
            <a:r>
              <a:rPr lang="en-US" sz="1500" dirty="0">
                <a:solidFill>
                  <a:schemeClr val="tx1"/>
                </a:solidFill>
              </a:rPr>
              <a:t>Slow replies, leads go cold, no-shows, and enquiries that never become appointments.</a:t>
            </a:r>
            <a:endParaRPr lang="en-US" sz="1500" dirty="0"/>
          </a:p>
        </p:txBody>
      </p:sp>
      <p:sp>
        <p:nvSpPr>
          <p:cNvPr id="15" name="Text 11"/>
          <p:cNvSpPr txBox="1"/>
          <p:nvPr/>
        </p:nvSpPr>
        <p:spPr>
          <a:xfrm>
            <a:off x="4617720" y="4937760"/>
            <a:ext cx="292608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WHERE WE START</a:t>
            </a:r>
            <a:endParaRPr lang="en-US" sz="1200" dirty="0"/>
          </a:p>
        </p:txBody>
      </p:sp>
      <p:sp>
        <p:nvSpPr>
          <p:cNvPr id="16" name="Text 12"/>
          <p:cNvSpPr txBox="1"/>
          <p:nvPr/>
        </p:nvSpPr>
        <p:spPr>
          <a:xfrm>
            <a:off x="4617720" y="5212080"/>
            <a:ext cx="2926080" cy="777240"/>
          </a:xfrm>
          <a:prstGeom prst="rect">
            <a:avLst/>
          </a:prstGeom>
          <a:noFill/>
          <a:ln/>
        </p:spPr>
        <p:txBody>
          <a:bodyPr wrap="square" lIns="0" tIns="0" rIns="0" bIns="0" rtlCol="0" anchor="t"/>
          <a:lstStyle/>
          <a:p>
            <a:pPr indent="0" marL="0">
              <a:buNone/>
            </a:pPr>
            <a:r>
              <a:rPr lang="en-US" sz="1400" b="1" dirty="0">
                <a:solidFill>
                  <a:schemeClr val="tx1"/>
                </a:solidFill>
              </a:rPr>
              <a:t>Reply and Show up: fix the leak before you spend more</a:t>
            </a:r>
            <a:endParaRPr lang="en-US" sz="1400" dirty="0"/>
          </a:p>
        </p:txBody>
      </p:sp>
      <p:sp>
        <p:nvSpPr>
          <p:cNvPr id="17" name="Clinic type card 3"/>
          <p:cNvSpPr/>
          <p:nvPr/>
        </p:nvSpPr>
        <p:spPr>
          <a:xfrm>
            <a:off x="8046720" y="1920240"/>
            <a:ext cx="3566160" cy="4160520"/>
          </a:xfrm>
          <a:prstGeom prst="roundRect">
            <a:avLst>
              <a:gd name="adj" fmla="val 3077"/>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18" name="Paying an agency for leads icon circle"/>
          <p:cNvSpPr/>
          <p:nvPr/>
        </p:nvSpPr>
        <p:spPr>
          <a:xfrm>
            <a:off x="8366760" y="2194560"/>
            <a:ext cx="731520" cy="731520"/>
          </a:xfrm>
          <a:prstGeom prst="ellipse">
            <a:avLst/>
          </a:prstGeom>
          <a:solidFill>
            <a:srgbClr val="0B1636"/>
          </a:solidFill>
          <a:ln w="12700">
            <a:solidFill>
              <a:srgbClr val="0B1636"/>
            </a:solidFill>
            <a:prstDash val="solid"/>
          </a:ln>
        </p:spPr>
      </p:sp>
      <p:pic>
        <p:nvPicPr>
          <p:cNvPr id="19" name="Paying an agency for leads icon" descr="Paying an agency for leads icon">    </p:cNvPr>
          <p:cNvPicPr>
            <a:picLocks noChangeAspect="1"/>
          </p:cNvPicPr>
          <p:nvPr/>
        </p:nvPicPr>
        <p:blipFill>
          <a:blip r:embed="rId3"/>
          <a:stretch>
            <a:fillRect/>
          </a:stretch>
        </p:blipFill>
        <p:spPr>
          <a:xfrm>
            <a:off x="8564270" y="2392070"/>
            <a:ext cx="336499" cy="336499"/>
          </a:xfrm>
          <a:prstGeom prst="rect">
            <a:avLst/>
          </a:prstGeom>
        </p:spPr>
      </p:pic>
      <p:sp>
        <p:nvSpPr>
          <p:cNvPr id="20" name="Text 15"/>
          <p:cNvSpPr txBox="1"/>
          <p:nvPr/>
        </p:nvSpPr>
        <p:spPr>
          <a:xfrm>
            <a:off x="8366760" y="3063240"/>
            <a:ext cx="2926080" cy="777240"/>
          </a:xfrm>
          <a:prstGeom prst="rect">
            <a:avLst/>
          </a:prstGeom>
          <a:noFill/>
          <a:ln/>
        </p:spPr>
        <p:txBody>
          <a:bodyPr wrap="square" lIns="0" tIns="0" rIns="0" bIns="0" rtlCol="0" anchor="t"/>
          <a:lstStyle/>
          <a:p>
            <a:pPr indent="0" marL="0">
              <a:buNone/>
            </a:pPr>
            <a:r>
              <a:rPr lang="en-US" sz="2000" b="1" dirty="0">
                <a:solidFill>
                  <a:schemeClr val="tx1"/>
                </a:solidFill>
              </a:rPr>
              <a:t>Paying an agency for leads</a:t>
            </a:r>
            <a:endParaRPr lang="en-US" sz="2000" dirty="0"/>
          </a:p>
        </p:txBody>
      </p:sp>
      <p:sp>
        <p:nvSpPr>
          <p:cNvPr id="21" name="Text 16"/>
          <p:cNvSpPr txBox="1"/>
          <p:nvPr/>
        </p:nvSpPr>
        <p:spPr>
          <a:xfrm>
            <a:off x="8366760" y="3886200"/>
            <a:ext cx="2926080" cy="1005840"/>
          </a:xfrm>
          <a:prstGeom prst="rect">
            <a:avLst/>
          </a:prstGeom>
          <a:noFill/>
          <a:ln/>
        </p:spPr>
        <p:txBody>
          <a:bodyPr wrap="square" lIns="0" tIns="0" rIns="0" bIns="0" rtlCol="0" anchor="t"/>
          <a:lstStyle/>
          <a:p>
            <a:pPr indent="0" marL="0">
              <a:buNone/>
            </a:pPr>
            <a:r>
              <a:rPr lang="en-US" sz="1500" dirty="0">
                <a:solidFill>
                  <a:schemeClr val="tx1"/>
                </a:solidFill>
              </a:rPr>
              <a:t>You get leads and a cost-per-lead report. Nobody tracks who booked, came in or paid.</a:t>
            </a:r>
            <a:endParaRPr lang="en-US" sz="1500" dirty="0"/>
          </a:p>
        </p:txBody>
      </p:sp>
      <p:sp>
        <p:nvSpPr>
          <p:cNvPr id="22" name="Text 17"/>
          <p:cNvSpPr txBox="1"/>
          <p:nvPr/>
        </p:nvSpPr>
        <p:spPr>
          <a:xfrm>
            <a:off x="8366760" y="4937760"/>
            <a:ext cx="292608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WHERE WE START</a:t>
            </a:r>
            <a:endParaRPr lang="en-US" sz="1200" dirty="0"/>
          </a:p>
        </p:txBody>
      </p:sp>
      <p:sp>
        <p:nvSpPr>
          <p:cNvPr id="23" name="Text 18"/>
          <p:cNvSpPr txBox="1"/>
          <p:nvPr/>
        </p:nvSpPr>
        <p:spPr>
          <a:xfrm>
            <a:off x="8366760" y="5212080"/>
            <a:ext cx="2926080" cy="777240"/>
          </a:xfrm>
          <a:prstGeom prst="rect">
            <a:avLst/>
          </a:prstGeom>
          <a:noFill/>
          <a:ln/>
        </p:spPr>
        <p:txBody>
          <a:bodyPr wrap="square" lIns="0" tIns="0" rIns="0" bIns="0" rtlCol="0" anchor="t"/>
          <a:lstStyle/>
          <a:p>
            <a:pPr indent="0" marL="0">
              <a:buNone/>
            </a:pPr>
            <a:r>
              <a:rPr lang="en-US" sz="1400" b="1" dirty="0">
                <a:solidFill>
                  <a:schemeClr val="tx1"/>
                </a:solidFill>
              </a:rPr>
              <a:t>Track: every lead followed to a treated patient and revenue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Most agencies stop at the lead. We don't</a:t>
            </a:r>
            <a:endParaRPr lang="en-US" sz="3800" dirty="0"/>
          </a:p>
        </p:txBody>
      </p:sp>
      <p:sp>
        <p:nvSpPr>
          <p:cNvPr id="3" name="Text 1"/>
          <p:cNvSpPr txBox="1"/>
          <p:nvPr/>
        </p:nvSpPr>
        <p:spPr>
          <a:xfrm>
            <a:off x="3383280" y="1828800"/>
            <a:ext cx="3840480" cy="365760"/>
          </a:xfrm>
          <a:prstGeom prst="rect">
            <a:avLst/>
          </a:prstGeom>
          <a:noFill/>
          <a:ln/>
        </p:spPr>
        <p:txBody>
          <a:bodyPr wrap="square" lIns="0" tIns="0" rIns="0" bIns="0" rtlCol="0" anchor="ctr"/>
          <a:lstStyle/>
          <a:p>
            <a:pPr indent="0" marL="0">
              <a:buNone/>
            </a:pPr>
            <a:r>
              <a:rPr lang="en-US" sz="1400" b="1" spc="200" kern="0" dirty="0">
                <a:solidFill>
                  <a:schemeClr val="accent5"/>
                </a:solidFill>
              </a:rPr>
              <a:t>MOST AGENCIES</a:t>
            </a:r>
            <a:endParaRPr lang="en-US" sz="1400" dirty="0"/>
          </a:p>
        </p:txBody>
      </p:sp>
      <p:sp>
        <p:nvSpPr>
          <p:cNvPr id="4" name="Text 2"/>
          <p:cNvSpPr txBox="1"/>
          <p:nvPr/>
        </p:nvSpPr>
        <p:spPr>
          <a:xfrm>
            <a:off x="7498080" y="1828800"/>
            <a:ext cx="4114800" cy="365760"/>
          </a:xfrm>
          <a:prstGeom prst="rect">
            <a:avLst/>
          </a:prstGeom>
          <a:noFill/>
          <a:ln/>
        </p:spPr>
        <p:txBody>
          <a:bodyPr wrap="square" lIns="0" tIns="0" rIns="0" bIns="0" rtlCol="0" anchor="ctr"/>
          <a:lstStyle/>
          <a:p>
            <a:pPr indent="0" marL="0">
              <a:buNone/>
            </a:pPr>
            <a:r>
              <a:rPr lang="en-US" sz="1400" b="1" spc="200" kern="0" dirty="0">
                <a:solidFill>
                  <a:schemeClr val="accent1"/>
                </a:solidFill>
              </a:rPr>
              <a:t>PATIENT FLOW SYSTEM</a:t>
            </a:r>
            <a:endParaRPr lang="en-US" sz="1400" dirty="0"/>
          </a:p>
        </p:txBody>
      </p:sp>
      <p:sp>
        <p:nvSpPr>
          <p:cNvPr id="5" name="Comparison row 1"/>
          <p:cNvSpPr/>
          <p:nvPr/>
        </p:nvSpPr>
        <p:spPr>
          <a:xfrm>
            <a:off x="548640" y="2286000"/>
            <a:ext cx="11064240" cy="731520"/>
          </a:xfrm>
          <a:prstGeom prst="roundRect">
            <a:avLst>
              <a:gd name="adj" fmla="val 12500"/>
            </a:avLst>
          </a:prstGeom>
          <a:solidFill>
            <a:schemeClr val="accent6"/>
          </a:solidFill>
          <a:ln w="12700">
            <a:solidFill>
              <a:schemeClr val="accent6"/>
            </a:solidFill>
            <a:prstDash val="solid"/>
          </a:ln>
        </p:spPr>
      </p:sp>
      <p:sp>
        <p:nvSpPr>
          <p:cNvPr id="6" name="Text 4"/>
          <p:cNvSpPr txBox="1"/>
          <p:nvPr/>
        </p:nvSpPr>
        <p:spPr>
          <a:xfrm>
            <a:off x="777240" y="2286000"/>
            <a:ext cx="2468880" cy="731520"/>
          </a:xfrm>
          <a:prstGeom prst="rect">
            <a:avLst/>
          </a:prstGeom>
          <a:noFill/>
          <a:ln/>
        </p:spPr>
        <p:txBody>
          <a:bodyPr wrap="square" lIns="0" tIns="0" rIns="0" bIns="0" rtlCol="0" anchor="ctr"/>
          <a:lstStyle/>
          <a:p>
            <a:pPr indent="0" marL="0">
              <a:buNone/>
            </a:pPr>
            <a:r>
              <a:rPr lang="en-US" sz="1600" b="1" dirty="0">
                <a:solidFill>
                  <a:schemeClr val="bg1"/>
                </a:solidFill>
              </a:rPr>
              <a:t>Where the job ends</a:t>
            </a:r>
            <a:endParaRPr lang="en-US" sz="1600" dirty="0"/>
          </a:p>
        </p:txBody>
      </p:sp>
      <p:sp>
        <p:nvSpPr>
          <p:cNvPr id="7" name="Text 5"/>
          <p:cNvSpPr txBox="1"/>
          <p:nvPr/>
        </p:nvSpPr>
        <p:spPr>
          <a:xfrm>
            <a:off x="3383280" y="2286000"/>
            <a:ext cx="3840480" cy="731520"/>
          </a:xfrm>
          <a:prstGeom prst="rect">
            <a:avLst/>
          </a:prstGeom>
          <a:noFill/>
          <a:ln/>
        </p:spPr>
        <p:txBody>
          <a:bodyPr wrap="square" lIns="0" tIns="0" rIns="0" bIns="0" rtlCol="0" anchor="ctr"/>
          <a:lstStyle/>
          <a:p>
            <a:pPr indent="0" marL="0">
              <a:buNone/>
            </a:pPr>
            <a:r>
              <a:rPr lang="en-US" sz="1600" dirty="0">
                <a:solidFill>
                  <a:schemeClr val="accent5"/>
                </a:solidFill>
              </a:rPr>
              <a:t>A lead or a click</a:t>
            </a:r>
            <a:endParaRPr lang="en-US" sz="1600" dirty="0"/>
          </a:p>
        </p:txBody>
      </p:sp>
      <p:sp>
        <p:nvSpPr>
          <p:cNvPr id="8" name="Text 6"/>
          <p:cNvSpPr txBox="1"/>
          <p:nvPr/>
        </p:nvSpPr>
        <p:spPr>
          <a:xfrm>
            <a:off x="7498080" y="2286000"/>
            <a:ext cx="4023360" cy="731520"/>
          </a:xfrm>
          <a:prstGeom prst="rect">
            <a:avLst/>
          </a:prstGeom>
          <a:noFill/>
          <a:ln/>
        </p:spPr>
        <p:txBody>
          <a:bodyPr wrap="square" lIns="0" tIns="0" rIns="0" bIns="0" rtlCol="0" anchor="ctr"/>
          <a:lstStyle/>
          <a:p>
            <a:pPr indent="0" marL="0">
              <a:buNone/>
            </a:pPr>
            <a:r>
              <a:rPr lang="en-US" sz="1600" b="1" dirty="0">
                <a:solidFill>
                  <a:schemeClr val="accent1"/>
                </a:solidFill>
              </a:rPr>
              <a:t>An attended, treated patient</a:t>
            </a:r>
            <a:endParaRPr lang="en-US" sz="1600" dirty="0"/>
          </a:p>
        </p:txBody>
      </p:sp>
      <p:sp>
        <p:nvSpPr>
          <p:cNvPr id="9" name="Comparison row 2"/>
          <p:cNvSpPr/>
          <p:nvPr/>
        </p:nvSpPr>
        <p:spPr>
          <a:xfrm>
            <a:off x="548640" y="3154680"/>
            <a:ext cx="11064240" cy="731520"/>
          </a:xfrm>
          <a:prstGeom prst="roundRect">
            <a:avLst>
              <a:gd name="adj" fmla="val 12500"/>
            </a:avLst>
          </a:prstGeom>
          <a:solidFill>
            <a:schemeClr val="accent6"/>
          </a:solidFill>
          <a:ln w="12700">
            <a:solidFill>
              <a:schemeClr val="accent6"/>
            </a:solidFill>
            <a:prstDash val="solid"/>
          </a:ln>
        </p:spPr>
      </p:sp>
      <p:sp>
        <p:nvSpPr>
          <p:cNvPr id="10" name="Text 8"/>
          <p:cNvSpPr txBox="1"/>
          <p:nvPr/>
        </p:nvSpPr>
        <p:spPr>
          <a:xfrm>
            <a:off x="777240" y="3154680"/>
            <a:ext cx="2468880" cy="731520"/>
          </a:xfrm>
          <a:prstGeom prst="rect">
            <a:avLst/>
          </a:prstGeom>
          <a:noFill/>
          <a:ln/>
        </p:spPr>
        <p:txBody>
          <a:bodyPr wrap="square" lIns="0" tIns="0" rIns="0" bIns="0" rtlCol="0" anchor="ctr"/>
          <a:lstStyle/>
          <a:p>
            <a:pPr indent="0" marL="0">
              <a:buNone/>
            </a:pPr>
            <a:r>
              <a:rPr lang="en-US" sz="1600" b="1" dirty="0">
                <a:solidFill>
                  <a:schemeClr val="bg1"/>
                </a:solidFill>
              </a:rPr>
              <a:t>New enquiry</a:t>
            </a:r>
            <a:endParaRPr lang="en-US" sz="1600" dirty="0"/>
          </a:p>
        </p:txBody>
      </p:sp>
      <p:sp>
        <p:nvSpPr>
          <p:cNvPr id="11" name="Text 9"/>
          <p:cNvSpPr txBox="1"/>
          <p:nvPr/>
        </p:nvSpPr>
        <p:spPr>
          <a:xfrm>
            <a:off x="3383280" y="3154680"/>
            <a:ext cx="3840480" cy="731520"/>
          </a:xfrm>
          <a:prstGeom prst="rect">
            <a:avLst/>
          </a:prstGeom>
          <a:noFill/>
          <a:ln/>
        </p:spPr>
        <p:txBody>
          <a:bodyPr wrap="square" lIns="0" tIns="0" rIns="0" bIns="0" rtlCol="0" anchor="ctr"/>
          <a:lstStyle/>
          <a:p>
            <a:pPr indent="0" marL="0">
              <a:buNone/>
            </a:pPr>
            <a:r>
              <a:rPr lang="en-US" sz="1600" dirty="0">
                <a:solidFill>
                  <a:schemeClr val="accent5"/>
                </a:solidFill>
              </a:rPr>
              <a:t>Left to your staff, hours later</a:t>
            </a:r>
            <a:endParaRPr lang="en-US" sz="1600" dirty="0"/>
          </a:p>
        </p:txBody>
      </p:sp>
      <p:sp>
        <p:nvSpPr>
          <p:cNvPr id="12" name="Text 10"/>
          <p:cNvSpPr txBox="1"/>
          <p:nvPr/>
        </p:nvSpPr>
        <p:spPr>
          <a:xfrm>
            <a:off x="7498080" y="3154680"/>
            <a:ext cx="4023360" cy="731520"/>
          </a:xfrm>
          <a:prstGeom prst="rect">
            <a:avLst/>
          </a:prstGeom>
          <a:noFill/>
          <a:ln/>
        </p:spPr>
        <p:txBody>
          <a:bodyPr wrap="square" lIns="0" tIns="0" rIns="0" bIns="0" rtlCol="0" anchor="ctr"/>
          <a:lstStyle/>
          <a:p>
            <a:pPr indent="0" marL="0">
              <a:buNone/>
            </a:pPr>
            <a:r>
              <a:rPr lang="en-US" sz="1600" b="1" dirty="0">
                <a:solidFill>
                  <a:schemeClr val="accent1"/>
                </a:solidFill>
              </a:rPr>
              <a:t>Instant reply in minutes, day and night</a:t>
            </a:r>
            <a:endParaRPr lang="en-US" sz="1600" dirty="0"/>
          </a:p>
        </p:txBody>
      </p:sp>
      <p:sp>
        <p:nvSpPr>
          <p:cNvPr id="13" name="Comparison row 3"/>
          <p:cNvSpPr/>
          <p:nvPr/>
        </p:nvSpPr>
        <p:spPr>
          <a:xfrm>
            <a:off x="548640" y="4023360"/>
            <a:ext cx="11064240" cy="731520"/>
          </a:xfrm>
          <a:prstGeom prst="roundRect">
            <a:avLst>
              <a:gd name="adj" fmla="val 12500"/>
            </a:avLst>
          </a:prstGeom>
          <a:solidFill>
            <a:schemeClr val="accent6"/>
          </a:solidFill>
          <a:ln w="12700">
            <a:solidFill>
              <a:schemeClr val="accent6"/>
            </a:solidFill>
            <a:prstDash val="solid"/>
          </a:ln>
        </p:spPr>
      </p:sp>
      <p:sp>
        <p:nvSpPr>
          <p:cNvPr id="14" name="Text 12"/>
          <p:cNvSpPr txBox="1"/>
          <p:nvPr/>
        </p:nvSpPr>
        <p:spPr>
          <a:xfrm>
            <a:off x="777240" y="4023360"/>
            <a:ext cx="2468880" cy="731520"/>
          </a:xfrm>
          <a:prstGeom prst="rect">
            <a:avLst/>
          </a:prstGeom>
          <a:noFill/>
          <a:ln/>
        </p:spPr>
        <p:txBody>
          <a:bodyPr wrap="square" lIns="0" tIns="0" rIns="0" bIns="0" rtlCol="0" anchor="ctr"/>
          <a:lstStyle/>
          <a:p>
            <a:pPr indent="0" marL="0">
              <a:buNone/>
            </a:pPr>
            <a:r>
              <a:rPr lang="en-US" sz="1600" b="1" dirty="0">
                <a:solidFill>
                  <a:schemeClr val="bg1"/>
                </a:solidFill>
              </a:rPr>
              <a:t>No-shows</a:t>
            </a:r>
            <a:endParaRPr lang="en-US" sz="1600" dirty="0"/>
          </a:p>
        </p:txBody>
      </p:sp>
      <p:sp>
        <p:nvSpPr>
          <p:cNvPr id="15" name="Text 13"/>
          <p:cNvSpPr txBox="1"/>
          <p:nvPr/>
        </p:nvSpPr>
        <p:spPr>
          <a:xfrm>
            <a:off x="3383280" y="4023360"/>
            <a:ext cx="3840480" cy="731520"/>
          </a:xfrm>
          <a:prstGeom prst="rect">
            <a:avLst/>
          </a:prstGeom>
          <a:noFill/>
          <a:ln/>
        </p:spPr>
        <p:txBody>
          <a:bodyPr wrap="square" lIns="0" tIns="0" rIns="0" bIns="0" rtlCol="0" anchor="ctr"/>
          <a:lstStyle/>
          <a:p>
            <a:pPr indent="0" marL="0">
              <a:buNone/>
            </a:pPr>
            <a:r>
              <a:rPr lang="en-US" sz="1600" dirty="0">
                <a:solidFill>
                  <a:schemeClr val="accent5"/>
                </a:solidFill>
              </a:rPr>
              <a:t>Your problem</a:t>
            </a:r>
            <a:endParaRPr lang="en-US" sz="1600" dirty="0"/>
          </a:p>
        </p:txBody>
      </p:sp>
      <p:sp>
        <p:nvSpPr>
          <p:cNvPr id="16" name="Text 14"/>
          <p:cNvSpPr txBox="1"/>
          <p:nvPr/>
        </p:nvSpPr>
        <p:spPr>
          <a:xfrm>
            <a:off x="7498080" y="4023360"/>
            <a:ext cx="4023360" cy="731520"/>
          </a:xfrm>
          <a:prstGeom prst="rect">
            <a:avLst/>
          </a:prstGeom>
          <a:noFill/>
          <a:ln/>
        </p:spPr>
        <p:txBody>
          <a:bodyPr wrap="square" lIns="0" tIns="0" rIns="0" bIns="0" rtlCol="0" anchor="ctr"/>
          <a:lstStyle/>
          <a:p>
            <a:pPr indent="0" marL="0">
              <a:buNone/>
            </a:pPr>
            <a:r>
              <a:rPr lang="en-US" sz="1600" b="1" dirty="0">
                <a:solidFill>
                  <a:schemeClr val="accent1"/>
                </a:solidFill>
              </a:rPr>
              <a:t>Reminders, deposits, refilled slots</a:t>
            </a:r>
            <a:endParaRPr lang="en-US" sz="1600" dirty="0"/>
          </a:p>
        </p:txBody>
      </p:sp>
      <p:sp>
        <p:nvSpPr>
          <p:cNvPr id="17" name="Comparison row 4"/>
          <p:cNvSpPr/>
          <p:nvPr/>
        </p:nvSpPr>
        <p:spPr>
          <a:xfrm>
            <a:off x="548640" y="4892040"/>
            <a:ext cx="11064240" cy="731520"/>
          </a:xfrm>
          <a:prstGeom prst="roundRect">
            <a:avLst>
              <a:gd name="adj" fmla="val 12500"/>
            </a:avLst>
          </a:prstGeom>
          <a:solidFill>
            <a:schemeClr val="accent6"/>
          </a:solidFill>
          <a:ln w="12700">
            <a:solidFill>
              <a:schemeClr val="accent6"/>
            </a:solidFill>
            <a:prstDash val="solid"/>
          </a:ln>
        </p:spPr>
      </p:sp>
      <p:sp>
        <p:nvSpPr>
          <p:cNvPr id="18" name="Text 16"/>
          <p:cNvSpPr txBox="1"/>
          <p:nvPr/>
        </p:nvSpPr>
        <p:spPr>
          <a:xfrm>
            <a:off x="777240" y="4892040"/>
            <a:ext cx="2468880" cy="731520"/>
          </a:xfrm>
          <a:prstGeom prst="rect">
            <a:avLst/>
          </a:prstGeom>
          <a:noFill/>
          <a:ln/>
        </p:spPr>
        <p:txBody>
          <a:bodyPr wrap="square" lIns="0" tIns="0" rIns="0" bIns="0" rtlCol="0" anchor="ctr"/>
          <a:lstStyle/>
          <a:p>
            <a:pPr indent="0" marL="0">
              <a:buNone/>
            </a:pPr>
            <a:r>
              <a:rPr lang="en-US" sz="1600" b="1" dirty="0">
                <a:solidFill>
                  <a:schemeClr val="bg1"/>
                </a:solidFill>
              </a:rPr>
              <a:t>Your report</a:t>
            </a:r>
            <a:endParaRPr lang="en-US" sz="1600" dirty="0"/>
          </a:p>
        </p:txBody>
      </p:sp>
      <p:sp>
        <p:nvSpPr>
          <p:cNvPr id="19" name="Text 17"/>
          <p:cNvSpPr txBox="1"/>
          <p:nvPr/>
        </p:nvSpPr>
        <p:spPr>
          <a:xfrm>
            <a:off x="3383280" y="4892040"/>
            <a:ext cx="3840480" cy="731520"/>
          </a:xfrm>
          <a:prstGeom prst="rect">
            <a:avLst/>
          </a:prstGeom>
          <a:noFill/>
          <a:ln/>
        </p:spPr>
        <p:txBody>
          <a:bodyPr wrap="square" lIns="0" tIns="0" rIns="0" bIns="0" rtlCol="0" anchor="ctr"/>
          <a:lstStyle/>
          <a:p>
            <a:pPr indent="0" marL="0">
              <a:buNone/>
            </a:pPr>
            <a:r>
              <a:rPr lang="en-US" sz="1600" dirty="0">
                <a:solidFill>
                  <a:schemeClr val="accent5"/>
                </a:solidFill>
              </a:rPr>
              <a:t>Reach and cost per lead</a:t>
            </a:r>
            <a:endParaRPr lang="en-US" sz="1600" dirty="0"/>
          </a:p>
        </p:txBody>
      </p:sp>
      <p:sp>
        <p:nvSpPr>
          <p:cNvPr id="20" name="Text 18"/>
          <p:cNvSpPr txBox="1"/>
          <p:nvPr/>
        </p:nvSpPr>
        <p:spPr>
          <a:xfrm>
            <a:off x="7498080" y="4892040"/>
            <a:ext cx="4023360" cy="731520"/>
          </a:xfrm>
          <a:prstGeom prst="rect">
            <a:avLst/>
          </a:prstGeom>
          <a:noFill/>
          <a:ln/>
        </p:spPr>
        <p:txBody>
          <a:bodyPr wrap="square" lIns="0" tIns="0" rIns="0" bIns="0" rtlCol="0" anchor="ctr"/>
          <a:lstStyle/>
          <a:p>
            <a:pPr indent="0" marL="0">
              <a:buNone/>
            </a:pPr>
            <a:r>
              <a:rPr lang="en-US" sz="1600" b="1" dirty="0">
                <a:solidFill>
                  <a:schemeClr val="accent1"/>
                </a:solidFill>
              </a:rPr>
              <a:t>Lead to booked to attended to treated to revenue</a:t>
            </a:r>
            <a:endParaRPr lang="en-US" sz="1600" dirty="0"/>
          </a:p>
        </p:txBody>
      </p:sp>
      <p:sp>
        <p:nvSpPr>
          <p:cNvPr id="21" name="Text 19"/>
          <p:cNvSpPr txBox="1"/>
          <p:nvPr/>
        </p:nvSpPr>
        <p:spPr>
          <a:xfrm>
            <a:off x="548640" y="5943600"/>
            <a:ext cx="10972800" cy="365760"/>
          </a:xfrm>
          <a:prstGeom prst="rect">
            <a:avLst/>
          </a:prstGeom>
          <a:noFill/>
          <a:ln/>
        </p:spPr>
        <p:txBody>
          <a:bodyPr wrap="square" lIns="0" tIns="0" rIns="0" bIns="0" rtlCol="0" anchor="ctr"/>
          <a:lstStyle/>
          <a:p>
            <a:pPr indent="0" marL="0">
              <a:buNone/>
            </a:pPr>
            <a:r>
              <a:rPr lang="en-US" sz="1800" b="1" dirty="0">
                <a:solidFill>
                  <a:schemeClr val="bg1"/>
                </a:solidFill>
              </a:rPr>
              <a:t>Your agency's job ends at the lead. Ours ends at your chair.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The Patient Flow System</a:t>
            </a:r>
            <a:endParaRPr lang="en-US" sz="3800" dirty="0"/>
          </a:p>
        </p:txBody>
      </p:sp>
      <p:sp>
        <p:nvSpPr>
          <p:cNvPr id="3" name="Stage card 1"/>
          <p:cNvSpPr/>
          <p:nvPr/>
        </p:nvSpPr>
        <p:spPr>
          <a:xfrm>
            <a:off x="548640" y="1874520"/>
            <a:ext cx="2103120" cy="3657600"/>
          </a:xfrm>
          <a:prstGeom prst="roundRect">
            <a:avLst>
              <a:gd name="adj" fmla="val 5217"/>
            </a:avLst>
          </a:prstGeom>
          <a:solidFill>
            <a:schemeClr val="accent6"/>
          </a:solidFill>
          <a:ln w="12700">
            <a:solidFill>
              <a:schemeClr val="accent6"/>
            </a:solidFill>
            <a:prstDash val="solid"/>
          </a:ln>
        </p:spPr>
      </p:sp>
      <p:sp>
        <p:nvSpPr>
          <p:cNvPr id="4" name="Attract icon circle"/>
          <p:cNvSpPr/>
          <p:nvPr/>
        </p:nvSpPr>
        <p:spPr>
          <a:xfrm>
            <a:off x="777240" y="2103120"/>
            <a:ext cx="685800" cy="685800"/>
          </a:xfrm>
          <a:prstGeom prst="ellipse">
            <a:avLst/>
          </a:prstGeom>
          <a:solidFill>
            <a:srgbClr val="5FE0C0"/>
          </a:solidFill>
          <a:ln w="12700">
            <a:solidFill>
              <a:srgbClr val="5FE0C0"/>
            </a:solidFill>
            <a:prstDash val="solid"/>
          </a:ln>
        </p:spPr>
      </p:sp>
      <p:pic>
        <p:nvPicPr>
          <p:cNvPr id="5" name="Attract icon" descr="Attract icon">    </p:cNvPr>
          <p:cNvPicPr>
            <a:picLocks noChangeAspect="1"/>
          </p:cNvPicPr>
          <p:nvPr/>
        </p:nvPicPr>
        <p:blipFill>
          <a:blip r:embed="rId1"/>
          <a:stretch>
            <a:fillRect/>
          </a:stretch>
        </p:blipFill>
        <p:spPr>
          <a:xfrm>
            <a:off x="962406" y="2288286"/>
            <a:ext cx="315468" cy="315468"/>
          </a:xfrm>
          <a:prstGeom prst="rect">
            <a:avLst/>
          </a:prstGeom>
        </p:spPr>
      </p:pic>
      <p:sp>
        <p:nvSpPr>
          <p:cNvPr id="6" name="Text 3"/>
          <p:cNvSpPr txBox="1"/>
          <p:nvPr/>
        </p:nvSpPr>
        <p:spPr>
          <a:xfrm>
            <a:off x="1828800" y="2103120"/>
            <a:ext cx="640080" cy="685800"/>
          </a:xfrm>
          <a:prstGeom prst="rect">
            <a:avLst/>
          </a:prstGeom>
          <a:noFill/>
          <a:ln/>
        </p:spPr>
        <p:txBody>
          <a:bodyPr wrap="square" lIns="0" tIns="0" rIns="0" bIns="0" rtlCol="0" anchor="ctr"/>
          <a:lstStyle/>
          <a:p>
            <a:pPr algn="r" indent="0" marL="0">
              <a:buNone/>
            </a:pPr>
            <a:r>
              <a:rPr lang="en-US" sz="2800" b="1" dirty="0">
                <a:solidFill>
                  <a:schemeClr val="accent5"/>
                </a:solidFill>
              </a:rPr>
              <a:t>01</a:t>
            </a:r>
            <a:endParaRPr lang="en-US" sz="2800" dirty="0"/>
          </a:p>
        </p:txBody>
      </p:sp>
      <p:sp>
        <p:nvSpPr>
          <p:cNvPr id="7" name="Text 4"/>
          <p:cNvSpPr txBox="1"/>
          <p:nvPr/>
        </p:nvSpPr>
        <p:spPr>
          <a:xfrm>
            <a:off x="777240" y="2926080"/>
            <a:ext cx="1737360" cy="411480"/>
          </a:xfrm>
          <a:prstGeom prst="rect">
            <a:avLst/>
          </a:prstGeom>
          <a:noFill/>
          <a:ln/>
        </p:spPr>
        <p:txBody>
          <a:bodyPr wrap="square" lIns="0" tIns="0" rIns="0" bIns="0" rtlCol="0" anchor="ctr"/>
          <a:lstStyle/>
          <a:p>
            <a:pPr indent="0" marL="0">
              <a:buNone/>
            </a:pPr>
            <a:r>
              <a:rPr lang="en-US" sz="2200" b="1" dirty="0">
                <a:solidFill>
                  <a:schemeClr val="accent1"/>
                </a:solidFill>
              </a:rPr>
              <a:t>Attract</a:t>
            </a:r>
            <a:endParaRPr lang="en-US" sz="2200" dirty="0"/>
          </a:p>
        </p:txBody>
      </p:sp>
      <p:sp>
        <p:nvSpPr>
          <p:cNvPr id="8" name="Text 5"/>
          <p:cNvSpPr txBox="1"/>
          <p:nvPr/>
        </p:nvSpPr>
        <p:spPr>
          <a:xfrm>
            <a:off x="777240" y="3383280"/>
            <a:ext cx="1691640" cy="1325880"/>
          </a:xfrm>
          <a:prstGeom prst="rect">
            <a:avLst/>
          </a:prstGeom>
          <a:noFill/>
          <a:ln/>
        </p:spPr>
        <p:txBody>
          <a:bodyPr wrap="square" lIns="0" tIns="0" rIns="0" bIns="0" rtlCol="0" anchor="t"/>
          <a:lstStyle/>
          <a:p>
            <a:pPr indent="0" marL="0">
              <a:buNone/>
            </a:pPr>
            <a:r>
              <a:rPr lang="en-US" sz="1400" dirty="0">
                <a:solidFill>
                  <a:schemeClr val="bg1"/>
                </a:solidFill>
              </a:rPr>
              <a:t>Google and Meta ads, past-patient win-back and review requests</a:t>
            </a:r>
            <a:endParaRPr lang="en-US" sz="1400" dirty="0"/>
          </a:p>
        </p:txBody>
      </p:sp>
      <p:sp>
        <p:nvSpPr>
          <p:cNvPr id="9" name="Text 6"/>
          <p:cNvSpPr txBox="1"/>
          <p:nvPr/>
        </p:nvSpPr>
        <p:spPr>
          <a:xfrm>
            <a:off x="777240" y="4754880"/>
            <a:ext cx="1691640" cy="640080"/>
          </a:xfrm>
          <a:prstGeom prst="rect">
            <a:avLst/>
          </a:prstGeom>
          <a:noFill/>
          <a:ln/>
        </p:spPr>
        <p:txBody>
          <a:bodyPr wrap="square" lIns="0" tIns="0" rIns="0" bIns="0" rtlCol="0" anchor="t"/>
          <a:lstStyle/>
          <a:p>
            <a:pPr indent="0" marL="0">
              <a:buNone/>
            </a:pPr>
            <a:r>
              <a:rPr lang="en-US" sz="1200" b="1" dirty="0">
                <a:solidFill>
                  <a:schemeClr val="accent4"/>
                </a:solidFill>
              </a:rPr>
              <a:t>FIXES: UNEVEN REFERRAL FLOW</a:t>
            </a:r>
            <a:endParaRPr lang="en-US" sz="1200" dirty="0"/>
          </a:p>
        </p:txBody>
      </p:sp>
      <p:sp>
        <p:nvSpPr>
          <p:cNvPr id="10" name="Stage card 2"/>
          <p:cNvSpPr/>
          <p:nvPr/>
        </p:nvSpPr>
        <p:spPr>
          <a:xfrm>
            <a:off x="2788920" y="1874520"/>
            <a:ext cx="2103120" cy="3657600"/>
          </a:xfrm>
          <a:prstGeom prst="roundRect">
            <a:avLst>
              <a:gd name="adj" fmla="val 5217"/>
            </a:avLst>
          </a:prstGeom>
          <a:solidFill>
            <a:schemeClr val="accent6"/>
          </a:solidFill>
          <a:ln w="12700">
            <a:solidFill>
              <a:schemeClr val="accent6"/>
            </a:solidFill>
            <a:prstDash val="solid"/>
          </a:ln>
        </p:spPr>
      </p:sp>
      <p:sp>
        <p:nvSpPr>
          <p:cNvPr id="11" name="Qualify icon circle"/>
          <p:cNvSpPr/>
          <p:nvPr/>
        </p:nvSpPr>
        <p:spPr>
          <a:xfrm>
            <a:off x="3017520" y="2103120"/>
            <a:ext cx="685800" cy="685800"/>
          </a:xfrm>
          <a:prstGeom prst="ellipse">
            <a:avLst/>
          </a:prstGeom>
          <a:solidFill>
            <a:srgbClr val="5FE0C0"/>
          </a:solidFill>
          <a:ln w="12700">
            <a:solidFill>
              <a:srgbClr val="5FE0C0"/>
            </a:solidFill>
            <a:prstDash val="solid"/>
          </a:ln>
        </p:spPr>
      </p:sp>
      <p:pic>
        <p:nvPicPr>
          <p:cNvPr id="12" name="Qualify icon" descr="Qualify icon">    </p:cNvPr>
          <p:cNvPicPr>
            <a:picLocks noChangeAspect="1"/>
          </p:cNvPicPr>
          <p:nvPr/>
        </p:nvPicPr>
        <p:blipFill>
          <a:blip r:embed="rId2"/>
          <a:stretch>
            <a:fillRect/>
          </a:stretch>
        </p:blipFill>
        <p:spPr>
          <a:xfrm>
            <a:off x="3202686" y="2288286"/>
            <a:ext cx="315468" cy="315468"/>
          </a:xfrm>
          <a:prstGeom prst="rect">
            <a:avLst/>
          </a:prstGeom>
        </p:spPr>
      </p:pic>
      <p:sp>
        <p:nvSpPr>
          <p:cNvPr id="13" name="Text 9"/>
          <p:cNvSpPr txBox="1"/>
          <p:nvPr/>
        </p:nvSpPr>
        <p:spPr>
          <a:xfrm>
            <a:off x="4069080" y="2103120"/>
            <a:ext cx="640080" cy="685800"/>
          </a:xfrm>
          <a:prstGeom prst="rect">
            <a:avLst/>
          </a:prstGeom>
          <a:noFill/>
          <a:ln/>
        </p:spPr>
        <p:txBody>
          <a:bodyPr wrap="square" lIns="0" tIns="0" rIns="0" bIns="0" rtlCol="0" anchor="ctr"/>
          <a:lstStyle/>
          <a:p>
            <a:pPr algn="r" indent="0" marL="0">
              <a:buNone/>
            </a:pPr>
            <a:r>
              <a:rPr lang="en-US" sz="2800" b="1" dirty="0">
                <a:solidFill>
                  <a:schemeClr val="accent5"/>
                </a:solidFill>
              </a:rPr>
              <a:t>02</a:t>
            </a:r>
            <a:endParaRPr lang="en-US" sz="2800" dirty="0"/>
          </a:p>
        </p:txBody>
      </p:sp>
      <p:sp>
        <p:nvSpPr>
          <p:cNvPr id="14" name="Text 10"/>
          <p:cNvSpPr txBox="1"/>
          <p:nvPr/>
        </p:nvSpPr>
        <p:spPr>
          <a:xfrm>
            <a:off x="3017520" y="2926080"/>
            <a:ext cx="1737360" cy="411480"/>
          </a:xfrm>
          <a:prstGeom prst="rect">
            <a:avLst/>
          </a:prstGeom>
          <a:noFill/>
          <a:ln/>
        </p:spPr>
        <p:txBody>
          <a:bodyPr wrap="square" lIns="0" tIns="0" rIns="0" bIns="0" rtlCol="0" anchor="ctr"/>
          <a:lstStyle/>
          <a:p>
            <a:pPr indent="0" marL="0">
              <a:buNone/>
            </a:pPr>
            <a:r>
              <a:rPr lang="en-US" sz="2200" b="1" dirty="0">
                <a:solidFill>
                  <a:schemeClr val="accent1"/>
                </a:solidFill>
              </a:rPr>
              <a:t>Qualify</a:t>
            </a:r>
            <a:endParaRPr lang="en-US" sz="2200" dirty="0"/>
          </a:p>
        </p:txBody>
      </p:sp>
      <p:sp>
        <p:nvSpPr>
          <p:cNvPr id="15" name="Text 11"/>
          <p:cNvSpPr txBox="1"/>
          <p:nvPr/>
        </p:nvSpPr>
        <p:spPr>
          <a:xfrm>
            <a:off x="3017520" y="3383280"/>
            <a:ext cx="1691640" cy="1325880"/>
          </a:xfrm>
          <a:prstGeom prst="rect">
            <a:avLst/>
          </a:prstGeom>
          <a:noFill/>
          <a:ln/>
        </p:spPr>
        <p:txBody>
          <a:bodyPr wrap="square" lIns="0" tIns="0" rIns="0" bIns="0" rtlCol="0" anchor="t"/>
          <a:lstStyle/>
          <a:p>
            <a:pPr indent="0" marL="0">
              <a:buNone/>
            </a:pPr>
            <a:r>
              <a:rPr lang="en-US" sz="1400" dirty="0">
                <a:solidFill>
                  <a:schemeClr val="bg1"/>
                </a:solidFill>
              </a:rPr>
              <a:t>A booking page and form questions that filter out tyre-kickers</a:t>
            </a:r>
            <a:endParaRPr lang="en-US" sz="1400" dirty="0"/>
          </a:p>
        </p:txBody>
      </p:sp>
      <p:sp>
        <p:nvSpPr>
          <p:cNvPr id="16" name="Text 12"/>
          <p:cNvSpPr txBox="1"/>
          <p:nvPr/>
        </p:nvSpPr>
        <p:spPr>
          <a:xfrm>
            <a:off x="3017520" y="4754880"/>
            <a:ext cx="1691640" cy="640080"/>
          </a:xfrm>
          <a:prstGeom prst="rect">
            <a:avLst/>
          </a:prstGeom>
          <a:noFill/>
          <a:ln/>
        </p:spPr>
        <p:txBody>
          <a:bodyPr wrap="square" lIns="0" tIns="0" rIns="0" bIns="0" rtlCol="0" anchor="t"/>
          <a:lstStyle/>
          <a:p>
            <a:pPr indent="0" marL="0">
              <a:buNone/>
            </a:pPr>
            <a:r>
              <a:rPr lang="en-US" sz="1200" b="1" dirty="0">
                <a:solidFill>
                  <a:schemeClr val="accent4"/>
                </a:solidFill>
              </a:rPr>
              <a:t>FIXES: POOR-QUALITY LEADS</a:t>
            </a:r>
            <a:endParaRPr lang="en-US" sz="1200" dirty="0"/>
          </a:p>
        </p:txBody>
      </p:sp>
      <p:sp>
        <p:nvSpPr>
          <p:cNvPr id="17" name="Stage card 3"/>
          <p:cNvSpPr/>
          <p:nvPr/>
        </p:nvSpPr>
        <p:spPr>
          <a:xfrm>
            <a:off x="5029200" y="1874520"/>
            <a:ext cx="2103120" cy="3657600"/>
          </a:xfrm>
          <a:prstGeom prst="roundRect">
            <a:avLst>
              <a:gd name="adj" fmla="val 5217"/>
            </a:avLst>
          </a:prstGeom>
          <a:solidFill>
            <a:schemeClr val="accent6"/>
          </a:solidFill>
          <a:ln w="12700">
            <a:solidFill>
              <a:schemeClr val="accent6"/>
            </a:solidFill>
            <a:prstDash val="solid"/>
          </a:ln>
        </p:spPr>
      </p:sp>
      <p:sp>
        <p:nvSpPr>
          <p:cNvPr id="18" name="Reply icon circle"/>
          <p:cNvSpPr/>
          <p:nvPr/>
        </p:nvSpPr>
        <p:spPr>
          <a:xfrm>
            <a:off x="5257800" y="2103120"/>
            <a:ext cx="685800" cy="685800"/>
          </a:xfrm>
          <a:prstGeom prst="ellipse">
            <a:avLst/>
          </a:prstGeom>
          <a:solidFill>
            <a:srgbClr val="5FE0C0"/>
          </a:solidFill>
          <a:ln w="12700">
            <a:solidFill>
              <a:srgbClr val="5FE0C0"/>
            </a:solidFill>
            <a:prstDash val="solid"/>
          </a:ln>
        </p:spPr>
      </p:sp>
      <p:pic>
        <p:nvPicPr>
          <p:cNvPr id="19" name="Reply icon" descr="Reply icon">    </p:cNvPr>
          <p:cNvPicPr>
            <a:picLocks noChangeAspect="1"/>
          </p:cNvPicPr>
          <p:nvPr/>
        </p:nvPicPr>
        <p:blipFill>
          <a:blip r:embed="rId3"/>
          <a:stretch>
            <a:fillRect/>
          </a:stretch>
        </p:blipFill>
        <p:spPr>
          <a:xfrm>
            <a:off x="5442966" y="2288286"/>
            <a:ext cx="315468" cy="315468"/>
          </a:xfrm>
          <a:prstGeom prst="rect">
            <a:avLst/>
          </a:prstGeom>
        </p:spPr>
      </p:pic>
      <p:sp>
        <p:nvSpPr>
          <p:cNvPr id="20" name="Text 15"/>
          <p:cNvSpPr txBox="1"/>
          <p:nvPr/>
        </p:nvSpPr>
        <p:spPr>
          <a:xfrm>
            <a:off x="6309360" y="2103120"/>
            <a:ext cx="640080" cy="685800"/>
          </a:xfrm>
          <a:prstGeom prst="rect">
            <a:avLst/>
          </a:prstGeom>
          <a:noFill/>
          <a:ln/>
        </p:spPr>
        <p:txBody>
          <a:bodyPr wrap="square" lIns="0" tIns="0" rIns="0" bIns="0" rtlCol="0" anchor="ctr"/>
          <a:lstStyle/>
          <a:p>
            <a:pPr algn="r" indent="0" marL="0">
              <a:buNone/>
            </a:pPr>
            <a:r>
              <a:rPr lang="en-US" sz="2800" b="1" dirty="0">
                <a:solidFill>
                  <a:schemeClr val="accent5"/>
                </a:solidFill>
              </a:rPr>
              <a:t>03</a:t>
            </a:r>
            <a:endParaRPr lang="en-US" sz="2800" dirty="0"/>
          </a:p>
        </p:txBody>
      </p:sp>
      <p:sp>
        <p:nvSpPr>
          <p:cNvPr id="21" name="Text 16"/>
          <p:cNvSpPr txBox="1"/>
          <p:nvPr/>
        </p:nvSpPr>
        <p:spPr>
          <a:xfrm>
            <a:off x="5257800" y="2926080"/>
            <a:ext cx="1737360" cy="411480"/>
          </a:xfrm>
          <a:prstGeom prst="rect">
            <a:avLst/>
          </a:prstGeom>
          <a:noFill/>
          <a:ln/>
        </p:spPr>
        <p:txBody>
          <a:bodyPr wrap="square" lIns="0" tIns="0" rIns="0" bIns="0" rtlCol="0" anchor="ctr"/>
          <a:lstStyle/>
          <a:p>
            <a:pPr indent="0" marL="0">
              <a:buNone/>
            </a:pPr>
            <a:r>
              <a:rPr lang="en-US" sz="2200" b="1" dirty="0">
                <a:solidFill>
                  <a:schemeClr val="accent1"/>
                </a:solidFill>
              </a:rPr>
              <a:t>Reply</a:t>
            </a:r>
            <a:endParaRPr lang="en-US" sz="2200" dirty="0"/>
          </a:p>
        </p:txBody>
      </p:sp>
      <p:sp>
        <p:nvSpPr>
          <p:cNvPr id="22" name="Text 17"/>
          <p:cNvSpPr txBox="1"/>
          <p:nvPr/>
        </p:nvSpPr>
        <p:spPr>
          <a:xfrm>
            <a:off x="5257800" y="3383280"/>
            <a:ext cx="1691640" cy="1325880"/>
          </a:xfrm>
          <a:prstGeom prst="rect">
            <a:avLst/>
          </a:prstGeom>
          <a:noFill/>
          <a:ln/>
        </p:spPr>
        <p:txBody>
          <a:bodyPr wrap="square" lIns="0" tIns="0" rIns="0" bIns="0" rtlCol="0" anchor="t"/>
          <a:lstStyle/>
          <a:p>
            <a:pPr indent="0" marL="0">
              <a:buNone/>
            </a:pPr>
            <a:r>
              <a:rPr lang="en-US" sz="1400" dirty="0">
                <a:solidFill>
                  <a:schemeClr val="bg1"/>
                </a:solidFill>
              </a:rPr>
              <a:t>Instant text and call-back in minutes. Your staff get an alert</a:t>
            </a:r>
            <a:endParaRPr lang="en-US" sz="1400" dirty="0"/>
          </a:p>
        </p:txBody>
      </p:sp>
      <p:sp>
        <p:nvSpPr>
          <p:cNvPr id="23" name="Text 18"/>
          <p:cNvSpPr txBox="1"/>
          <p:nvPr/>
        </p:nvSpPr>
        <p:spPr>
          <a:xfrm>
            <a:off x="5257800" y="4754880"/>
            <a:ext cx="1691640" cy="640080"/>
          </a:xfrm>
          <a:prstGeom prst="rect">
            <a:avLst/>
          </a:prstGeom>
          <a:noFill/>
          <a:ln/>
        </p:spPr>
        <p:txBody>
          <a:bodyPr wrap="square" lIns="0" tIns="0" rIns="0" bIns="0" rtlCol="0" anchor="t"/>
          <a:lstStyle/>
          <a:p>
            <a:pPr indent="0" marL="0">
              <a:buNone/>
            </a:pPr>
            <a:r>
              <a:rPr lang="en-US" sz="1200" b="1" dirty="0">
                <a:solidFill>
                  <a:schemeClr val="accent4"/>
                </a:solidFill>
              </a:rPr>
              <a:t>FIXES: LEADS GOING COLD</a:t>
            </a:r>
            <a:endParaRPr lang="en-US" sz="1200" dirty="0"/>
          </a:p>
        </p:txBody>
      </p:sp>
      <p:sp>
        <p:nvSpPr>
          <p:cNvPr id="24" name="Stage card 4"/>
          <p:cNvSpPr/>
          <p:nvPr/>
        </p:nvSpPr>
        <p:spPr>
          <a:xfrm>
            <a:off x="7269480" y="1874520"/>
            <a:ext cx="2103120" cy="3657600"/>
          </a:xfrm>
          <a:prstGeom prst="roundRect">
            <a:avLst>
              <a:gd name="adj" fmla="val 5217"/>
            </a:avLst>
          </a:prstGeom>
          <a:solidFill>
            <a:schemeClr val="accent6"/>
          </a:solidFill>
          <a:ln w="12700">
            <a:solidFill>
              <a:schemeClr val="accent6"/>
            </a:solidFill>
            <a:prstDash val="solid"/>
          </a:ln>
        </p:spPr>
      </p:sp>
      <p:sp>
        <p:nvSpPr>
          <p:cNvPr id="25" name="Show up icon circle"/>
          <p:cNvSpPr/>
          <p:nvPr/>
        </p:nvSpPr>
        <p:spPr>
          <a:xfrm>
            <a:off x="7498080" y="2103120"/>
            <a:ext cx="685800" cy="685800"/>
          </a:xfrm>
          <a:prstGeom prst="ellipse">
            <a:avLst/>
          </a:prstGeom>
          <a:solidFill>
            <a:srgbClr val="5FE0C0"/>
          </a:solidFill>
          <a:ln w="12700">
            <a:solidFill>
              <a:srgbClr val="5FE0C0"/>
            </a:solidFill>
            <a:prstDash val="solid"/>
          </a:ln>
        </p:spPr>
      </p:sp>
      <p:pic>
        <p:nvPicPr>
          <p:cNvPr id="26" name="Show up icon" descr="Show up icon">    </p:cNvPr>
          <p:cNvPicPr>
            <a:picLocks noChangeAspect="1"/>
          </p:cNvPicPr>
          <p:nvPr/>
        </p:nvPicPr>
        <p:blipFill>
          <a:blip r:embed="rId4"/>
          <a:stretch>
            <a:fillRect/>
          </a:stretch>
        </p:blipFill>
        <p:spPr>
          <a:xfrm>
            <a:off x="7683246" y="2288286"/>
            <a:ext cx="315468" cy="315468"/>
          </a:xfrm>
          <a:prstGeom prst="rect">
            <a:avLst/>
          </a:prstGeom>
        </p:spPr>
      </p:pic>
      <p:sp>
        <p:nvSpPr>
          <p:cNvPr id="27" name="Text 21"/>
          <p:cNvSpPr txBox="1"/>
          <p:nvPr/>
        </p:nvSpPr>
        <p:spPr>
          <a:xfrm>
            <a:off x="8549640" y="2103120"/>
            <a:ext cx="640080" cy="685800"/>
          </a:xfrm>
          <a:prstGeom prst="rect">
            <a:avLst/>
          </a:prstGeom>
          <a:noFill/>
          <a:ln/>
        </p:spPr>
        <p:txBody>
          <a:bodyPr wrap="square" lIns="0" tIns="0" rIns="0" bIns="0" rtlCol="0" anchor="ctr"/>
          <a:lstStyle/>
          <a:p>
            <a:pPr algn="r" indent="0" marL="0">
              <a:buNone/>
            </a:pPr>
            <a:r>
              <a:rPr lang="en-US" sz="2800" b="1" dirty="0">
                <a:solidFill>
                  <a:schemeClr val="accent5"/>
                </a:solidFill>
              </a:rPr>
              <a:t>04</a:t>
            </a:r>
            <a:endParaRPr lang="en-US" sz="2800" dirty="0"/>
          </a:p>
        </p:txBody>
      </p:sp>
      <p:sp>
        <p:nvSpPr>
          <p:cNvPr id="28" name="Text 22"/>
          <p:cNvSpPr txBox="1"/>
          <p:nvPr/>
        </p:nvSpPr>
        <p:spPr>
          <a:xfrm>
            <a:off x="7498080" y="2926080"/>
            <a:ext cx="1737360" cy="411480"/>
          </a:xfrm>
          <a:prstGeom prst="rect">
            <a:avLst/>
          </a:prstGeom>
          <a:noFill/>
          <a:ln/>
        </p:spPr>
        <p:txBody>
          <a:bodyPr wrap="square" lIns="0" tIns="0" rIns="0" bIns="0" rtlCol="0" anchor="ctr"/>
          <a:lstStyle/>
          <a:p>
            <a:pPr indent="0" marL="0">
              <a:buNone/>
            </a:pPr>
            <a:r>
              <a:rPr lang="en-US" sz="2200" b="1" dirty="0">
                <a:solidFill>
                  <a:schemeClr val="accent1"/>
                </a:solidFill>
              </a:rPr>
              <a:t>Show up</a:t>
            </a:r>
            <a:endParaRPr lang="en-US" sz="2200" dirty="0"/>
          </a:p>
        </p:txBody>
      </p:sp>
      <p:sp>
        <p:nvSpPr>
          <p:cNvPr id="29" name="Text 23"/>
          <p:cNvSpPr txBox="1"/>
          <p:nvPr/>
        </p:nvSpPr>
        <p:spPr>
          <a:xfrm>
            <a:off x="7498080" y="3383280"/>
            <a:ext cx="1691640" cy="1325880"/>
          </a:xfrm>
          <a:prstGeom prst="rect">
            <a:avLst/>
          </a:prstGeom>
          <a:noFill/>
          <a:ln/>
        </p:spPr>
        <p:txBody>
          <a:bodyPr wrap="square" lIns="0" tIns="0" rIns="0" bIns="0" rtlCol="0" anchor="t"/>
          <a:lstStyle/>
          <a:p>
            <a:pPr indent="0" marL="0">
              <a:buNone/>
            </a:pPr>
            <a:r>
              <a:rPr lang="en-US" sz="1400" dirty="0">
                <a:solidFill>
                  <a:schemeClr val="bg1"/>
                </a:solidFill>
              </a:rPr>
              <a:t>Reminders, optional deposit, cancelled slots refilled</a:t>
            </a:r>
            <a:endParaRPr lang="en-US" sz="1400" dirty="0"/>
          </a:p>
        </p:txBody>
      </p:sp>
      <p:sp>
        <p:nvSpPr>
          <p:cNvPr id="30" name="Text 24"/>
          <p:cNvSpPr txBox="1"/>
          <p:nvPr/>
        </p:nvSpPr>
        <p:spPr>
          <a:xfrm>
            <a:off x="7498080" y="4754880"/>
            <a:ext cx="1691640" cy="640080"/>
          </a:xfrm>
          <a:prstGeom prst="rect">
            <a:avLst/>
          </a:prstGeom>
          <a:noFill/>
          <a:ln/>
        </p:spPr>
        <p:txBody>
          <a:bodyPr wrap="square" lIns="0" tIns="0" rIns="0" bIns="0" rtlCol="0" anchor="t"/>
          <a:lstStyle/>
          <a:p>
            <a:pPr indent="0" marL="0">
              <a:buNone/>
            </a:pPr>
            <a:r>
              <a:rPr lang="en-US" sz="1200" b="1" dirty="0">
                <a:solidFill>
                  <a:schemeClr val="accent4"/>
                </a:solidFill>
              </a:rPr>
              <a:t>FIXES: NO-SHOWS</a:t>
            </a:r>
            <a:endParaRPr lang="en-US" sz="1200" dirty="0"/>
          </a:p>
        </p:txBody>
      </p:sp>
      <p:sp>
        <p:nvSpPr>
          <p:cNvPr id="31" name="Stage card 5"/>
          <p:cNvSpPr/>
          <p:nvPr/>
        </p:nvSpPr>
        <p:spPr>
          <a:xfrm>
            <a:off x="9509760" y="1874520"/>
            <a:ext cx="2103120" cy="3657600"/>
          </a:xfrm>
          <a:prstGeom prst="roundRect">
            <a:avLst>
              <a:gd name="adj" fmla="val 5217"/>
            </a:avLst>
          </a:prstGeom>
          <a:solidFill>
            <a:schemeClr val="accent6"/>
          </a:solidFill>
          <a:ln w="12700">
            <a:solidFill>
              <a:schemeClr val="accent6"/>
            </a:solidFill>
            <a:prstDash val="solid"/>
          </a:ln>
        </p:spPr>
      </p:sp>
      <p:sp>
        <p:nvSpPr>
          <p:cNvPr id="32" name="Track icon circle"/>
          <p:cNvSpPr/>
          <p:nvPr/>
        </p:nvSpPr>
        <p:spPr>
          <a:xfrm>
            <a:off x="9738360" y="2103120"/>
            <a:ext cx="685800" cy="685800"/>
          </a:xfrm>
          <a:prstGeom prst="ellipse">
            <a:avLst/>
          </a:prstGeom>
          <a:solidFill>
            <a:srgbClr val="5FE0C0"/>
          </a:solidFill>
          <a:ln w="12700">
            <a:solidFill>
              <a:srgbClr val="5FE0C0"/>
            </a:solidFill>
            <a:prstDash val="solid"/>
          </a:ln>
        </p:spPr>
      </p:sp>
      <p:pic>
        <p:nvPicPr>
          <p:cNvPr id="33" name="Track icon" descr="Track icon">    </p:cNvPr>
          <p:cNvPicPr>
            <a:picLocks noChangeAspect="1"/>
          </p:cNvPicPr>
          <p:nvPr/>
        </p:nvPicPr>
        <p:blipFill>
          <a:blip r:embed="rId5"/>
          <a:stretch>
            <a:fillRect/>
          </a:stretch>
        </p:blipFill>
        <p:spPr>
          <a:xfrm>
            <a:off x="9923526" y="2288286"/>
            <a:ext cx="315468" cy="315468"/>
          </a:xfrm>
          <a:prstGeom prst="rect">
            <a:avLst/>
          </a:prstGeom>
        </p:spPr>
      </p:pic>
      <p:sp>
        <p:nvSpPr>
          <p:cNvPr id="34" name="Text 27"/>
          <p:cNvSpPr txBox="1"/>
          <p:nvPr/>
        </p:nvSpPr>
        <p:spPr>
          <a:xfrm>
            <a:off x="10789920" y="2103120"/>
            <a:ext cx="640080" cy="685800"/>
          </a:xfrm>
          <a:prstGeom prst="rect">
            <a:avLst/>
          </a:prstGeom>
          <a:noFill/>
          <a:ln/>
        </p:spPr>
        <p:txBody>
          <a:bodyPr wrap="square" lIns="0" tIns="0" rIns="0" bIns="0" rtlCol="0" anchor="ctr"/>
          <a:lstStyle/>
          <a:p>
            <a:pPr algn="r" indent="0" marL="0">
              <a:buNone/>
            </a:pPr>
            <a:r>
              <a:rPr lang="en-US" sz="2800" b="1" dirty="0">
                <a:solidFill>
                  <a:schemeClr val="accent5"/>
                </a:solidFill>
              </a:rPr>
              <a:t>05</a:t>
            </a:r>
            <a:endParaRPr lang="en-US" sz="2800" dirty="0"/>
          </a:p>
        </p:txBody>
      </p:sp>
      <p:sp>
        <p:nvSpPr>
          <p:cNvPr id="35" name="Text 28"/>
          <p:cNvSpPr txBox="1"/>
          <p:nvPr/>
        </p:nvSpPr>
        <p:spPr>
          <a:xfrm>
            <a:off x="9738360" y="2926080"/>
            <a:ext cx="1737360" cy="411480"/>
          </a:xfrm>
          <a:prstGeom prst="rect">
            <a:avLst/>
          </a:prstGeom>
          <a:noFill/>
          <a:ln/>
        </p:spPr>
        <p:txBody>
          <a:bodyPr wrap="square" lIns="0" tIns="0" rIns="0" bIns="0" rtlCol="0" anchor="ctr"/>
          <a:lstStyle/>
          <a:p>
            <a:pPr indent="0" marL="0">
              <a:buNone/>
            </a:pPr>
            <a:r>
              <a:rPr lang="en-US" sz="2200" b="1" dirty="0">
                <a:solidFill>
                  <a:schemeClr val="accent1"/>
                </a:solidFill>
              </a:rPr>
              <a:t>Track</a:t>
            </a:r>
            <a:endParaRPr lang="en-US" sz="2200" dirty="0"/>
          </a:p>
        </p:txBody>
      </p:sp>
      <p:sp>
        <p:nvSpPr>
          <p:cNvPr id="36" name="Text 29"/>
          <p:cNvSpPr txBox="1"/>
          <p:nvPr/>
        </p:nvSpPr>
        <p:spPr>
          <a:xfrm>
            <a:off x="9738360" y="3383280"/>
            <a:ext cx="1691640" cy="1325880"/>
          </a:xfrm>
          <a:prstGeom prst="rect">
            <a:avLst/>
          </a:prstGeom>
          <a:noFill/>
          <a:ln/>
        </p:spPr>
        <p:txBody>
          <a:bodyPr wrap="square" lIns="0" tIns="0" rIns="0" bIns="0" rtlCol="0" anchor="t"/>
          <a:lstStyle/>
          <a:p>
            <a:pPr indent="0" marL="0">
              <a:buNone/>
            </a:pPr>
            <a:r>
              <a:rPr lang="en-US" sz="1400" dirty="0">
                <a:solidFill>
                  <a:schemeClr val="bg1"/>
                </a:solidFill>
              </a:rPr>
              <a:t>Every lead followed to attended, treated and revenue</a:t>
            </a:r>
            <a:endParaRPr lang="en-US" sz="1400" dirty="0"/>
          </a:p>
        </p:txBody>
      </p:sp>
      <p:sp>
        <p:nvSpPr>
          <p:cNvPr id="37" name="Text 30"/>
          <p:cNvSpPr txBox="1"/>
          <p:nvPr/>
        </p:nvSpPr>
        <p:spPr>
          <a:xfrm>
            <a:off x="9738360" y="4754880"/>
            <a:ext cx="1691640" cy="640080"/>
          </a:xfrm>
          <a:prstGeom prst="rect">
            <a:avLst/>
          </a:prstGeom>
          <a:noFill/>
          <a:ln/>
        </p:spPr>
        <p:txBody>
          <a:bodyPr wrap="square" lIns="0" tIns="0" rIns="0" bIns="0" rtlCol="0" anchor="t"/>
          <a:lstStyle/>
          <a:p>
            <a:pPr indent="0" marL="0">
              <a:buNone/>
            </a:pPr>
            <a:r>
              <a:rPr lang="en-US" sz="1200" b="1" dirty="0">
                <a:solidFill>
                  <a:schemeClr val="accent4"/>
                </a:solidFill>
              </a:rPr>
              <a:t>FIXES: NO ONE COUNTING PATIENTS</a:t>
            </a:r>
            <a:endParaRPr lang="en-US" sz="1200" dirty="0"/>
          </a:p>
        </p:txBody>
      </p:sp>
      <p:sp>
        <p:nvSpPr>
          <p:cNvPr id="38" name="Text 31"/>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800" b="1" dirty="0">
                <a:solidFill>
                  <a:schemeClr val="bg1"/>
                </a:solidFill>
              </a:rPr>
              <a:t>We build it, run it and fix it. You get a weekly report across all five stages.</a:t>
            </a:r>
            <a:endParaRPr lang="en-US" sz="1800" dirty="0"/>
          </a:p>
        </p:txBody>
      </p:sp>
      <p:sp>
        <p:nvSpPr>
          <p:cNvPr id="39" name="Text 32"/>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600" dirty="0">
                <a:solidFill>
                  <a:schemeClr val="accent5"/>
                </a:solidFill>
              </a:rPr>
              <a:t>Start: Lead Leak Audit in 5 business days. First campaigns live in 14.</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What your patients and team see</a:t>
            </a:r>
            <a:endParaRPr lang="en-US" sz="3800" dirty="0"/>
          </a:p>
        </p:txBody>
      </p:sp>
      <p:sp>
        <p:nvSpPr>
          <p:cNvPr id="3" name="Sample badge"/>
          <p:cNvSpPr/>
          <p:nvPr/>
        </p:nvSpPr>
        <p:spPr>
          <a:xfrm>
            <a:off x="9555480" y="320040"/>
            <a:ext cx="2103120" cy="365760"/>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555480" y="320040"/>
            <a:ext cx="2103120" cy="365760"/>
          </a:xfrm>
          <a:prstGeom prst="rect">
            <a:avLst/>
          </a:prstGeom>
          <a:noFill/>
          <a:ln/>
        </p:spPr>
        <p:txBody>
          <a:bodyPr wrap="square" lIns="0" tIns="0" rIns="0" bIns="0" rtlCol="0" anchor="ctr"/>
          <a:lstStyle/>
          <a:p>
            <a:pPr algn="ctr" indent="0" marL="0">
              <a:buNone/>
            </a:pPr>
            <a:r>
              <a:rPr lang="en-US" sz="1200" b="1" spc="100" kern="0" dirty="0">
                <a:solidFill>
                  <a:schemeClr val="tx1"/>
                </a:solidFill>
              </a:rPr>
              <a:t>SAMPLE SCREENS</a:t>
            </a:r>
            <a:endParaRPr lang="en-US" sz="1200" dirty="0"/>
          </a:p>
        </p:txBody>
      </p:sp>
      <p:sp>
        <p:nvSpPr>
          <p:cNvPr id="5" name="Phone frame"/>
          <p:cNvSpPr/>
          <p:nvPr/>
        </p:nvSpPr>
        <p:spPr>
          <a:xfrm>
            <a:off x="548640" y="1828800"/>
            <a:ext cx="3931920" cy="4023360"/>
          </a:xfrm>
          <a:prstGeom prst="roundRect">
            <a:avLst>
              <a:gd name="adj" fmla="val 5814"/>
            </a:avLst>
          </a:prstGeom>
          <a:solidFill>
            <a:schemeClr val="accent6"/>
          </a:solidFill>
          <a:ln w="12700">
            <a:solidFill>
              <a:schemeClr val="accent5"/>
            </a:solidFill>
            <a:prstDash val="solid"/>
          </a:ln>
        </p:spPr>
      </p:sp>
      <p:sp>
        <p:nvSpPr>
          <p:cNvPr id="6" name="Text 4"/>
          <p:cNvSpPr txBox="1"/>
          <p:nvPr/>
        </p:nvSpPr>
        <p:spPr>
          <a:xfrm>
            <a:off x="822960" y="1965960"/>
            <a:ext cx="3383280" cy="320040"/>
          </a:xfrm>
          <a:prstGeom prst="rect">
            <a:avLst/>
          </a:prstGeom>
          <a:noFill/>
          <a:ln/>
        </p:spPr>
        <p:txBody>
          <a:bodyPr wrap="square" lIns="0" tIns="0" rIns="0" bIns="0" rtlCol="0" anchor="ctr"/>
          <a:lstStyle/>
          <a:p>
            <a:pPr indent="0" marL="0">
              <a:buNone/>
            </a:pPr>
            <a:r>
              <a:rPr lang="en-US" sz="1200" dirty="0">
                <a:solidFill>
                  <a:schemeClr val="accent5"/>
                </a:solidFill>
              </a:rPr>
              <a:t>Your Clinic  |  Sun 9:47 PM</a:t>
            </a:r>
            <a:endParaRPr lang="en-US" sz="1200" dirty="0"/>
          </a:p>
        </p:txBody>
      </p:sp>
      <p:sp>
        <p:nvSpPr>
          <p:cNvPr id="7" name="Message 1"/>
          <p:cNvSpPr/>
          <p:nvPr/>
        </p:nvSpPr>
        <p:spPr>
          <a:xfrm>
            <a:off x="777240" y="2377440"/>
            <a:ext cx="2606040" cy="548640"/>
          </a:xfrm>
          <a:prstGeom prst="roundRect">
            <a:avLst>
              <a:gd name="adj" fmla="val 16667"/>
            </a:avLst>
          </a:prstGeom>
          <a:solidFill>
            <a:schemeClr val="bg1"/>
          </a:solidFill>
          <a:ln w="12700">
            <a:solidFill>
              <a:schemeClr val="bg1"/>
            </a:solidFill>
            <a:prstDash val="solid"/>
          </a:ln>
        </p:spPr>
      </p:sp>
      <p:sp>
        <p:nvSpPr>
          <p:cNvPr id="8" name="Text 6"/>
          <p:cNvSpPr txBox="1"/>
          <p:nvPr/>
        </p:nvSpPr>
        <p:spPr>
          <a:xfrm>
            <a:off x="886968" y="2377440"/>
            <a:ext cx="2377440" cy="548640"/>
          </a:xfrm>
          <a:prstGeom prst="rect">
            <a:avLst/>
          </a:prstGeom>
          <a:noFill/>
          <a:ln/>
        </p:spPr>
        <p:txBody>
          <a:bodyPr wrap="square" lIns="0" tIns="0" rIns="0" bIns="0" rtlCol="0" anchor="ctr"/>
          <a:lstStyle/>
          <a:p>
            <a:pPr indent="0" marL="0">
              <a:buNone/>
            </a:pPr>
            <a:r>
              <a:rPr lang="en-US" sz="1200" dirty="0">
                <a:solidFill>
                  <a:schemeClr val="tx1"/>
                </a:solidFill>
              </a:rPr>
              <a:t>Hi, I saw your ad. Anything free this week?</a:t>
            </a:r>
            <a:endParaRPr lang="en-US" sz="1200" dirty="0"/>
          </a:p>
        </p:txBody>
      </p:sp>
      <p:sp>
        <p:nvSpPr>
          <p:cNvPr id="9" name="Message 2"/>
          <p:cNvSpPr/>
          <p:nvPr/>
        </p:nvSpPr>
        <p:spPr>
          <a:xfrm>
            <a:off x="1737360" y="3017520"/>
            <a:ext cx="2606040" cy="822960"/>
          </a:xfrm>
          <a:prstGeom prst="roundRect">
            <a:avLst>
              <a:gd name="adj" fmla="val 11111"/>
            </a:avLst>
          </a:prstGeom>
          <a:solidFill>
            <a:schemeClr val="accent1"/>
          </a:solidFill>
          <a:ln w="12700">
            <a:solidFill>
              <a:schemeClr val="accent1"/>
            </a:solidFill>
            <a:prstDash val="solid"/>
          </a:ln>
        </p:spPr>
      </p:sp>
      <p:sp>
        <p:nvSpPr>
          <p:cNvPr id="10" name="Text 8"/>
          <p:cNvSpPr txBox="1"/>
          <p:nvPr/>
        </p:nvSpPr>
        <p:spPr>
          <a:xfrm>
            <a:off x="1847088" y="3017520"/>
            <a:ext cx="2377440" cy="822960"/>
          </a:xfrm>
          <a:prstGeom prst="rect">
            <a:avLst/>
          </a:prstGeom>
          <a:noFill/>
          <a:ln/>
        </p:spPr>
        <p:txBody>
          <a:bodyPr wrap="square" lIns="0" tIns="0" rIns="0" bIns="0" rtlCol="0" anchor="ctr"/>
          <a:lstStyle/>
          <a:p>
            <a:pPr indent="0" marL="0">
              <a:buNone/>
            </a:pPr>
            <a:r>
              <a:rPr lang="en-US" sz="1200" dirty="0">
                <a:solidFill>
                  <a:schemeClr val="tx1"/>
                </a:solidFill>
              </a:rPr>
              <a:t>Hi! Yes. Thursday 4:30 PM or Friday 11:00 AM. Which works better?</a:t>
            </a:r>
            <a:endParaRPr lang="en-US" sz="1200" dirty="0"/>
          </a:p>
        </p:txBody>
      </p:sp>
      <p:sp>
        <p:nvSpPr>
          <p:cNvPr id="11" name="Message 3"/>
          <p:cNvSpPr/>
          <p:nvPr/>
        </p:nvSpPr>
        <p:spPr>
          <a:xfrm>
            <a:off x="777240" y="3931920"/>
            <a:ext cx="2606040" cy="411480"/>
          </a:xfrm>
          <a:prstGeom prst="roundRect">
            <a:avLst>
              <a:gd name="adj" fmla="val 22222"/>
            </a:avLst>
          </a:prstGeom>
          <a:solidFill>
            <a:schemeClr val="bg1"/>
          </a:solidFill>
          <a:ln w="12700">
            <a:solidFill>
              <a:schemeClr val="bg1"/>
            </a:solidFill>
            <a:prstDash val="solid"/>
          </a:ln>
        </p:spPr>
      </p:sp>
      <p:sp>
        <p:nvSpPr>
          <p:cNvPr id="12" name="Text 10"/>
          <p:cNvSpPr txBox="1"/>
          <p:nvPr/>
        </p:nvSpPr>
        <p:spPr>
          <a:xfrm>
            <a:off x="886968" y="3931920"/>
            <a:ext cx="2377440" cy="411480"/>
          </a:xfrm>
          <a:prstGeom prst="rect">
            <a:avLst/>
          </a:prstGeom>
          <a:noFill/>
          <a:ln/>
        </p:spPr>
        <p:txBody>
          <a:bodyPr wrap="square" lIns="0" tIns="0" rIns="0" bIns="0" rtlCol="0" anchor="ctr"/>
          <a:lstStyle/>
          <a:p>
            <a:pPr indent="0" marL="0">
              <a:buNone/>
            </a:pPr>
            <a:r>
              <a:rPr lang="en-US" sz="1200" dirty="0">
                <a:solidFill>
                  <a:schemeClr val="tx1"/>
                </a:solidFill>
              </a:rPr>
              <a:t>Friday 11 works!</a:t>
            </a:r>
            <a:endParaRPr lang="en-US" sz="1200" dirty="0"/>
          </a:p>
        </p:txBody>
      </p:sp>
      <p:sp>
        <p:nvSpPr>
          <p:cNvPr id="13" name="Message 4"/>
          <p:cNvSpPr/>
          <p:nvPr/>
        </p:nvSpPr>
        <p:spPr>
          <a:xfrm>
            <a:off x="1737360" y="4434840"/>
            <a:ext cx="2606040" cy="685800"/>
          </a:xfrm>
          <a:prstGeom prst="roundRect">
            <a:avLst>
              <a:gd name="adj" fmla="val 13333"/>
            </a:avLst>
          </a:prstGeom>
          <a:solidFill>
            <a:schemeClr val="accent1"/>
          </a:solidFill>
          <a:ln w="12700">
            <a:solidFill>
              <a:schemeClr val="accent1"/>
            </a:solidFill>
            <a:prstDash val="solid"/>
          </a:ln>
        </p:spPr>
      </p:sp>
      <p:sp>
        <p:nvSpPr>
          <p:cNvPr id="14" name="Text 12"/>
          <p:cNvSpPr txBox="1"/>
          <p:nvPr/>
        </p:nvSpPr>
        <p:spPr>
          <a:xfrm>
            <a:off x="1847088" y="4434840"/>
            <a:ext cx="2377440" cy="685800"/>
          </a:xfrm>
          <a:prstGeom prst="rect">
            <a:avLst/>
          </a:prstGeom>
          <a:noFill/>
          <a:ln/>
        </p:spPr>
        <p:txBody>
          <a:bodyPr wrap="square" lIns="0" tIns="0" rIns="0" bIns="0" rtlCol="0" anchor="ctr"/>
          <a:lstStyle/>
          <a:p>
            <a:pPr indent="0" marL="0">
              <a:buNone/>
            </a:pPr>
            <a:r>
              <a:rPr lang="en-US" sz="1200" dirty="0">
                <a:solidFill>
                  <a:schemeClr val="tx1"/>
                </a:solidFill>
              </a:rPr>
              <a:t>Booked. We'll send a reminder the day before.</a:t>
            </a:r>
            <a:endParaRPr lang="en-US" sz="1200" dirty="0"/>
          </a:p>
        </p:txBody>
      </p:sp>
      <p:sp>
        <p:nvSpPr>
          <p:cNvPr id="15" name="Text 13"/>
          <p:cNvSpPr txBox="1"/>
          <p:nvPr/>
        </p:nvSpPr>
        <p:spPr>
          <a:xfrm>
            <a:off x="822960" y="5303520"/>
            <a:ext cx="3383280" cy="320040"/>
          </a:xfrm>
          <a:prstGeom prst="rect">
            <a:avLst/>
          </a:prstGeom>
          <a:noFill/>
          <a:ln/>
        </p:spPr>
        <p:txBody>
          <a:bodyPr wrap="square" lIns="0" tIns="0" rIns="0" bIns="0" rtlCol="0" anchor="ctr"/>
          <a:lstStyle/>
          <a:p>
            <a:pPr indent="0" marL="0">
              <a:buNone/>
            </a:pPr>
            <a:r>
              <a:rPr lang="en-US" sz="1400" b="1" dirty="0">
                <a:solidFill>
                  <a:schemeClr val="accent1"/>
                </a:solidFill>
              </a:rPr>
              <a:t>Replied in under 1 minute</a:t>
            </a:r>
            <a:endParaRPr lang="en-US" sz="1400" dirty="0"/>
          </a:p>
        </p:txBody>
      </p:sp>
      <p:sp>
        <p:nvSpPr>
          <p:cNvPr id="16" name="Calendar panel"/>
          <p:cNvSpPr/>
          <p:nvPr/>
        </p:nvSpPr>
        <p:spPr>
          <a:xfrm>
            <a:off x="4754880" y="1828800"/>
            <a:ext cx="6858000" cy="4023360"/>
          </a:xfrm>
          <a:prstGeom prst="roundRect">
            <a:avLst>
              <a:gd name="adj" fmla="val 2727"/>
            </a:avLst>
          </a:prstGeom>
          <a:solidFill>
            <a:schemeClr val="accent6"/>
          </a:solidFill>
          <a:ln w="12700">
            <a:solidFill>
              <a:schemeClr val="accent6"/>
            </a:solidFill>
            <a:prstDash val="solid"/>
          </a:ln>
        </p:spPr>
      </p:sp>
      <p:sp>
        <p:nvSpPr>
          <p:cNvPr id="17" name="Text 15"/>
          <p:cNvSpPr txBox="1"/>
          <p:nvPr/>
        </p:nvSpPr>
        <p:spPr>
          <a:xfrm>
            <a:off x="5029200" y="1965960"/>
            <a:ext cx="6309360" cy="365760"/>
          </a:xfrm>
          <a:prstGeom prst="rect">
            <a:avLst/>
          </a:prstGeom>
          <a:noFill/>
          <a:ln/>
        </p:spPr>
        <p:txBody>
          <a:bodyPr wrap="square" lIns="0" tIns="0" rIns="0" bIns="0" rtlCol="0" anchor="ctr"/>
          <a:lstStyle/>
          <a:p>
            <a:pPr indent="0" marL="0">
              <a:buNone/>
            </a:pPr>
            <a:r>
              <a:rPr lang="en-US" sz="1600" b="1" dirty="0">
                <a:solidFill>
                  <a:schemeClr val="bg1"/>
                </a:solidFill>
              </a:rPr>
              <a:t>This week: new-patient appointments</a:t>
            </a:r>
            <a:endParaRPr lang="en-US" sz="1600" dirty="0"/>
          </a:p>
        </p:txBody>
      </p:sp>
      <p:sp>
        <p:nvSpPr>
          <p:cNvPr id="18" name="Text 16"/>
          <p:cNvSpPr txBox="1"/>
          <p:nvPr/>
        </p:nvSpPr>
        <p:spPr>
          <a:xfrm>
            <a:off x="5029200" y="2468880"/>
            <a:ext cx="1188720" cy="320040"/>
          </a:xfrm>
          <a:prstGeom prst="rect">
            <a:avLst/>
          </a:prstGeom>
          <a:noFill/>
          <a:ln/>
        </p:spPr>
        <p:txBody>
          <a:bodyPr wrap="square" lIns="0" tIns="0" rIns="0" bIns="0" rtlCol="0" anchor="ctr"/>
          <a:lstStyle/>
          <a:p>
            <a:pPr algn="ctr" indent="0" marL="0">
              <a:buNone/>
            </a:pPr>
            <a:r>
              <a:rPr lang="en-US" sz="1400" b="1" dirty="0">
                <a:solidFill>
                  <a:schemeClr val="accent5"/>
                </a:solidFill>
              </a:rPr>
              <a:t>Mon</a:t>
            </a:r>
            <a:endParaRPr lang="en-US" sz="1400" dirty="0"/>
          </a:p>
        </p:txBody>
      </p:sp>
      <p:sp>
        <p:nvSpPr>
          <p:cNvPr id="19" name="Mon slot 1"/>
          <p:cNvSpPr/>
          <p:nvPr/>
        </p:nvSpPr>
        <p:spPr>
          <a:xfrm>
            <a:off x="5029200" y="2880360"/>
            <a:ext cx="1188720" cy="594360"/>
          </a:xfrm>
          <a:prstGeom prst="roundRect">
            <a:avLst>
              <a:gd name="adj" fmla="val 12308"/>
            </a:avLst>
          </a:prstGeom>
          <a:solidFill>
            <a:schemeClr val="accent1"/>
          </a:solidFill>
          <a:ln w="9525">
            <a:solidFill>
              <a:schemeClr val="accent1"/>
            </a:solidFill>
            <a:prstDash val="solid"/>
          </a:ln>
        </p:spPr>
      </p:sp>
      <p:sp>
        <p:nvSpPr>
          <p:cNvPr id="20" name="Text 18"/>
          <p:cNvSpPr txBox="1"/>
          <p:nvPr/>
        </p:nvSpPr>
        <p:spPr>
          <a:xfrm>
            <a:off x="5029200" y="288036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21" name="Mon slot 2"/>
          <p:cNvSpPr/>
          <p:nvPr/>
        </p:nvSpPr>
        <p:spPr>
          <a:xfrm>
            <a:off x="5029200" y="3611880"/>
            <a:ext cx="1188720" cy="594360"/>
          </a:xfrm>
          <a:prstGeom prst="roundRect">
            <a:avLst>
              <a:gd name="adj" fmla="val 12308"/>
            </a:avLst>
          </a:prstGeom>
          <a:solidFill>
            <a:schemeClr val="accent6"/>
          </a:solidFill>
          <a:ln w="9525">
            <a:solidFill>
              <a:schemeClr val="accent5"/>
            </a:solidFill>
            <a:prstDash val="solid"/>
          </a:ln>
        </p:spPr>
      </p:sp>
      <p:sp>
        <p:nvSpPr>
          <p:cNvPr id="22" name="Text 20"/>
          <p:cNvSpPr txBox="1"/>
          <p:nvPr/>
        </p:nvSpPr>
        <p:spPr>
          <a:xfrm>
            <a:off x="5029200" y="3611880"/>
            <a:ext cx="1188720" cy="594360"/>
          </a:xfrm>
          <a:prstGeom prst="rect">
            <a:avLst/>
          </a:prstGeom>
          <a:noFill/>
          <a:ln/>
        </p:spPr>
        <p:txBody>
          <a:bodyPr wrap="square" lIns="0" tIns="0" rIns="0" bIns="0" rtlCol="0" anchor="ctr"/>
          <a:lstStyle/>
          <a:p>
            <a:pPr algn="ctr" indent="0" marL="0">
              <a:buNone/>
            </a:pPr>
            <a:r>
              <a:rPr lang="en-US" sz="1200" dirty="0">
                <a:solidFill>
                  <a:schemeClr val="accent5"/>
                </a:solidFill>
              </a:rPr>
              <a:t>Open</a:t>
            </a:r>
            <a:endParaRPr lang="en-US" sz="1200" dirty="0"/>
          </a:p>
        </p:txBody>
      </p:sp>
      <p:sp>
        <p:nvSpPr>
          <p:cNvPr id="23" name="Mon slot 3"/>
          <p:cNvSpPr/>
          <p:nvPr/>
        </p:nvSpPr>
        <p:spPr>
          <a:xfrm>
            <a:off x="5029200" y="4343400"/>
            <a:ext cx="1188720" cy="594360"/>
          </a:xfrm>
          <a:prstGeom prst="roundRect">
            <a:avLst>
              <a:gd name="adj" fmla="val 12308"/>
            </a:avLst>
          </a:prstGeom>
          <a:solidFill>
            <a:schemeClr val="accent1"/>
          </a:solidFill>
          <a:ln w="9525">
            <a:solidFill>
              <a:schemeClr val="accent1"/>
            </a:solidFill>
            <a:prstDash val="solid"/>
          </a:ln>
        </p:spPr>
      </p:sp>
      <p:sp>
        <p:nvSpPr>
          <p:cNvPr id="24" name="Text 22"/>
          <p:cNvSpPr txBox="1"/>
          <p:nvPr/>
        </p:nvSpPr>
        <p:spPr>
          <a:xfrm>
            <a:off x="5029200" y="434340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25" name="Text 23"/>
          <p:cNvSpPr txBox="1"/>
          <p:nvPr/>
        </p:nvSpPr>
        <p:spPr>
          <a:xfrm>
            <a:off x="6309360" y="2468880"/>
            <a:ext cx="1188720" cy="320040"/>
          </a:xfrm>
          <a:prstGeom prst="rect">
            <a:avLst/>
          </a:prstGeom>
          <a:noFill/>
          <a:ln/>
        </p:spPr>
        <p:txBody>
          <a:bodyPr wrap="square" lIns="0" tIns="0" rIns="0" bIns="0" rtlCol="0" anchor="ctr"/>
          <a:lstStyle/>
          <a:p>
            <a:pPr algn="ctr" indent="0" marL="0">
              <a:buNone/>
            </a:pPr>
            <a:r>
              <a:rPr lang="en-US" sz="1400" b="1" dirty="0">
                <a:solidFill>
                  <a:schemeClr val="accent5"/>
                </a:solidFill>
              </a:rPr>
              <a:t>Tue</a:t>
            </a:r>
            <a:endParaRPr lang="en-US" sz="1400" dirty="0"/>
          </a:p>
        </p:txBody>
      </p:sp>
      <p:sp>
        <p:nvSpPr>
          <p:cNvPr id="26" name="Tue slot 1"/>
          <p:cNvSpPr/>
          <p:nvPr/>
        </p:nvSpPr>
        <p:spPr>
          <a:xfrm>
            <a:off x="6309360" y="2880360"/>
            <a:ext cx="1188720" cy="594360"/>
          </a:xfrm>
          <a:prstGeom prst="roundRect">
            <a:avLst>
              <a:gd name="adj" fmla="val 12308"/>
            </a:avLst>
          </a:prstGeom>
          <a:solidFill>
            <a:schemeClr val="accent6"/>
          </a:solidFill>
          <a:ln w="9525">
            <a:solidFill>
              <a:schemeClr val="accent5"/>
            </a:solidFill>
            <a:prstDash val="solid"/>
          </a:ln>
        </p:spPr>
      </p:sp>
      <p:sp>
        <p:nvSpPr>
          <p:cNvPr id="27" name="Text 25"/>
          <p:cNvSpPr txBox="1"/>
          <p:nvPr/>
        </p:nvSpPr>
        <p:spPr>
          <a:xfrm>
            <a:off x="6309360" y="2880360"/>
            <a:ext cx="1188720" cy="594360"/>
          </a:xfrm>
          <a:prstGeom prst="rect">
            <a:avLst/>
          </a:prstGeom>
          <a:noFill/>
          <a:ln/>
        </p:spPr>
        <p:txBody>
          <a:bodyPr wrap="square" lIns="0" tIns="0" rIns="0" bIns="0" rtlCol="0" anchor="ctr"/>
          <a:lstStyle/>
          <a:p>
            <a:pPr algn="ctr" indent="0" marL="0">
              <a:buNone/>
            </a:pPr>
            <a:r>
              <a:rPr lang="en-US" sz="1200" dirty="0">
                <a:solidFill>
                  <a:schemeClr val="accent5"/>
                </a:solidFill>
              </a:rPr>
              <a:t>Open</a:t>
            </a:r>
            <a:endParaRPr lang="en-US" sz="1200" dirty="0"/>
          </a:p>
        </p:txBody>
      </p:sp>
      <p:sp>
        <p:nvSpPr>
          <p:cNvPr id="28" name="Tue slot 2"/>
          <p:cNvSpPr/>
          <p:nvPr/>
        </p:nvSpPr>
        <p:spPr>
          <a:xfrm>
            <a:off x="6309360" y="3611880"/>
            <a:ext cx="1188720" cy="594360"/>
          </a:xfrm>
          <a:prstGeom prst="roundRect">
            <a:avLst>
              <a:gd name="adj" fmla="val 12308"/>
            </a:avLst>
          </a:prstGeom>
          <a:solidFill>
            <a:schemeClr val="accent1"/>
          </a:solidFill>
          <a:ln w="9525">
            <a:solidFill>
              <a:schemeClr val="accent1"/>
            </a:solidFill>
            <a:prstDash val="solid"/>
          </a:ln>
        </p:spPr>
      </p:sp>
      <p:sp>
        <p:nvSpPr>
          <p:cNvPr id="29" name="Text 27"/>
          <p:cNvSpPr txBox="1"/>
          <p:nvPr/>
        </p:nvSpPr>
        <p:spPr>
          <a:xfrm>
            <a:off x="6309360" y="361188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30" name="Tue slot 3"/>
          <p:cNvSpPr/>
          <p:nvPr/>
        </p:nvSpPr>
        <p:spPr>
          <a:xfrm>
            <a:off x="6309360" y="4343400"/>
            <a:ext cx="1188720" cy="594360"/>
          </a:xfrm>
          <a:prstGeom prst="roundRect">
            <a:avLst>
              <a:gd name="adj" fmla="val 12308"/>
            </a:avLst>
          </a:prstGeom>
          <a:solidFill>
            <a:schemeClr val="accent6"/>
          </a:solidFill>
          <a:ln w="9525">
            <a:solidFill>
              <a:schemeClr val="accent5"/>
            </a:solidFill>
            <a:prstDash val="solid"/>
          </a:ln>
        </p:spPr>
      </p:sp>
      <p:sp>
        <p:nvSpPr>
          <p:cNvPr id="31" name="Text 29"/>
          <p:cNvSpPr txBox="1"/>
          <p:nvPr/>
        </p:nvSpPr>
        <p:spPr>
          <a:xfrm>
            <a:off x="6309360" y="4343400"/>
            <a:ext cx="1188720" cy="594360"/>
          </a:xfrm>
          <a:prstGeom prst="rect">
            <a:avLst/>
          </a:prstGeom>
          <a:noFill/>
          <a:ln/>
        </p:spPr>
        <p:txBody>
          <a:bodyPr wrap="square" lIns="0" tIns="0" rIns="0" bIns="0" rtlCol="0" anchor="ctr"/>
          <a:lstStyle/>
          <a:p>
            <a:pPr algn="ctr" indent="0" marL="0">
              <a:buNone/>
            </a:pPr>
            <a:r>
              <a:rPr lang="en-US" sz="1200" dirty="0">
                <a:solidFill>
                  <a:schemeClr val="accent5"/>
                </a:solidFill>
              </a:rPr>
              <a:t>Open</a:t>
            </a:r>
            <a:endParaRPr lang="en-US" sz="1200" dirty="0"/>
          </a:p>
        </p:txBody>
      </p:sp>
      <p:sp>
        <p:nvSpPr>
          <p:cNvPr id="32" name="Text 30"/>
          <p:cNvSpPr txBox="1"/>
          <p:nvPr/>
        </p:nvSpPr>
        <p:spPr>
          <a:xfrm>
            <a:off x="7589520" y="2468880"/>
            <a:ext cx="1188720" cy="320040"/>
          </a:xfrm>
          <a:prstGeom prst="rect">
            <a:avLst/>
          </a:prstGeom>
          <a:noFill/>
          <a:ln/>
        </p:spPr>
        <p:txBody>
          <a:bodyPr wrap="square" lIns="0" tIns="0" rIns="0" bIns="0" rtlCol="0" anchor="ctr"/>
          <a:lstStyle/>
          <a:p>
            <a:pPr algn="ctr" indent="0" marL="0">
              <a:buNone/>
            </a:pPr>
            <a:r>
              <a:rPr lang="en-US" sz="1400" b="1" dirty="0">
                <a:solidFill>
                  <a:schemeClr val="accent5"/>
                </a:solidFill>
              </a:rPr>
              <a:t>Wed</a:t>
            </a:r>
            <a:endParaRPr lang="en-US" sz="1400" dirty="0"/>
          </a:p>
        </p:txBody>
      </p:sp>
      <p:sp>
        <p:nvSpPr>
          <p:cNvPr id="33" name="Wed slot 1"/>
          <p:cNvSpPr/>
          <p:nvPr/>
        </p:nvSpPr>
        <p:spPr>
          <a:xfrm>
            <a:off x="7589520" y="2880360"/>
            <a:ext cx="1188720" cy="594360"/>
          </a:xfrm>
          <a:prstGeom prst="roundRect">
            <a:avLst>
              <a:gd name="adj" fmla="val 12308"/>
            </a:avLst>
          </a:prstGeom>
          <a:solidFill>
            <a:schemeClr val="accent1"/>
          </a:solidFill>
          <a:ln w="9525">
            <a:solidFill>
              <a:schemeClr val="accent1"/>
            </a:solidFill>
            <a:prstDash val="solid"/>
          </a:ln>
        </p:spPr>
      </p:sp>
      <p:sp>
        <p:nvSpPr>
          <p:cNvPr id="34" name="Text 32"/>
          <p:cNvSpPr txBox="1"/>
          <p:nvPr/>
        </p:nvSpPr>
        <p:spPr>
          <a:xfrm>
            <a:off x="7589520" y="288036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35" name="Wed slot 2"/>
          <p:cNvSpPr/>
          <p:nvPr/>
        </p:nvSpPr>
        <p:spPr>
          <a:xfrm>
            <a:off x="7589520" y="3611880"/>
            <a:ext cx="1188720" cy="594360"/>
          </a:xfrm>
          <a:prstGeom prst="roundRect">
            <a:avLst>
              <a:gd name="adj" fmla="val 12308"/>
            </a:avLst>
          </a:prstGeom>
          <a:solidFill>
            <a:schemeClr val="accent1"/>
          </a:solidFill>
          <a:ln w="9525">
            <a:solidFill>
              <a:schemeClr val="accent1"/>
            </a:solidFill>
            <a:prstDash val="solid"/>
          </a:ln>
        </p:spPr>
      </p:sp>
      <p:sp>
        <p:nvSpPr>
          <p:cNvPr id="36" name="Text 34"/>
          <p:cNvSpPr txBox="1"/>
          <p:nvPr/>
        </p:nvSpPr>
        <p:spPr>
          <a:xfrm>
            <a:off x="7589520" y="361188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37" name="Wed slot 3"/>
          <p:cNvSpPr/>
          <p:nvPr/>
        </p:nvSpPr>
        <p:spPr>
          <a:xfrm>
            <a:off x="7589520" y="4343400"/>
            <a:ext cx="1188720" cy="594360"/>
          </a:xfrm>
          <a:prstGeom prst="roundRect">
            <a:avLst>
              <a:gd name="adj" fmla="val 12308"/>
            </a:avLst>
          </a:prstGeom>
          <a:solidFill>
            <a:schemeClr val="accent1"/>
          </a:solidFill>
          <a:ln w="9525">
            <a:solidFill>
              <a:schemeClr val="accent1"/>
            </a:solidFill>
            <a:prstDash val="solid"/>
          </a:ln>
        </p:spPr>
      </p:sp>
      <p:sp>
        <p:nvSpPr>
          <p:cNvPr id="38" name="Text 36"/>
          <p:cNvSpPr txBox="1"/>
          <p:nvPr/>
        </p:nvSpPr>
        <p:spPr>
          <a:xfrm>
            <a:off x="7589520" y="434340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39" name="Text 37"/>
          <p:cNvSpPr txBox="1"/>
          <p:nvPr/>
        </p:nvSpPr>
        <p:spPr>
          <a:xfrm>
            <a:off x="8869680" y="2468880"/>
            <a:ext cx="1188720" cy="320040"/>
          </a:xfrm>
          <a:prstGeom prst="rect">
            <a:avLst/>
          </a:prstGeom>
          <a:noFill/>
          <a:ln/>
        </p:spPr>
        <p:txBody>
          <a:bodyPr wrap="square" lIns="0" tIns="0" rIns="0" bIns="0" rtlCol="0" anchor="ctr"/>
          <a:lstStyle/>
          <a:p>
            <a:pPr algn="ctr" indent="0" marL="0">
              <a:buNone/>
            </a:pPr>
            <a:r>
              <a:rPr lang="en-US" sz="1400" b="1" dirty="0">
                <a:solidFill>
                  <a:schemeClr val="accent5"/>
                </a:solidFill>
              </a:rPr>
              <a:t>Thu</a:t>
            </a:r>
            <a:endParaRPr lang="en-US" sz="1400" dirty="0"/>
          </a:p>
        </p:txBody>
      </p:sp>
      <p:sp>
        <p:nvSpPr>
          <p:cNvPr id="40" name="Thu slot 1"/>
          <p:cNvSpPr/>
          <p:nvPr/>
        </p:nvSpPr>
        <p:spPr>
          <a:xfrm>
            <a:off x="8869680" y="2880360"/>
            <a:ext cx="1188720" cy="594360"/>
          </a:xfrm>
          <a:prstGeom prst="roundRect">
            <a:avLst>
              <a:gd name="adj" fmla="val 12308"/>
            </a:avLst>
          </a:prstGeom>
          <a:solidFill>
            <a:schemeClr val="accent6"/>
          </a:solidFill>
          <a:ln w="9525">
            <a:solidFill>
              <a:schemeClr val="accent5"/>
            </a:solidFill>
            <a:prstDash val="solid"/>
          </a:ln>
        </p:spPr>
      </p:sp>
      <p:sp>
        <p:nvSpPr>
          <p:cNvPr id="41" name="Text 39"/>
          <p:cNvSpPr txBox="1"/>
          <p:nvPr/>
        </p:nvSpPr>
        <p:spPr>
          <a:xfrm>
            <a:off x="8869680" y="2880360"/>
            <a:ext cx="1188720" cy="594360"/>
          </a:xfrm>
          <a:prstGeom prst="rect">
            <a:avLst/>
          </a:prstGeom>
          <a:noFill/>
          <a:ln/>
        </p:spPr>
        <p:txBody>
          <a:bodyPr wrap="square" lIns="0" tIns="0" rIns="0" bIns="0" rtlCol="0" anchor="ctr"/>
          <a:lstStyle/>
          <a:p>
            <a:pPr algn="ctr" indent="0" marL="0">
              <a:buNone/>
            </a:pPr>
            <a:r>
              <a:rPr lang="en-US" sz="1200" dirty="0">
                <a:solidFill>
                  <a:schemeClr val="accent5"/>
                </a:solidFill>
              </a:rPr>
              <a:t>Open</a:t>
            </a:r>
            <a:endParaRPr lang="en-US" sz="1200" dirty="0"/>
          </a:p>
        </p:txBody>
      </p:sp>
      <p:sp>
        <p:nvSpPr>
          <p:cNvPr id="42" name="Thu slot 2"/>
          <p:cNvSpPr/>
          <p:nvPr/>
        </p:nvSpPr>
        <p:spPr>
          <a:xfrm>
            <a:off x="8869680" y="3611880"/>
            <a:ext cx="1188720" cy="594360"/>
          </a:xfrm>
          <a:prstGeom prst="roundRect">
            <a:avLst>
              <a:gd name="adj" fmla="val 12308"/>
            </a:avLst>
          </a:prstGeom>
          <a:solidFill>
            <a:schemeClr val="accent1"/>
          </a:solidFill>
          <a:ln w="9525">
            <a:solidFill>
              <a:schemeClr val="accent1"/>
            </a:solidFill>
            <a:prstDash val="solid"/>
          </a:ln>
        </p:spPr>
      </p:sp>
      <p:sp>
        <p:nvSpPr>
          <p:cNvPr id="43" name="Text 41"/>
          <p:cNvSpPr txBox="1"/>
          <p:nvPr/>
        </p:nvSpPr>
        <p:spPr>
          <a:xfrm>
            <a:off x="8869680" y="361188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44" name="Thu slot 3"/>
          <p:cNvSpPr/>
          <p:nvPr/>
        </p:nvSpPr>
        <p:spPr>
          <a:xfrm>
            <a:off x="8869680" y="4343400"/>
            <a:ext cx="1188720" cy="594360"/>
          </a:xfrm>
          <a:prstGeom prst="roundRect">
            <a:avLst>
              <a:gd name="adj" fmla="val 12308"/>
            </a:avLst>
          </a:prstGeom>
          <a:solidFill>
            <a:schemeClr val="accent1"/>
          </a:solidFill>
          <a:ln w="9525">
            <a:solidFill>
              <a:schemeClr val="accent1"/>
            </a:solidFill>
            <a:prstDash val="solid"/>
          </a:ln>
        </p:spPr>
      </p:sp>
      <p:sp>
        <p:nvSpPr>
          <p:cNvPr id="45" name="Text 43"/>
          <p:cNvSpPr txBox="1"/>
          <p:nvPr/>
        </p:nvSpPr>
        <p:spPr>
          <a:xfrm>
            <a:off x="8869680" y="434340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46" name="Text 44"/>
          <p:cNvSpPr txBox="1"/>
          <p:nvPr/>
        </p:nvSpPr>
        <p:spPr>
          <a:xfrm>
            <a:off x="10149840" y="2468880"/>
            <a:ext cx="1188720" cy="320040"/>
          </a:xfrm>
          <a:prstGeom prst="rect">
            <a:avLst/>
          </a:prstGeom>
          <a:noFill/>
          <a:ln/>
        </p:spPr>
        <p:txBody>
          <a:bodyPr wrap="square" lIns="0" tIns="0" rIns="0" bIns="0" rtlCol="0" anchor="ctr"/>
          <a:lstStyle/>
          <a:p>
            <a:pPr algn="ctr" indent="0" marL="0">
              <a:buNone/>
            </a:pPr>
            <a:r>
              <a:rPr lang="en-US" sz="1400" b="1" dirty="0">
                <a:solidFill>
                  <a:schemeClr val="accent5"/>
                </a:solidFill>
              </a:rPr>
              <a:t>Fri</a:t>
            </a:r>
            <a:endParaRPr lang="en-US" sz="1400" dirty="0"/>
          </a:p>
        </p:txBody>
      </p:sp>
      <p:sp>
        <p:nvSpPr>
          <p:cNvPr id="47" name="Fri slot 1"/>
          <p:cNvSpPr/>
          <p:nvPr/>
        </p:nvSpPr>
        <p:spPr>
          <a:xfrm>
            <a:off x="10149840" y="2880360"/>
            <a:ext cx="1188720" cy="594360"/>
          </a:xfrm>
          <a:prstGeom prst="roundRect">
            <a:avLst>
              <a:gd name="adj" fmla="val 12308"/>
            </a:avLst>
          </a:prstGeom>
          <a:solidFill>
            <a:schemeClr val="accent1"/>
          </a:solidFill>
          <a:ln w="9525">
            <a:solidFill>
              <a:schemeClr val="accent1"/>
            </a:solidFill>
            <a:prstDash val="solid"/>
          </a:ln>
        </p:spPr>
      </p:sp>
      <p:sp>
        <p:nvSpPr>
          <p:cNvPr id="48" name="Text 46"/>
          <p:cNvSpPr txBox="1"/>
          <p:nvPr/>
        </p:nvSpPr>
        <p:spPr>
          <a:xfrm>
            <a:off x="10149840" y="288036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49" name="Fri slot 2"/>
          <p:cNvSpPr/>
          <p:nvPr/>
        </p:nvSpPr>
        <p:spPr>
          <a:xfrm>
            <a:off x="10149840" y="3611880"/>
            <a:ext cx="1188720" cy="594360"/>
          </a:xfrm>
          <a:prstGeom prst="roundRect">
            <a:avLst>
              <a:gd name="adj" fmla="val 12308"/>
            </a:avLst>
          </a:prstGeom>
          <a:solidFill>
            <a:schemeClr val="accent6"/>
          </a:solidFill>
          <a:ln w="9525">
            <a:solidFill>
              <a:schemeClr val="accent5"/>
            </a:solidFill>
            <a:prstDash val="solid"/>
          </a:ln>
        </p:spPr>
      </p:sp>
      <p:sp>
        <p:nvSpPr>
          <p:cNvPr id="50" name="Text 48"/>
          <p:cNvSpPr txBox="1"/>
          <p:nvPr/>
        </p:nvSpPr>
        <p:spPr>
          <a:xfrm>
            <a:off x="10149840" y="3611880"/>
            <a:ext cx="1188720" cy="594360"/>
          </a:xfrm>
          <a:prstGeom prst="rect">
            <a:avLst/>
          </a:prstGeom>
          <a:noFill/>
          <a:ln/>
        </p:spPr>
        <p:txBody>
          <a:bodyPr wrap="square" lIns="0" tIns="0" rIns="0" bIns="0" rtlCol="0" anchor="ctr"/>
          <a:lstStyle/>
          <a:p>
            <a:pPr algn="ctr" indent="0" marL="0">
              <a:buNone/>
            </a:pPr>
            <a:r>
              <a:rPr lang="en-US" sz="1200" dirty="0">
                <a:solidFill>
                  <a:schemeClr val="accent5"/>
                </a:solidFill>
              </a:rPr>
              <a:t>Open</a:t>
            </a:r>
            <a:endParaRPr lang="en-US" sz="1200" dirty="0"/>
          </a:p>
        </p:txBody>
      </p:sp>
      <p:sp>
        <p:nvSpPr>
          <p:cNvPr id="51" name="Fri slot 3"/>
          <p:cNvSpPr/>
          <p:nvPr/>
        </p:nvSpPr>
        <p:spPr>
          <a:xfrm>
            <a:off x="10149840" y="4343400"/>
            <a:ext cx="1188720" cy="594360"/>
          </a:xfrm>
          <a:prstGeom prst="roundRect">
            <a:avLst>
              <a:gd name="adj" fmla="val 12308"/>
            </a:avLst>
          </a:prstGeom>
          <a:solidFill>
            <a:schemeClr val="accent1"/>
          </a:solidFill>
          <a:ln w="9525">
            <a:solidFill>
              <a:schemeClr val="accent1"/>
            </a:solidFill>
            <a:prstDash val="solid"/>
          </a:ln>
        </p:spPr>
      </p:sp>
      <p:sp>
        <p:nvSpPr>
          <p:cNvPr id="52" name="Text 50"/>
          <p:cNvSpPr txBox="1"/>
          <p:nvPr/>
        </p:nvSpPr>
        <p:spPr>
          <a:xfrm>
            <a:off x="10149840" y="4343400"/>
            <a:ext cx="1188720" cy="594360"/>
          </a:xfrm>
          <a:prstGeom prst="rect">
            <a:avLst/>
          </a:prstGeom>
          <a:noFill/>
          <a:ln/>
        </p:spPr>
        <p:txBody>
          <a:bodyPr wrap="square" lIns="0" tIns="0" rIns="0" bIns="0" rtlCol="0" anchor="ctr"/>
          <a:lstStyle/>
          <a:p>
            <a:pPr algn="ctr" indent="0" marL="0">
              <a:buNone/>
            </a:pPr>
            <a:r>
              <a:rPr lang="en-US" sz="1200" b="1" dirty="0">
                <a:solidFill>
                  <a:schemeClr val="tx1"/>
                </a:solidFill>
              </a:rPr>
              <a:t>New patient</a:t>
            </a:r>
            <a:endParaRPr lang="en-US" sz="1200" dirty="0"/>
          </a:p>
        </p:txBody>
      </p:sp>
      <p:sp>
        <p:nvSpPr>
          <p:cNvPr id="53" name="Reminder bar"/>
          <p:cNvSpPr/>
          <p:nvPr/>
        </p:nvSpPr>
        <p:spPr>
          <a:xfrm>
            <a:off x="5029200" y="5166360"/>
            <a:ext cx="6309360" cy="502920"/>
          </a:xfrm>
          <a:prstGeom prst="roundRect">
            <a:avLst>
              <a:gd name="adj" fmla="val 18182"/>
            </a:avLst>
          </a:prstGeom>
          <a:solidFill>
            <a:schemeClr val="tx1"/>
          </a:solidFill>
          <a:ln w="12700">
            <a:solidFill>
              <a:schemeClr val="tx1"/>
            </a:solidFill>
            <a:prstDash val="solid"/>
          </a:ln>
        </p:spPr>
      </p:sp>
      <p:sp>
        <p:nvSpPr>
          <p:cNvPr id="54" name="Text 52"/>
          <p:cNvSpPr txBox="1"/>
          <p:nvPr/>
        </p:nvSpPr>
        <p:spPr>
          <a:xfrm>
            <a:off x="5212080" y="5166360"/>
            <a:ext cx="5943600" cy="502920"/>
          </a:xfrm>
          <a:prstGeom prst="rect">
            <a:avLst/>
          </a:prstGeom>
          <a:noFill/>
          <a:ln/>
        </p:spPr>
        <p:txBody>
          <a:bodyPr wrap="square" lIns="0" tIns="0" rIns="0" bIns="0" rtlCol="0" anchor="ctr"/>
          <a:lstStyle/>
          <a:p>
            <a:pPr indent="0" marL="0">
              <a:buNone/>
            </a:pPr>
            <a:r>
              <a:rPr lang="en-US" sz="1400" dirty="0">
                <a:solidFill>
                  <a:schemeClr val="accent1"/>
                </a:solidFill>
              </a:rPr>
              <a:t>Reminder sent to 8 patients for tomorrow</a:t>
            </a:r>
            <a:endParaRPr lang="en-US" sz="1400" dirty="0"/>
          </a:p>
        </p:txBody>
      </p:sp>
      <p:sp>
        <p:nvSpPr>
          <p:cNvPr id="55" name="Text 53"/>
          <p:cNvSpPr txBox="1"/>
          <p:nvPr/>
        </p:nvSpPr>
        <p:spPr>
          <a:xfrm>
            <a:off x="548640" y="6035040"/>
            <a:ext cx="10972800" cy="274320"/>
          </a:xfrm>
          <a:prstGeom prst="rect">
            <a:avLst/>
          </a:prstGeom>
          <a:noFill/>
          <a:ln/>
        </p:spPr>
        <p:txBody>
          <a:bodyPr wrap="square" lIns="0" tIns="0" rIns="0" bIns="0" rtlCol="0" anchor="ctr"/>
          <a:lstStyle/>
          <a:p>
            <a:pPr indent="0" marL="0">
              <a:buNone/>
            </a:pPr>
            <a:r>
              <a:rPr lang="en-US" sz="1200" dirty="0">
                <a:solidFill>
                  <a:schemeClr val="accent5"/>
                </a:solidFill>
              </a:rPr>
              <a:t>Illustrations of the system. Names and times are examples, not client data.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Your weekly report, lead to revenue</a:t>
            </a:r>
            <a:endParaRPr lang="en-US" sz="3800" dirty="0"/>
          </a:p>
        </p:txBody>
      </p:sp>
      <p:sp>
        <p:nvSpPr>
          <p:cNvPr id="3" name="Sample badge"/>
          <p:cNvSpPr/>
          <p:nvPr/>
        </p:nvSpPr>
        <p:spPr>
          <a:xfrm>
            <a:off x="9555480" y="320040"/>
            <a:ext cx="2103120" cy="365760"/>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9555480" y="320040"/>
            <a:ext cx="2103120" cy="365760"/>
          </a:xfrm>
          <a:prstGeom prst="rect">
            <a:avLst/>
          </a:prstGeom>
          <a:noFill/>
          <a:ln/>
        </p:spPr>
        <p:txBody>
          <a:bodyPr wrap="square" lIns="0" tIns="0" rIns="0" bIns="0" rtlCol="0" anchor="ctr"/>
          <a:lstStyle/>
          <a:p>
            <a:pPr algn="ctr" indent="0" marL="0">
              <a:buNone/>
            </a:pPr>
            <a:r>
              <a:rPr lang="en-US" sz="1200" b="1" spc="100" kern="0" dirty="0">
                <a:solidFill>
                  <a:schemeClr val="tx1"/>
                </a:solidFill>
              </a:rPr>
              <a:t>SAMPLE REPORT</a:t>
            </a:r>
            <a:endParaRPr lang="en-US" sz="1200" dirty="0"/>
          </a:p>
        </p:txBody>
      </p:sp>
      <p:sp>
        <p:nvSpPr>
          <p:cNvPr id="5" name="KPI tile Leads"/>
          <p:cNvSpPr/>
          <p:nvPr/>
        </p:nvSpPr>
        <p:spPr>
          <a:xfrm>
            <a:off x="548640" y="1828800"/>
            <a:ext cx="2103120" cy="1097280"/>
          </a:xfrm>
          <a:prstGeom prst="roundRect">
            <a:avLst>
              <a:gd name="adj" fmla="val 8333"/>
            </a:avLst>
          </a:prstGeom>
          <a:solidFill>
            <a:schemeClr val="accent6"/>
          </a:solidFill>
          <a:ln w="12700">
            <a:solidFill>
              <a:schemeClr val="accent6"/>
            </a:solidFill>
            <a:prstDash val="solid"/>
          </a:ln>
        </p:spPr>
      </p:sp>
      <p:sp>
        <p:nvSpPr>
          <p:cNvPr id="6" name="Text 4"/>
          <p:cNvSpPr txBox="1"/>
          <p:nvPr/>
        </p:nvSpPr>
        <p:spPr>
          <a:xfrm>
            <a:off x="548640" y="1920240"/>
            <a:ext cx="2103120" cy="594360"/>
          </a:xfrm>
          <a:prstGeom prst="rect">
            <a:avLst/>
          </a:prstGeom>
          <a:noFill/>
          <a:ln/>
        </p:spPr>
        <p:txBody>
          <a:bodyPr wrap="square" lIns="0" tIns="0" rIns="0" bIns="0" rtlCol="0" anchor="ctr"/>
          <a:lstStyle/>
          <a:p>
            <a:pPr algn="ctr" indent="0" marL="0">
              <a:buNone/>
            </a:pPr>
            <a:r>
              <a:rPr lang="en-US" sz="3200" b="1" dirty="0">
                <a:solidFill>
                  <a:schemeClr val="accent1"/>
                </a:solidFill>
              </a:rPr>
              <a:t>240</a:t>
            </a:r>
            <a:endParaRPr lang="en-US" sz="3200" dirty="0"/>
          </a:p>
        </p:txBody>
      </p:sp>
      <p:sp>
        <p:nvSpPr>
          <p:cNvPr id="7" name="Text 5"/>
          <p:cNvSpPr txBox="1"/>
          <p:nvPr/>
        </p:nvSpPr>
        <p:spPr>
          <a:xfrm>
            <a:off x="548640" y="2514600"/>
            <a:ext cx="2103120" cy="320040"/>
          </a:xfrm>
          <a:prstGeom prst="rect">
            <a:avLst/>
          </a:prstGeom>
          <a:noFill/>
          <a:ln/>
        </p:spPr>
        <p:txBody>
          <a:bodyPr wrap="square" lIns="0" tIns="0" rIns="0" bIns="0" rtlCol="0" anchor="ctr"/>
          <a:lstStyle/>
          <a:p>
            <a:pPr algn="ctr" indent="0" marL="0">
              <a:buNone/>
            </a:pPr>
            <a:r>
              <a:rPr lang="en-US" sz="1400" dirty="0">
                <a:solidFill>
                  <a:schemeClr val="bg1"/>
                </a:solidFill>
              </a:rPr>
              <a:t>Leads</a:t>
            </a:r>
            <a:endParaRPr lang="en-US" sz="1400" dirty="0"/>
          </a:p>
        </p:txBody>
      </p:sp>
      <p:sp>
        <p:nvSpPr>
          <p:cNvPr id="8" name="KPI tile Booked"/>
          <p:cNvSpPr/>
          <p:nvPr/>
        </p:nvSpPr>
        <p:spPr>
          <a:xfrm>
            <a:off x="2788920" y="1828800"/>
            <a:ext cx="2103120" cy="1097280"/>
          </a:xfrm>
          <a:prstGeom prst="roundRect">
            <a:avLst>
              <a:gd name="adj" fmla="val 8333"/>
            </a:avLst>
          </a:prstGeom>
          <a:solidFill>
            <a:schemeClr val="accent6"/>
          </a:solidFill>
          <a:ln w="12700">
            <a:solidFill>
              <a:schemeClr val="accent6"/>
            </a:solidFill>
            <a:prstDash val="solid"/>
          </a:ln>
        </p:spPr>
      </p:sp>
      <p:sp>
        <p:nvSpPr>
          <p:cNvPr id="9" name="Text 7"/>
          <p:cNvSpPr txBox="1"/>
          <p:nvPr/>
        </p:nvSpPr>
        <p:spPr>
          <a:xfrm>
            <a:off x="2788920" y="1920240"/>
            <a:ext cx="2103120" cy="594360"/>
          </a:xfrm>
          <a:prstGeom prst="rect">
            <a:avLst/>
          </a:prstGeom>
          <a:noFill/>
          <a:ln/>
        </p:spPr>
        <p:txBody>
          <a:bodyPr wrap="square" lIns="0" tIns="0" rIns="0" bIns="0" rtlCol="0" anchor="ctr"/>
          <a:lstStyle/>
          <a:p>
            <a:pPr algn="ctr" indent="0" marL="0">
              <a:buNone/>
            </a:pPr>
            <a:r>
              <a:rPr lang="en-US" sz="3200" b="1" dirty="0">
                <a:solidFill>
                  <a:schemeClr val="accent1"/>
                </a:solidFill>
              </a:rPr>
              <a:t>96</a:t>
            </a:r>
            <a:endParaRPr lang="en-US" sz="3200" dirty="0"/>
          </a:p>
        </p:txBody>
      </p:sp>
      <p:sp>
        <p:nvSpPr>
          <p:cNvPr id="10" name="Text 8"/>
          <p:cNvSpPr txBox="1"/>
          <p:nvPr/>
        </p:nvSpPr>
        <p:spPr>
          <a:xfrm>
            <a:off x="2788920" y="2514600"/>
            <a:ext cx="2103120" cy="320040"/>
          </a:xfrm>
          <a:prstGeom prst="rect">
            <a:avLst/>
          </a:prstGeom>
          <a:noFill/>
          <a:ln/>
        </p:spPr>
        <p:txBody>
          <a:bodyPr wrap="square" lIns="0" tIns="0" rIns="0" bIns="0" rtlCol="0" anchor="ctr"/>
          <a:lstStyle/>
          <a:p>
            <a:pPr algn="ctr" indent="0" marL="0">
              <a:buNone/>
            </a:pPr>
            <a:r>
              <a:rPr lang="en-US" sz="1400" dirty="0">
                <a:solidFill>
                  <a:schemeClr val="bg1"/>
                </a:solidFill>
              </a:rPr>
              <a:t>Booked</a:t>
            </a:r>
            <a:endParaRPr lang="en-US" sz="1400" dirty="0"/>
          </a:p>
        </p:txBody>
      </p:sp>
      <p:sp>
        <p:nvSpPr>
          <p:cNvPr id="11" name="KPI tile Attended"/>
          <p:cNvSpPr/>
          <p:nvPr/>
        </p:nvSpPr>
        <p:spPr>
          <a:xfrm>
            <a:off x="5029200" y="1828800"/>
            <a:ext cx="2103120" cy="1097280"/>
          </a:xfrm>
          <a:prstGeom prst="roundRect">
            <a:avLst>
              <a:gd name="adj" fmla="val 8333"/>
            </a:avLst>
          </a:prstGeom>
          <a:solidFill>
            <a:schemeClr val="accent6"/>
          </a:solidFill>
          <a:ln w="12700">
            <a:solidFill>
              <a:schemeClr val="accent6"/>
            </a:solidFill>
            <a:prstDash val="solid"/>
          </a:ln>
        </p:spPr>
      </p:sp>
      <p:sp>
        <p:nvSpPr>
          <p:cNvPr id="12" name="Text 10"/>
          <p:cNvSpPr txBox="1"/>
          <p:nvPr/>
        </p:nvSpPr>
        <p:spPr>
          <a:xfrm>
            <a:off x="5029200" y="1920240"/>
            <a:ext cx="2103120" cy="594360"/>
          </a:xfrm>
          <a:prstGeom prst="rect">
            <a:avLst/>
          </a:prstGeom>
          <a:noFill/>
          <a:ln/>
        </p:spPr>
        <p:txBody>
          <a:bodyPr wrap="square" lIns="0" tIns="0" rIns="0" bIns="0" rtlCol="0" anchor="ctr"/>
          <a:lstStyle/>
          <a:p>
            <a:pPr algn="ctr" indent="0" marL="0">
              <a:buNone/>
            </a:pPr>
            <a:r>
              <a:rPr lang="en-US" sz="3200" b="1" dirty="0">
                <a:solidFill>
                  <a:schemeClr val="accent1"/>
                </a:solidFill>
              </a:rPr>
              <a:t>72</a:t>
            </a:r>
            <a:endParaRPr lang="en-US" sz="3200" dirty="0"/>
          </a:p>
        </p:txBody>
      </p:sp>
      <p:sp>
        <p:nvSpPr>
          <p:cNvPr id="13" name="Text 11"/>
          <p:cNvSpPr txBox="1"/>
          <p:nvPr/>
        </p:nvSpPr>
        <p:spPr>
          <a:xfrm>
            <a:off x="5029200" y="2514600"/>
            <a:ext cx="2103120" cy="320040"/>
          </a:xfrm>
          <a:prstGeom prst="rect">
            <a:avLst/>
          </a:prstGeom>
          <a:noFill/>
          <a:ln/>
        </p:spPr>
        <p:txBody>
          <a:bodyPr wrap="square" lIns="0" tIns="0" rIns="0" bIns="0" rtlCol="0" anchor="ctr"/>
          <a:lstStyle/>
          <a:p>
            <a:pPr algn="ctr" indent="0" marL="0">
              <a:buNone/>
            </a:pPr>
            <a:r>
              <a:rPr lang="en-US" sz="1400" dirty="0">
                <a:solidFill>
                  <a:schemeClr val="bg1"/>
                </a:solidFill>
              </a:rPr>
              <a:t>Attended</a:t>
            </a:r>
            <a:endParaRPr lang="en-US" sz="1400" dirty="0"/>
          </a:p>
        </p:txBody>
      </p:sp>
      <p:sp>
        <p:nvSpPr>
          <p:cNvPr id="14" name="KPI tile Treated"/>
          <p:cNvSpPr/>
          <p:nvPr/>
        </p:nvSpPr>
        <p:spPr>
          <a:xfrm>
            <a:off x="7269480" y="1828800"/>
            <a:ext cx="2103120" cy="1097280"/>
          </a:xfrm>
          <a:prstGeom prst="roundRect">
            <a:avLst>
              <a:gd name="adj" fmla="val 8333"/>
            </a:avLst>
          </a:prstGeom>
          <a:solidFill>
            <a:schemeClr val="accent6"/>
          </a:solidFill>
          <a:ln w="12700">
            <a:solidFill>
              <a:schemeClr val="accent6"/>
            </a:solidFill>
            <a:prstDash val="solid"/>
          </a:ln>
        </p:spPr>
      </p:sp>
      <p:sp>
        <p:nvSpPr>
          <p:cNvPr id="15" name="Text 13"/>
          <p:cNvSpPr txBox="1"/>
          <p:nvPr/>
        </p:nvSpPr>
        <p:spPr>
          <a:xfrm>
            <a:off x="7269480" y="1920240"/>
            <a:ext cx="2103120" cy="594360"/>
          </a:xfrm>
          <a:prstGeom prst="rect">
            <a:avLst/>
          </a:prstGeom>
          <a:noFill/>
          <a:ln/>
        </p:spPr>
        <p:txBody>
          <a:bodyPr wrap="square" lIns="0" tIns="0" rIns="0" bIns="0" rtlCol="0" anchor="ctr"/>
          <a:lstStyle/>
          <a:p>
            <a:pPr algn="ctr" indent="0" marL="0">
              <a:buNone/>
            </a:pPr>
            <a:r>
              <a:rPr lang="en-US" sz="3200" b="1" dirty="0">
                <a:solidFill>
                  <a:schemeClr val="accent1"/>
                </a:solidFill>
              </a:rPr>
              <a:t>41</a:t>
            </a:r>
            <a:endParaRPr lang="en-US" sz="3200" dirty="0"/>
          </a:p>
        </p:txBody>
      </p:sp>
      <p:sp>
        <p:nvSpPr>
          <p:cNvPr id="16" name="Text 14"/>
          <p:cNvSpPr txBox="1"/>
          <p:nvPr/>
        </p:nvSpPr>
        <p:spPr>
          <a:xfrm>
            <a:off x="7269480" y="2514600"/>
            <a:ext cx="2103120" cy="320040"/>
          </a:xfrm>
          <a:prstGeom prst="rect">
            <a:avLst/>
          </a:prstGeom>
          <a:noFill/>
          <a:ln/>
        </p:spPr>
        <p:txBody>
          <a:bodyPr wrap="square" lIns="0" tIns="0" rIns="0" bIns="0" rtlCol="0" anchor="ctr"/>
          <a:lstStyle/>
          <a:p>
            <a:pPr algn="ctr" indent="0" marL="0">
              <a:buNone/>
            </a:pPr>
            <a:r>
              <a:rPr lang="en-US" sz="1400" dirty="0">
                <a:solidFill>
                  <a:schemeClr val="bg1"/>
                </a:solidFill>
              </a:rPr>
              <a:t>Treated</a:t>
            </a:r>
            <a:endParaRPr lang="en-US" sz="1400" dirty="0"/>
          </a:p>
        </p:txBody>
      </p:sp>
      <p:sp>
        <p:nvSpPr>
          <p:cNvPr id="17" name="KPI tile Revenue"/>
          <p:cNvSpPr/>
          <p:nvPr/>
        </p:nvSpPr>
        <p:spPr>
          <a:xfrm>
            <a:off x="9509760" y="1828800"/>
            <a:ext cx="2103120" cy="1097280"/>
          </a:xfrm>
          <a:prstGeom prst="roundRect">
            <a:avLst>
              <a:gd name="adj" fmla="val 8333"/>
            </a:avLst>
          </a:prstGeom>
          <a:solidFill>
            <a:schemeClr val="accent6"/>
          </a:solidFill>
          <a:ln w="12700">
            <a:solidFill>
              <a:schemeClr val="accent6"/>
            </a:solidFill>
            <a:prstDash val="solid"/>
          </a:ln>
        </p:spPr>
      </p:sp>
      <p:sp>
        <p:nvSpPr>
          <p:cNvPr id="18" name="Text 16"/>
          <p:cNvSpPr txBox="1"/>
          <p:nvPr/>
        </p:nvSpPr>
        <p:spPr>
          <a:xfrm>
            <a:off x="9509760" y="1920240"/>
            <a:ext cx="2103120" cy="594360"/>
          </a:xfrm>
          <a:prstGeom prst="rect">
            <a:avLst/>
          </a:prstGeom>
          <a:noFill/>
          <a:ln/>
        </p:spPr>
        <p:txBody>
          <a:bodyPr wrap="square" lIns="0" tIns="0" rIns="0" bIns="0" rtlCol="0" anchor="ctr"/>
          <a:lstStyle/>
          <a:p>
            <a:pPr algn="ctr" indent="0" marL="0">
              <a:buNone/>
            </a:pPr>
            <a:r>
              <a:rPr lang="en-US" sz="3200" b="1" dirty="0">
                <a:solidFill>
                  <a:schemeClr val="accent4"/>
                </a:solidFill>
              </a:rPr>
              <a:t>₹8.2L</a:t>
            </a:r>
            <a:endParaRPr lang="en-US" sz="3200" dirty="0"/>
          </a:p>
        </p:txBody>
      </p:sp>
      <p:sp>
        <p:nvSpPr>
          <p:cNvPr id="19" name="Text 17"/>
          <p:cNvSpPr txBox="1"/>
          <p:nvPr/>
        </p:nvSpPr>
        <p:spPr>
          <a:xfrm>
            <a:off x="9509760" y="2514600"/>
            <a:ext cx="2103120" cy="320040"/>
          </a:xfrm>
          <a:prstGeom prst="rect">
            <a:avLst/>
          </a:prstGeom>
          <a:noFill/>
          <a:ln/>
        </p:spPr>
        <p:txBody>
          <a:bodyPr wrap="square" lIns="0" tIns="0" rIns="0" bIns="0" rtlCol="0" anchor="ctr"/>
          <a:lstStyle/>
          <a:p>
            <a:pPr algn="ctr" indent="0" marL="0">
              <a:buNone/>
            </a:pPr>
            <a:r>
              <a:rPr lang="en-US" sz="1400" dirty="0">
                <a:solidFill>
                  <a:schemeClr val="bg1"/>
                </a:solidFill>
              </a:rPr>
              <a:t>Revenue</a:t>
            </a:r>
            <a:endParaRPr lang="en-US" sz="1400" dirty="0"/>
          </a:p>
        </p:txBody>
      </p:sp>
      <p:sp>
        <p:nvSpPr>
          <p:cNvPr id="20" name="Chart panel"/>
          <p:cNvSpPr/>
          <p:nvPr/>
        </p:nvSpPr>
        <p:spPr>
          <a:xfrm>
            <a:off x="548640" y="3154680"/>
            <a:ext cx="5394960" cy="2834640"/>
          </a:xfrm>
          <a:prstGeom prst="roundRect">
            <a:avLst>
              <a:gd name="adj" fmla="val 3871"/>
            </a:avLst>
          </a:prstGeom>
          <a:solidFill>
            <a:schemeClr val="accent6"/>
          </a:solidFill>
          <a:ln w="12700">
            <a:solidFill>
              <a:schemeClr val="accent6"/>
            </a:solidFill>
            <a:prstDash val="solid"/>
          </a:ln>
        </p:spPr>
      </p:sp>
      <p:graphicFrame>
        <p:nvGraphicFramePr>
          <p:cNvPr id="21" name="Chart 0" descr=""/>
          <p:cNvGraphicFramePr/>
          <p:nvPr/>
        </p:nvGraphicFramePr>
        <p:xfrm>
          <a:off x="640080" y="3200400"/>
          <a:ext cx="521208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Source table"/>
          <p:cNvGraphicFramePr>
            <a:graphicFrameLocks noGrp="1"/>
          </p:cNvGraphicFramePr>
          <p:nvPr>
            <p:extLst>
              <p:ext uri="{D42A27DB-BD31-4B8C-83A1-F6EECF244321}">
                <p14:modId xmlns:p14="http://schemas.microsoft.com/office/powerpoint/2010/main" val="1579011935"/>
              </p:ext>
            </p:extLst>
          </p:nvPr>
        </p:nvGraphicFramePr>
        <p:xfrm>
          <a:off x="6126480" y="3154680"/>
          <a:ext cx="5486400" cy="914400"/>
        </p:xfrm>
        <a:graphic>
          <a:graphicData uri="http://schemas.openxmlformats.org/drawingml/2006/table">
            <a:tbl>
              <a:tblPr/>
              <a:tblGrid>
                <a:gridCol w="1920240"/>
                <a:gridCol w="1005840"/>
                <a:gridCol w="1371600"/>
                <a:gridCol w="1188720"/>
              </a:tblGrid>
              <a:tr h="566928">
                <a:tc>
                  <a:txBody>
                    <a:bodyPr/>
                    <a:lstStyle/>
                    <a:p>
                      <a:pPr algn="l" indent="0" marL="0">
                        <a:buNone/>
                      </a:pPr>
                      <a:r>
                        <a:rPr lang="en-US" sz="1400" b="1" dirty="0">
                          <a:solidFill>
                            <a:srgbClr val="5FE0C0"/>
                          </a:solidFill>
                        </a:rPr>
                        <a:t>Source</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b="1" dirty="0">
                          <a:solidFill>
                            <a:srgbClr val="5FE0C0"/>
                          </a:solidFill>
                        </a:rPr>
                        <a:t>Leads</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b="1" dirty="0">
                          <a:solidFill>
                            <a:srgbClr val="5FE0C0"/>
                          </a:solidFill>
                        </a:rPr>
                        <a:t>Attended</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b="1" dirty="0">
                          <a:solidFill>
                            <a:srgbClr val="5FE0C0"/>
                          </a:solidFill>
                        </a:rPr>
                        <a:t>Treated</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r>
              <a:tr h="566928">
                <a:tc>
                  <a:txBody>
                    <a:bodyPr/>
                    <a:lstStyle/>
                    <a:p>
                      <a:pPr algn="l" indent="0" marL="0">
                        <a:buNone/>
                      </a:pPr>
                      <a:r>
                        <a:rPr lang="en-US" sz="1400" b="1" dirty="0">
                          <a:solidFill>
                            <a:srgbClr val="FFFFFF"/>
                          </a:solidFill>
                        </a:rPr>
                        <a:t>Google Search</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110</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34</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18</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r>
              <a:tr h="566928">
                <a:tc>
                  <a:txBody>
                    <a:bodyPr/>
                    <a:lstStyle/>
                    <a:p>
                      <a:pPr algn="l" indent="0" marL="0">
                        <a:buNone/>
                      </a:pPr>
                      <a:r>
                        <a:rPr lang="en-US" sz="1400" b="1" dirty="0">
                          <a:solidFill>
                            <a:srgbClr val="FFFFFF"/>
                          </a:solidFill>
                        </a:rPr>
                        <a:t>Meta ads</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100</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26</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14</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r>
              <a:tr h="566928">
                <a:tc>
                  <a:txBody>
                    <a:bodyPr/>
                    <a:lstStyle/>
                    <a:p>
                      <a:pPr algn="l" indent="0" marL="0">
                        <a:buNone/>
                      </a:pPr>
                      <a:r>
                        <a:rPr lang="en-US" sz="1400" b="1" dirty="0">
                          <a:solidFill>
                            <a:srgbClr val="FFFFFF"/>
                          </a:solidFill>
                        </a:rPr>
                        <a:t>Past patients</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30</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12</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c>
                  <a:txBody>
                    <a:bodyPr/>
                    <a:lstStyle/>
                    <a:p>
                      <a:pPr algn="ctr" indent="0" marL="0">
                        <a:buNone/>
                      </a:pPr>
                      <a:r>
                        <a:rPr lang="en-US" sz="1400" dirty="0">
                          <a:solidFill>
                            <a:srgbClr val="FFFFFF"/>
                          </a:solidFill>
                        </a:rPr>
                        <a:t>9</a:t>
                      </a:r>
                      <a:endParaRPr lang="en-US" sz="1400" dirty="0"/>
                    </a:p>
                  </a:txBody>
                  <a:tcPr marL="109728" marR="109728" marT="45720" marB="45720" anchor="ctr">
                    <a:lnL w="25400" cap="flat" cmpd="sng" algn="ctr">
                      <a:solidFill>
                        <a:srgbClr val="0B1636"/>
                      </a:solidFill>
                      <a:prstDash val="solid"/>
                      <a:round/>
                      <a:headEnd type="none" w="med" len="med"/>
                      <a:tailEnd type="none" w="med" len="med"/>
                    </a:lnL>
                    <a:lnR w="25400" cap="flat" cmpd="sng" algn="ctr">
                      <a:solidFill>
                        <a:srgbClr val="0B1636"/>
                      </a:solidFill>
                      <a:prstDash val="solid"/>
                      <a:round/>
                      <a:headEnd type="none" w="med" len="med"/>
                      <a:tailEnd type="none" w="med" len="med"/>
                    </a:lnR>
                    <a:lnT w="25400" cap="flat" cmpd="sng" algn="ctr">
                      <a:solidFill>
                        <a:srgbClr val="0B1636"/>
                      </a:solidFill>
                      <a:prstDash val="solid"/>
                      <a:round/>
                      <a:headEnd type="none" w="med" len="med"/>
                      <a:tailEnd type="none" w="med" len="med"/>
                    </a:lnT>
                    <a:lnB w="25400" cap="flat" cmpd="sng" algn="ctr">
                      <a:solidFill>
                        <a:srgbClr val="0B1636"/>
                      </a:solidFill>
                      <a:prstDash val="solid"/>
                      <a:round/>
                      <a:headEnd type="none" w="med" len="med"/>
                      <a:tailEnd type="none" w="med" len="med"/>
                    </a:lnB>
                    <a:solidFill>
                      <a:srgbClr val="1B2B63"/>
                    </a:solidFill>
                  </a:tcPr>
                </a:tc>
              </a:tr>
            </a:tbl>
          </a:graphicData>
        </a:graphic>
      </p:graphicFrame>
      <p:sp>
        <p:nvSpPr>
          <p:cNvPr id="23" name="Text 19"/>
          <p:cNvSpPr txBox="1"/>
          <p:nvPr/>
        </p:nvSpPr>
        <p:spPr>
          <a:xfrm>
            <a:off x="6126480" y="5577840"/>
            <a:ext cx="5486400" cy="365760"/>
          </a:xfrm>
          <a:prstGeom prst="rect">
            <a:avLst/>
          </a:prstGeom>
          <a:noFill/>
          <a:ln/>
        </p:spPr>
        <p:txBody>
          <a:bodyPr wrap="square" lIns="0" tIns="0" rIns="0" bIns="0" rtlCol="0" anchor="ctr"/>
          <a:lstStyle/>
          <a:p>
            <a:pPr indent="0" marL="0">
              <a:buNone/>
            </a:pPr>
            <a:r>
              <a:rPr lang="en-US" sz="1200" dirty="0">
                <a:solidFill>
                  <a:schemeClr val="accent5"/>
                </a:solidFill>
              </a:rPr>
              <a:t>Sample layout with example numbers. Not client results.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Your first 90 days</a:t>
            </a:r>
            <a:endParaRPr lang="en-US" sz="3800" dirty="0"/>
          </a:p>
        </p:txBody>
      </p:sp>
      <p:sp>
        <p:nvSpPr>
          <p:cNvPr id="3" name="Timeline line"/>
          <p:cNvSpPr/>
          <p:nvPr/>
        </p:nvSpPr>
        <p:spPr>
          <a:xfrm>
            <a:off x="1463040" y="2606040"/>
            <a:ext cx="9235440" cy="0"/>
          </a:xfrm>
          <a:prstGeom prst="line">
            <a:avLst/>
          </a:prstGeom>
          <a:noFill/>
          <a:ln w="25400">
            <a:solidFill>
              <a:schemeClr val="accent5"/>
            </a:solidFill>
            <a:prstDash val="solid"/>
          </a:ln>
        </p:spPr>
      </p:sp>
      <p:sp>
        <p:nvSpPr>
          <p:cNvPr id="4" name="Milestone dot 1"/>
          <p:cNvSpPr/>
          <p:nvPr/>
        </p:nvSpPr>
        <p:spPr>
          <a:xfrm>
            <a:off x="1325880" y="2331720"/>
            <a:ext cx="548640" cy="548640"/>
          </a:xfrm>
          <a:prstGeom prst="ellipse">
            <a:avLst/>
          </a:prstGeom>
          <a:solidFill>
            <a:schemeClr val="accent1"/>
          </a:solidFill>
          <a:ln w="38100">
            <a:solidFill>
              <a:schemeClr val="tx1"/>
            </a:solidFill>
            <a:prstDash val="solid"/>
          </a:ln>
        </p:spPr>
      </p:sp>
      <p:sp>
        <p:nvSpPr>
          <p:cNvPr id="5" name="Text 3"/>
          <p:cNvSpPr txBox="1"/>
          <p:nvPr/>
        </p:nvSpPr>
        <p:spPr>
          <a:xfrm>
            <a:off x="1325880" y="233172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548640" y="3108960"/>
            <a:ext cx="2103120" cy="365760"/>
          </a:xfrm>
          <a:prstGeom prst="rect">
            <a:avLst/>
          </a:prstGeom>
          <a:noFill/>
          <a:ln/>
        </p:spPr>
        <p:txBody>
          <a:bodyPr wrap="square" lIns="0" tIns="0" rIns="0" bIns="0" rtlCol="0" anchor="ctr"/>
          <a:lstStyle/>
          <a:p>
            <a:pPr algn="ctr" indent="0" marL="0">
              <a:buNone/>
            </a:pPr>
            <a:r>
              <a:rPr lang="en-US" sz="1600" b="1" dirty="0">
                <a:solidFill>
                  <a:schemeClr val="accent1"/>
                </a:solidFill>
              </a:rPr>
              <a:t>Day 5</a:t>
            </a:r>
            <a:endParaRPr lang="en-US" sz="1600" dirty="0"/>
          </a:p>
        </p:txBody>
      </p:sp>
      <p:sp>
        <p:nvSpPr>
          <p:cNvPr id="7" name="Text 5"/>
          <p:cNvSpPr txBox="1"/>
          <p:nvPr/>
        </p:nvSpPr>
        <p:spPr>
          <a:xfrm>
            <a:off x="548640" y="3520440"/>
            <a:ext cx="2103120" cy="457200"/>
          </a:xfrm>
          <a:prstGeom prst="rect">
            <a:avLst/>
          </a:prstGeom>
          <a:noFill/>
          <a:ln/>
        </p:spPr>
        <p:txBody>
          <a:bodyPr wrap="square" lIns="0" tIns="0" rIns="0" bIns="0" rtlCol="0" anchor="ctr"/>
          <a:lstStyle/>
          <a:p>
            <a:pPr algn="ctr" indent="0" marL="0">
              <a:buNone/>
            </a:pPr>
            <a:r>
              <a:rPr lang="en-US" sz="2000" b="1" dirty="0">
                <a:solidFill>
                  <a:schemeClr val="bg1"/>
                </a:solidFill>
              </a:rPr>
              <a:t>Lead Leak Audit</a:t>
            </a:r>
            <a:endParaRPr lang="en-US" sz="2000" dirty="0"/>
          </a:p>
        </p:txBody>
      </p:sp>
      <p:sp>
        <p:nvSpPr>
          <p:cNvPr id="8" name="Text 6"/>
          <p:cNvSpPr txBox="1"/>
          <p:nvPr/>
        </p:nvSpPr>
        <p:spPr>
          <a:xfrm>
            <a:off x="640080" y="4114800"/>
            <a:ext cx="1920240" cy="1371600"/>
          </a:xfrm>
          <a:prstGeom prst="rect">
            <a:avLst/>
          </a:prstGeom>
          <a:noFill/>
          <a:ln/>
        </p:spPr>
        <p:txBody>
          <a:bodyPr wrap="square" lIns="0" tIns="0" rIns="0" bIns="0" rtlCol="0" anchor="t"/>
          <a:lstStyle/>
          <a:p>
            <a:pPr algn="ctr" indent="0" marL="0">
              <a:buNone/>
            </a:pPr>
            <a:r>
              <a:rPr lang="en-US" sz="1400" dirty="0">
                <a:solidFill>
                  <a:schemeClr val="accent5"/>
                </a:solidFill>
              </a:rPr>
              <a:t>A clear list of where patients leak out today</a:t>
            </a:r>
            <a:endParaRPr lang="en-US" sz="1400" dirty="0"/>
          </a:p>
        </p:txBody>
      </p:sp>
      <p:sp>
        <p:nvSpPr>
          <p:cNvPr id="9" name="Milestone dot 2"/>
          <p:cNvSpPr/>
          <p:nvPr/>
        </p:nvSpPr>
        <p:spPr>
          <a:xfrm>
            <a:off x="3566160" y="2331720"/>
            <a:ext cx="548640" cy="548640"/>
          </a:xfrm>
          <a:prstGeom prst="ellipse">
            <a:avLst/>
          </a:prstGeom>
          <a:solidFill>
            <a:schemeClr val="accent1"/>
          </a:solidFill>
          <a:ln w="38100">
            <a:solidFill>
              <a:schemeClr val="tx1"/>
            </a:solidFill>
            <a:prstDash val="solid"/>
          </a:ln>
        </p:spPr>
      </p:sp>
      <p:sp>
        <p:nvSpPr>
          <p:cNvPr id="10" name="Text 8"/>
          <p:cNvSpPr txBox="1"/>
          <p:nvPr/>
        </p:nvSpPr>
        <p:spPr>
          <a:xfrm>
            <a:off x="3566160" y="233172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9"/>
          <p:cNvSpPr txBox="1"/>
          <p:nvPr/>
        </p:nvSpPr>
        <p:spPr>
          <a:xfrm>
            <a:off x="2788920" y="3108960"/>
            <a:ext cx="2103120" cy="365760"/>
          </a:xfrm>
          <a:prstGeom prst="rect">
            <a:avLst/>
          </a:prstGeom>
          <a:noFill/>
          <a:ln/>
        </p:spPr>
        <p:txBody>
          <a:bodyPr wrap="square" lIns="0" tIns="0" rIns="0" bIns="0" rtlCol="0" anchor="ctr"/>
          <a:lstStyle/>
          <a:p>
            <a:pPr algn="ctr" indent="0" marL="0">
              <a:buNone/>
            </a:pPr>
            <a:r>
              <a:rPr lang="en-US" sz="1600" b="1" dirty="0">
                <a:solidFill>
                  <a:schemeClr val="accent1"/>
                </a:solidFill>
              </a:rPr>
              <a:t>Day 7</a:t>
            </a:r>
            <a:endParaRPr lang="en-US" sz="1600" dirty="0"/>
          </a:p>
        </p:txBody>
      </p:sp>
      <p:sp>
        <p:nvSpPr>
          <p:cNvPr id="12" name="Text 10"/>
          <p:cNvSpPr txBox="1"/>
          <p:nvPr/>
        </p:nvSpPr>
        <p:spPr>
          <a:xfrm>
            <a:off x="2788920" y="3520440"/>
            <a:ext cx="2103120" cy="457200"/>
          </a:xfrm>
          <a:prstGeom prst="rect">
            <a:avLst/>
          </a:prstGeom>
          <a:noFill/>
          <a:ln/>
        </p:spPr>
        <p:txBody>
          <a:bodyPr wrap="square" lIns="0" tIns="0" rIns="0" bIns="0" rtlCol="0" anchor="ctr"/>
          <a:lstStyle/>
          <a:p>
            <a:pPr algn="ctr" indent="0" marL="0">
              <a:buNone/>
            </a:pPr>
            <a:r>
              <a:rPr lang="en-US" sz="2000" b="1" dirty="0">
                <a:solidFill>
                  <a:schemeClr val="bg1"/>
                </a:solidFill>
              </a:rPr>
              <a:t>Replies go live</a:t>
            </a:r>
            <a:endParaRPr lang="en-US" sz="2000" dirty="0"/>
          </a:p>
        </p:txBody>
      </p:sp>
      <p:sp>
        <p:nvSpPr>
          <p:cNvPr id="13" name="Text 11"/>
          <p:cNvSpPr txBox="1"/>
          <p:nvPr/>
        </p:nvSpPr>
        <p:spPr>
          <a:xfrm>
            <a:off x="2880360" y="4114800"/>
            <a:ext cx="1920240" cy="1371600"/>
          </a:xfrm>
          <a:prstGeom prst="rect">
            <a:avLst/>
          </a:prstGeom>
          <a:noFill/>
          <a:ln/>
        </p:spPr>
        <p:txBody>
          <a:bodyPr wrap="square" lIns="0" tIns="0" rIns="0" bIns="0" rtlCol="0" anchor="t"/>
          <a:lstStyle/>
          <a:p>
            <a:pPr algn="ctr" indent="0" marL="0">
              <a:buNone/>
            </a:pPr>
            <a:r>
              <a:rPr lang="en-US" sz="1400" dirty="0">
                <a:solidFill>
                  <a:schemeClr val="accent5"/>
                </a:solidFill>
              </a:rPr>
              <a:t>Every enquiry answered in minutes</a:t>
            </a:r>
            <a:endParaRPr lang="en-US" sz="1400" dirty="0"/>
          </a:p>
        </p:txBody>
      </p:sp>
      <p:sp>
        <p:nvSpPr>
          <p:cNvPr id="14" name="Milestone dot 3"/>
          <p:cNvSpPr/>
          <p:nvPr/>
        </p:nvSpPr>
        <p:spPr>
          <a:xfrm>
            <a:off x="5806440" y="2331720"/>
            <a:ext cx="548640" cy="548640"/>
          </a:xfrm>
          <a:prstGeom prst="ellipse">
            <a:avLst/>
          </a:prstGeom>
          <a:solidFill>
            <a:schemeClr val="accent1"/>
          </a:solidFill>
          <a:ln w="38100">
            <a:solidFill>
              <a:schemeClr val="tx1"/>
            </a:solidFill>
            <a:prstDash val="solid"/>
          </a:ln>
        </p:spPr>
      </p:sp>
      <p:sp>
        <p:nvSpPr>
          <p:cNvPr id="15" name="Text 13"/>
          <p:cNvSpPr txBox="1"/>
          <p:nvPr/>
        </p:nvSpPr>
        <p:spPr>
          <a:xfrm>
            <a:off x="5806440" y="233172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6" name="Text 14"/>
          <p:cNvSpPr txBox="1"/>
          <p:nvPr/>
        </p:nvSpPr>
        <p:spPr>
          <a:xfrm>
            <a:off x="5029200" y="3108960"/>
            <a:ext cx="2103120" cy="365760"/>
          </a:xfrm>
          <a:prstGeom prst="rect">
            <a:avLst/>
          </a:prstGeom>
          <a:noFill/>
          <a:ln/>
        </p:spPr>
        <p:txBody>
          <a:bodyPr wrap="square" lIns="0" tIns="0" rIns="0" bIns="0" rtlCol="0" anchor="ctr"/>
          <a:lstStyle/>
          <a:p>
            <a:pPr algn="ctr" indent="0" marL="0">
              <a:buNone/>
            </a:pPr>
            <a:r>
              <a:rPr lang="en-US" sz="1600" b="1" dirty="0">
                <a:solidFill>
                  <a:schemeClr val="accent1"/>
                </a:solidFill>
              </a:rPr>
              <a:t>Day 14</a:t>
            </a:r>
            <a:endParaRPr lang="en-US" sz="1600" dirty="0"/>
          </a:p>
        </p:txBody>
      </p:sp>
      <p:sp>
        <p:nvSpPr>
          <p:cNvPr id="17" name="Text 15"/>
          <p:cNvSpPr txBox="1"/>
          <p:nvPr/>
        </p:nvSpPr>
        <p:spPr>
          <a:xfrm>
            <a:off x="5029200" y="3520440"/>
            <a:ext cx="2103120" cy="457200"/>
          </a:xfrm>
          <a:prstGeom prst="rect">
            <a:avLst/>
          </a:prstGeom>
          <a:noFill/>
          <a:ln/>
        </p:spPr>
        <p:txBody>
          <a:bodyPr wrap="square" lIns="0" tIns="0" rIns="0" bIns="0" rtlCol="0" anchor="ctr"/>
          <a:lstStyle/>
          <a:p>
            <a:pPr algn="ctr" indent="0" marL="0">
              <a:buNone/>
            </a:pPr>
            <a:r>
              <a:rPr lang="en-US" sz="2000" b="1" dirty="0">
                <a:solidFill>
                  <a:schemeClr val="bg1"/>
                </a:solidFill>
              </a:rPr>
              <a:t>Ads go live</a:t>
            </a:r>
            <a:endParaRPr lang="en-US" sz="2000" dirty="0"/>
          </a:p>
        </p:txBody>
      </p:sp>
      <p:sp>
        <p:nvSpPr>
          <p:cNvPr id="18" name="Text 16"/>
          <p:cNvSpPr txBox="1"/>
          <p:nvPr/>
        </p:nvSpPr>
        <p:spPr>
          <a:xfrm>
            <a:off x="5120640" y="4114800"/>
            <a:ext cx="1920240" cy="1371600"/>
          </a:xfrm>
          <a:prstGeom prst="rect">
            <a:avLst/>
          </a:prstGeom>
          <a:noFill/>
          <a:ln/>
        </p:spPr>
        <p:txBody>
          <a:bodyPr wrap="square" lIns="0" tIns="0" rIns="0" bIns="0" rtlCol="0" anchor="t"/>
          <a:lstStyle/>
          <a:p>
            <a:pPr algn="ctr" indent="0" marL="0">
              <a:buNone/>
            </a:pPr>
            <a:r>
              <a:rPr lang="en-US" sz="1400" dirty="0">
                <a:solidFill>
                  <a:schemeClr val="accent5"/>
                </a:solidFill>
              </a:rPr>
              <a:t>Campaigns and your booking page running</a:t>
            </a:r>
            <a:endParaRPr lang="en-US" sz="1400" dirty="0"/>
          </a:p>
        </p:txBody>
      </p:sp>
      <p:sp>
        <p:nvSpPr>
          <p:cNvPr id="19" name="Milestone dot 4"/>
          <p:cNvSpPr/>
          <p:nvPr/>
        </p:nvSpPr>
        <p:spPr>
          <a:xfrm>
            <a:off x="8046720" y="2331720"/>
            <a:ext cx="548640" cy="548640"/>
          </a:xfrm>
          <a:prstGeom prst="ellipse">
            <a:avLst/>
          </a:prstGeom>
          <a:solidFill>
            <a:schemeClr val="accent1"/>
          </a:solidFill>
          <a:ln w="38100">
            <a:solidFill>
              <a:schemeClr val="tx1"/>
            </a:solidFill>
            <a:prstDash val="solid"/>
          </a:ln>
        </p:spPr>
      </p:sp>
      <p:sp>
        <p:nvSpPr>
          <p:cNvPr id="20" name="Text 18"/>
          <p:cNvSpPr txBox="1"/>
          <p:nvPr/>
        </p:nvSpPr>
        <p:spPr>
          <a:xfrm>
            <a:off x="8046720" y="233172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1" name="Text 19"/>
          <p:cNvSpPr txBox="1"/>
          <p:nvPr/>
        </p:nvSpPr>
        <p:spPr>
          <a:xfrm>
            <a:off x="7269480" y="3108960"/>
            <a:ext cx="2103120" cy="365760"/>
          </a:xfrm>
          <a:prstGeom prst="rect">
            <a:avLst/>
          </a:prstGeom>
          <a:noFill/>
          <a:ln/>
        </p:spPr>
        <p:txBody>
          <a:bodyPr wrap="square" lIns="0" tIns="0" rIns="0" bIns="0" rtlCol="0" anchor="ctr"/>
          <a:lstStyle/>
          <a:p>
            <a:pPr algn="ctr" indent="0" marL="0">
              <a:buNone/>
            </a:pPr>
            <a:r>
              <a:rPr lang="en-US" sz="1600" b="1" dirty="0">
                <a:solidFill>
                  <a:schemeClr val="accent1"/>
                </a:solidFill>
              </a:rPr>
              <a:t>Day 30</a:t>
            </a:r>
            <a:endParaRPr lang="en-US" sz="1600" dirty="0"/>
          </a:p>
        </p:txBody>
      </p:sp>
      <p:sp>
        <p:nvSpPr>
          <p:cNvPr id="22" name="Text 20"/>
          <p:cNvSpPr txBox="1"/>
          <p:nvPr/>
        </p:nvSpPr>
        <p:spPr>
          <a:xfrm>
            <a:off x="7269480" y="3520440"/>
            <a:ext cx="2103120" cy="457200"/>
          </a:xfrm>
          <a:prstGeom prst="rect">
            <a:avLst/>
          </a:prstGeom>
          <a:noFill/>
          <a:ln/>
        </p:spPr>
        <p:txBody>
          <a:bodyPr wrap="square" lIns="0" tIns="0" rIns="0" bIns="0" rtlCol="0" anchor="ctr"/>
          <a:lstStyle/>
          <a:p>
            <a:pPr algn="ctr" indent="0" marL="0">
              <a:buNone/>
            </a:pPr>
            <a:r>
              <a:rPr lang="en-US" sz="2000" b="1" dirty="0">
                <a:solidFill>
                  <a:schemeClr val="bg1"/>
                </a:solidFill>
              </a:rPr>
              <a:t>Your number</a:t>
            </a:r>
            <a:endParaRPr lang="en-US" sz="2000" dirty="0"/>
          </a:p>
        </p:txBody>
      </p:sp>
      <p:sp>
        <p:nvSpPr>
          <p:cNvPr id="23" name="Text 21"/>
          <p:cNvSpPr txBox="1"/>
          <p:nvPr/>
        </p:nvSpPr>
        <p:spPr>
          <a:xfrm>
            <a:off x="7360920" y="4114800"/>
            <a:ext cx="1920240" cy="1371600"/>
          </a:xfrm>
          <a:prstGeom prst="rect">
            <a:avLst/>
          </a:prstGeom>
          <a:noFill/>
          <a:ln/>
        </p:spPr>
        <p:txBody>
          <a:bodyPr wrap="square" lIns="0" tIns="0" rIns="0" bIns="0" rtlCol="0" anchor="t"/>
          <a:lstStyle/>
          <a:p>
            <a:pPr algn="ctr" indent="0" marL="0">
              <a:buNone/>
            </a:pPr>
            <a:r>
              <a:rPr lang="en-US" sz="1400" dirty="0">
                <a:solidFill>
                  <a:schemeClr val="accent5"/>
                </a:solidFill>
              </a:rPr>
              <a:t>Agreed in writing, from real data</a:t>
            </a:r>
            <a:endParaRPr lang="en-US" sz="1400" dirty="0"/>
          </a:p>
        </p:txBody>
      </p:sp>
      <p:sp>
        <p:nvSpPr>
          <p:cNvPr id="24" name="Milestone dot 5"/>
          <p:cNvSpPr/>
          <p:nvPr/>
        </p:nvSpPr>
        <p:spPr>
          <a:xfrm>
            <a:off x="10287000" y="2331720"/>
            <a:ext cx="548640" cy="548640"/>
          </a:xfrm>
          <a:prstGeom prst="ellipse">
            <a:avLst/>
          </a:prstGeom>
          <a:solidFill>
            <a:schemeClr val="accent4"/>
          </a:solidFill>
          <a:ln w="38100">
            <a:solidFill>
              <a:schemeClr val="tx1"/>
            </a:solidFill>
            <a:prstDash val="solid"/>
          </a:ln>
        </p:spPr>
      </p:sp>
      <p:sp>
        <p:nvSpPr>
          <p:cNvPr id="25" name="Text 23"/>
          <p:cNvSpPr txBox="1"/>
          <p:nvPr/>
        </p:nvSpPr>
        <p:spPr>
          <a:xfrm>
            <a:off x="10287000" y="233172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6" name="Text 24"/>
          <p:cNvSpPr txBox="1"/>
          <p:nvPr/>
        </p:nvSpPr>
        <p:spPr>
          <a:xfrm>
            <a:off x="9509760" y="3108960"/>
            <a:ext cx="2103120" cy="365760"/>
          </a:xfrm>
          <a:prstGeom prst="rect">
            <a:avLst/>
          </a:prstGeom>
          <a:noFill/>
          <a:ln/>
        </p:spPr>
        <p:txBody>
          <a:bodyPr wrap="square" lIns="0" tIns="0" rIns="0" bIns="0" rtlCol="0" anchor="ctr"/>
          <a:lstStyle/>
          <a:p>
            <a:pPr algn="ctr" indent="0" marL="0">
              <a:buNone/>
            </a:pPr>
            <a:r>
              <a:rPr lang="en-US" sz="1600" b="1" dirty="0">
                <a:solidFill>
                  <a:schemeClr val="accent1"/>
                </a:solidFill>
              </a:rPr>
              <a:t>Day 90</a:t>
            </a:r>
            <a:endParaRPr lang="en-US" sz="1600" dirty="0"/>
          </a:p>
        </p:txBody>
      </p:sp>
      <p:sp>
        <p:nvSpPr>
          <p:cNvPr id="27" name="Text 25"/>
          <p:cNvSpPr txBox="1"/>
          <p:nvPr/>
        </p:nvSpPr>
        <p:spPr>
          <a:xfrm>
            <a:off x="9509760" y="3520440"/>
            <a:ext cx="2103120" cy="457200"/>
          </a:xfrm>
          <a:prstGeom prst="rect">
            <a:avLst/>
          </a:prstGeom>
          <a:noFill/>
          <a:ln/>
        </p:spPr>
        <p:txBody>
          <a:bodyPr wrap="square" lIns="0" tIns="0" rIns="0" bIns="0" rtlCol="0" anchor="ctr"/>
          <a:lstStyle/>
          <a:p>
            <a:pPr algn="ctr" indent="0" marL="0">
              <a:buNone/>
            </a:pPr>
            <a:r>
              <a:rPr lang="en-US" sz="2000" b="1" dirty="0">
                <a:solidFill>
                  <a:schemeClr val="bg1"/>
                </a:solidFill>
              </a:rPr>
              <a:t>Guarantee check</a:t>
            </a:r>
            <a:endParaRPr lang="en-US" sz="2000" dirty="0"/>
          </a:p>
        </p:txBody>
      </p:sp>
      <p:sp>
        <p:nvSpPr>
          <p:cNvPr id="28" name="Text 26"/>
          <p:cNvSpPr txBox="1"/>
          <p:nvPr/>
        </p:nvSpPr>
        <p:spPr>
          <a:xfrm>
            <a:off x="9601200" y="4114800"/>
            <a:ext cx="1920240" cy="1371600"/>
          </a:xfrm>
          <a:prstGeom prst="rect">
            <a:avLst/>
          </a:prstGeom>
          <a:noFill/>
          <a:ln/>
        </p:spPr>
        <p:txBody>
          <a:bodyPr wrap="square" lIns="0" tIns="0" rIns="0" bIns="0" rtlCol="0" anchor="t"/>
          <a:lstStyle/>
          <a:p>
            <a:pPr algn="ctr" indent="0" marL="0">
              <a:buNone/>
            </a:pPr>
            <a:r>
              <a:rPr lang="en-US" sz="1400" dirty="0">
                <a:solidFill>
                  <a:schemeClr val="accent5"/>
                </a:solidFill>
              </a:rPr>
              <a:t>Number hit, or we work free until it is</a:t>
            </a:r>
            <a:endParaRPr lang="en-US" sz="1400" dirty="0"/>
          </a:p>
        </p:txBody>
      </p:sp>
      <p:sp>
        <p:nvSpPr>
          <p:cNvPr id="29" name="Text 27"/>
          <p:cNvSpPr txBox="1"/>
          <p:nvPr/>
        </p:nvSpPr>
        <p:spPr>
          <a:xfrm>
            <a:off x="548640" y="5669280"/>
            <a:ext cx="11064240" cy="365760"/>
          </a:xfrm>
          <a:prstGeom prst="rect">
            <a:avLst/>
          </a:prstGeom>
          <a:noFill/>
          <a:ln/>
        </p:spPr>
        <p:txBody>
          <a:bodyPr wrap="square" lIns="0" tIns="0" rIns="0" bIns="0" rtlCol="0" anchor="ctr"/>
          <a:lstStyle/>
          <a:p>
            <a:pPr algn="ctr" indent="0" marL="0">
              <a:buNone/>
            </a:pPr>
            <a:r>
              <a:rPr lang="en-US" sz="1800" b="1" dirty="0">
                <a:solidFill>
                  <a:schemeClr val="bg1"/>
                </a:solidFill>
              </a:rPr>
              <a:t>You see something real at every step.</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What one more patient is worth</a:t>
            </a:r>
            <a:endParaRPr lang="en-US" sz="3800" dirty="0"/>
          </a:p>
        </p:txBody>
      </p:sp>
      <p:sp>
        <p:nvSpPr>
          <p:cNvPr id="3" name="Fill live badge"/>
          <p:cNvSpPr/>
          <p:nvPr/>
        </p:nvSpPr>
        <p:spPr>
          <a:xfrm>
            <a:off x="8092440" y="320040"/>
            <a:ext cx="3566160" cy="365760"/>
          </a:xfrm>
          <a:prstGeom prst="roundRect">
            <a:avLst>
              <a:gd name="adj" fmla="val 50000"/>
            </a:avLst>
          </a:prstGeom>
          <a:solidFill>
            <a:schemeClr val="accent4"/>
          </a:solidFill>
          <a:ln w="12700">
            <a:solidFill>
              <a:schemeClr val="accent4"/>
            </a:solidFill>
            <a:prstDash val="solid"/>
          </a:ln>
        </p:spPr>
      </p:sp>
      <p:sp>
        <p:nvSpPr>
          <p:cNvPr id="4" name="Text 2"/>
          <p:cNvSpPr txBox="1"/>
          <p:nvPr/>
        </p:nvSpPr>
        <p:spPr>
          <a:xfrm>
            <a:off x="8092440" y="320040"/>
            <a:ext cx="3566160" cy="365760"/>
          </a:xfrm>
          <a:prstGeom prst="rect">
            <a:avLst/>
          </a:prstGeom>
          <a:noFill/>
          <a:ln/>
        </p:spPr>
        <p:txBody>
          <a:bodyPr wrap="square" lIns="0" tIns="0" rIns="0" bIns="0" rtlCol="0" anchor="ctr"/>
          <a:lstStyle/>
          <a:p>
            <a:pPr algn="ctr" indent="0" marL="0">
              <a:buNone/>
            </a:pPr>
            <a:r>
              <a:rPr lang="en-US" sz="1200" b="1" spc="100" kern="0" dirty="0">
                <a:solidFill>
                  <a:schemeClr val="tx1"/>
                </a:solidFill>
              </a:rPr>
              <a:t>FILL LIVE WITH THE CLINIC</a:t>
            </a:r>
            <a:endParaRPr lang="en-US" sz="1200" dirty="0"/>
          </a:p>
        </p:txBody>
      </p:sp>
      <p:sp>
        <p:nvSpPr>
          <p:cNvPr id="5" name="Extra attended patients a month box"/>
          <p:cNvSpPr/>
          <p:nvPr/>
        </p:nvSpPr>
        <p:spPr>
          <a:xfrm>
            <a:off x="548640" y="1920240"/>
            <a:ext cx="3017520" cy="1554480"/>
          </a:xfrm>
          <a:prstGeom prst="roundRect">
            <a:avLst>
              <a:gd name="adj" fmla="val 7059"/>
            </a:avLst>
          </a:prstGeom>
          <a:solidFill>
            <a:schemeClr val="accent6"/>
          </a:solidFill>
          <a:ln w="12700">
            <a:solidFill>
              <a:schemeClr val="accent6"/>
            </a:solidFill>
            <a:prstDash val="solid"/>
          </a:ln>
        </p:spPr>
      </p:sp>
      <p:sp>
        <p:nvSpPr>
          <p:cNvPr id="6" name="Text 4"/>
          <p:cNvSpPr txBox="1"/>
          <p:nvPr/>
        </p:nvSpPr>
        <p:spPr>
          <a:xfrm>
            <a:off x="731520" y="2103120"/>
            <a:ext cx="2651760" cy="548640"/>
          </a:xfrm>
          <a:prstGeom prst="rect">
            <a:avLst/>
          </a:prstGeom>
          <a:noFill/>
          <a:ln/>
        </p:spPr>
        <p:txBody>
          <a:bodyPr wrap="square" lIns="0" tIns="0" rIns="0" bIns="0" rtlCol="0" anchor="t"/>
          <a:lstStyle/>
          <a:p>
            <a:pPr algn="ctr" indent="0" marL="0">
              <a:buNone/>
            </a:pPr>
            <a:r>
              <a:rPr lang="en-US" sz="1600" dirty="0">
                <a:solidFill>
                  <a:schemeClr val="bg1"/>
                </a:solidFill>
              </a:rPr>
              <a:t>Extra attended patients a month</a:t>
            </a:r>
            <a:endParaRPr lang="en-US" sz="1600" dirty="0"/>
          </a:p>
        </p:txBody>
      </p:sp>
      <p:sp>
        <p:nvSpPr>
          <p:cNvPr id="7" name="Text 5"/>
          <p:cNvSpPr txBox="1"/>
          <p:nvPr/>
        </p:nvSpPr>
        <p:spPr>
          <a:xfrm>
            <a:off x="731520" y="2697480"/>
            <a:ext cx="2651760" cy="594360"/>
          </a:xfrm>
          <a:prstGeom prst="rect">
            <a:avLst/>
          </a:prstGeom>
          <a:noFill/>
          <a:ln/>
        </p:spPr>
        <p:txBody>
          <a:bodyPr wrap="square" lIns="0" tIns="0" rIns="0" bIns="0" rtlCol="0" anchor="ctr"/>
          <a:lstStyle/>
          <a:p>
            <a:pPr algn="ctr" indent="0" marL="0">
              <a:buNone/>
            </a:pPr>
            <a:r>
              <a:rPr lang="en-US" sz="2800" b="1" dirty="0">
                <a:solidFill>
                  <a:schemeClr val="bg1"/>
                </a:solidFill>
              </a:rPr>
              <a:t>____</a:t>
            </a:r>
            <a:endParaRPr lang="en-US" sz="2800" dirty="0"/>
          </a:p>
        </p:txBody>
      </p:sp>
      <p:sp>
        <p:nvSpPr>
          <p:cNvPr id="8" name="Text 6"/>
          <p:cNvSpPr txBox="1"/>
          <p:nvPr/>
        </p:nvSpPr>
        <p:spPr>
          <a:xfrm>
            <a:off x="3566160" y="1920240"/>
            <a:ext cx="548640" cy="1554480"/>
          </a:xfrm>
          <a:prstGeom prst="rect">
            <a:avLst/>
          </a:prstGeom>
          <a:noFill/>
          <a:ln/>
        </p:spPr>
        <p:txBody>
          <a:bodyPr wrap="square" lIns="0" tIns="0" rIns="0" bIns="0" rtlCol="0" anchor="ctr"/>
          <a:lstStyle/>
          <a:p>
            <a:pPr algn="ctr" indent="0" marL="0">
              <a:buNone/>
            </a:pPr>
            <a:r>
              <a:rPr lang="en-US" sz="3600" b="1" dirty="0">
                <a:solidFill>
                  <a:schemeClr val="accent5"/>
                </a:solidFill>
              </a:rPr>
              <a:t>×</a:t>
            </a:r>
            <a:endParaRPr lang="en-US" sz="3600" dirty="0"/>
          </a:p>
        </p:txBody>
      </p:sp>
      <p:sp>
        <p:nvSpPr>
          <p:cNvPr id="9" name="Value of a new patient box"/>
          <p:cNvSpPr/>
          <p:nvPr/>
        </p:nvSpPr>
        <p:spPr>
          <a:xfrm>
            <a:off x="4114800" y="1920240"/>
            <a:ext cx="3017520" cy="1554480"/>
          </a:xfrm>
          <a:prstGeom prst="roundRect">
            <a:avLst>
              <a:gd name="adj" fmla="val 7059"/>
            </a:avLst>
          </a:prstGeom>
          <a:solidFill>
            <a:schemeClr val="accent6"/>
          </a:solidFill>
          <a:ln w="12700">
            <a:solidFill>
              <a:schemeClr val="accent6"/>
            </a:solidFill>
            <a:prstDash val="solid"/>
          </a:ln>
        </p:spPr>
      </p:sp>
      <p:sp>
        <p:nvSpPr>
          <p:cNvPr id="10" name="Text 8"/>
          <p:cNvSpPr txBox="1"/>
          <p:nvPr/>
        </p:nvSpPr>
        <p:spPr>
          <a:xfrm>
            <a:off x="4297680" y="2103120"/>
            <a:ext cx="2651760" cy="548640"/>
          </a:xfrm>
          <a:prstGeom prst="rect">
            <a:avLst/>
          </a:prstGeom>
          <a:noFill/>
          <a:ln/>
        </p:spPr>
        <p:txBody>
          <a:bodyPr wrap="square" lIns="0" tIns="0" rIns="0" bIns="0" rtlCol="0" anchor="t"/>
          <a:lstStyle/>
          <a:p>
            <a:pPr algn="ctr" indent="0" marL="0">
              <a:buNone/>
            </a:pPr>
            <a:r>
              <a:rPr lang="en-US" sz="1600" dirty="0">
                <a:solidFill>
                  <a:schemeClr val="bg1"/>
                </a:solidFill>
              </a:rPr>
              <a:t>Value of a new patient</a:t>
            </a:r>
            <a:endParaRPr lang="en-US" sz="1600" dirty="0"/>
          </a:p>
        </p:txBody>
      </p:sp>
      <p:sp>
        <p:nvSpPr>
          <p:cNvPr id="11" name="Text 9"/>
          <p:cNvSpPr txBox="1"/>
          <p:nvPr/>
        </p:nvSpPr>
        <p:spPr>
          <a:xfrm>
            <a:off x="4297680" y="2697480"/>
            <a:ext cx="2651760" cy="594360"/>
          </a:xfrm>
          <a:prstGeom prst="rect">
            <a:avLst/>
          </a:prstGeom>
          <a:noFill/>
          <a:ln/>
        </p:spPr>
        <p:txBody>
          <a:bodyPr wrap="square" lIns="0" tIns="0" rIns="0" bIns="0" rtlCol="0" anchor="ctr"/>
          <a:lstStyle/>
          <a:p>
            <a:pPr algn="ctr" indent="0" marL="0">
              <a:buNone/>
            </a:pPr>
            <a:r>
              <a:rPr lang="en-US" sz="2800" b="1" dirty="0">
                <a:solidFill>
                  <a:schemeClr val="bg1"/>
                </a:solidFill>
              </a:rPr>
              <a:t>₹ ______</a:t>
            </a:r>
            <a:endParaRPr lang="en-US" sz="2800" dirty="0"/>
          </a:p>
        </p:txBody>
      </p:sp>
      <p:sp>
        <p:nvSpPr>
          <p:cNvPr id="12" name="Text 10"/>
          <p:cNvSpPr txBox="1"/>
          <p:nvPr/>
        </p:nvSpPr>
        <p:spPr>
          <a:xfrm>
            <a:off x="7132320" y="1920240"/>
            <a:ext cx="548640" cy="1554480"/>
          </a:xfrm>
          <a:prstGeom prst="rect">
            <a:avLst/>
          </a:prstGeom>
          <a:noFill/>
          <a:ln/>
        </p:spPr>
        <p:txBody>
          <a:bodyPr wrap="square" lIns="0" tIns="0" rIns="0" bIns="0" rtlCol="0" anchor="ctr"/>
          <a:lstStyle/>
          <a:p>
            <a:pPr algn="ctr" indent="0" marL="0">
              <a:buNone/>
            </a:pPr>
            <a:r>
              <a:rPr lang="en-US" sz="3600" b="1" dirty="0">
                <a:solidFill>
                  <a:schemeClr val="accent5"/>
                </a:solidFill>
              </a:rPr>
              <a:t>=</a:t>
            </a:r>
            <a:endParaRPr lang="en-US" sz="3600" dirty="0"/>
          </a:p>
        </p:txBody>
      </p:sp>
      <p:sp>
        <p:nvSpPr>
          <p:cNvPr id="13" name="Extra revenue every month box"/>
          <p:cNvSpPr/>
          <p:nvPr/>
        </p:nvSpPr>
        <p:spPr>
          <a:xfrm>
            <a:off x="7680960" y="1920240"/>
            <a:ext cx="3931920" cy="1554480"/>
          </a:xfrm>
          <a:prstGeom prst="roundRect">
            <a:avLst>
              <a:gd name="adj" fmla="val 7059"/>
            </a:avLst>
          </a:prstGeom>
          <a:solidFill>
            <a:schemeClr val="accent6"/>
          </a:solidFill>
          <a:ln w="25400">
            <a:solidFill>
              <a:schemeClr val="accent1"/>
            </a:solidFill>
            <a:prstDash val="solid"/>
          </a:ln>
        </p:spPr>
      </p:sp>
      <p:sp>
        <p:nvSpPr>
          <p:cNvPr id="14" name="Text 12"/>
          <p:cNvSpPr txBox="1"/>
          <p:nvPr/>
        </p:nvSpPr>
        <p:spPr>
          <a:xfrm>
            <a:off x="7863840" y="2103120"/>
            <a:ext cx="3566160" cy="548640"/>
          </a:xfrm>
          <a:prstGeom prst="rect">
            <a:avLst/>
          </a:prstGeom>
          <a:noFill/>
          <a:ln/>
        </p:spPr>
        <p:txBody>
          <a:bodyPr wrap="square" lIns="0" tIns="0" rIns="0" bIns="0" rtlCol="0" anchor="t"/>
          <a:lstStyle/>
          <a:p>
            <a:pPr algn="ctr" indent="0" marL="0">
              <a:buNone/>
            </a:pPr>
            <a:r>
              <a:rPr lang="en-US" sz="1600" dirty="0">
                <a:solidFill>
                  <a:schemeClr val="bg1"/>
                </a:solidFill>
              </a:rPr>
              <a:t>Extra revenue every month</a:t>
            </a:r>
            <a:endParaRPr lang="en-US" sz="1600" dirty="0"/>
          </a:p>
        </p:txBody>
      </p:sp>
      <p:sp>
        <p:nvSpPr>
          <p:cNvPr id="15" name="Text 13"/>
          <p:cNvSpPr txBox="1"/>
          <p:nvPr/>
        </p:nvSpPr>
        <p:spPr>
          <a:xfrm>
            <a:off x="7863840" y="2697480"/>
            <a:ext cx="3566160" cy="594360"/>
          </a:xfrm>
          <a:prstGeom prst="rect">
            <a:avLst/>
          </a:prstGeom>
          <a:noFill/>
          <a:ln/>
        </p:spPr>
        <p:txBody>
          <a:bodyPr wrap="square" lIns="0" tIns="0" rIns="0" bIns="0" rtlCol="0" anchor="ctr"/>
          <a:lstStyle/>
          <a:p>
            <a:pPr algn="ctr" indent="0" marL="0">
              <a:buNone/>
            </a:pPr>
            <a:r>
              <a:rPr lang="en-US" sz="2800" b="1" dirty="0">
                <a:solidFill>
                  <a:schemeClr val="accent1"/>
                </a:solidFill>
              </a:rPr>
              <a:t>₹ ______</a:t>
            </a:r>
            <a:endParaRPr lang="en-US" sz="2800" dirty="0"/>
          </a:p>
        </p:txBody>
      </p:sp>
      <p:sp>
        <p:nvSpPr>
          <p:cNvPr id="16" name="Compare panel"/>
          <p:cNvSpPr/>
          <p:nvPr/>
        </p:nvSpPr>
        <p:spPr>
          <a:xfrm>
            <a:off x="548640" y="3840480"/>
            <a:ext cx="11064240" cy="1554480"/>
          </a:xfrm>
          <a:prstGeom prst="roundRect">
            <a:avLst>
              <a:gd name="adj" fmla="val 7059"/>
            </a:avLst>
          </a:prstGeom>
          <a:solidFill>
            <a:schemeClr val="bg1"/>
          </a:solidFill>
          <a:ln w="12700">
            <a:solidFill>
              <a:schemeClr val="bg1"/>
            </a:solidFill>
            <a:prstDash val="solid"/>
          </a:ln>
        </p:spPr>
      </p:sp>
      <p:sp>
        <p:nvSpPr>
          <p:cNvPr id="17" name="Text 15"/>
          <p:cNvSpPr txBox="1"/>
          <p:nvPr/>
        </p:nvSpPr>
        <p:spPr>
          <a:xfrm>
            <a:off x="914400" y="4023360"/>
            <a:ext cx="4572000" cy="411480"/>
          </a:xfrm>
          <a:prstGeom prst="rect">
            <a:avLst/>
          </a:prstGeom>
          <a:noFill/>
          <a:ln/>
        </p:spPr>
        <p:txBody>
          <a:bodyPr wrap="square" lIns="0" tIns="0" rIns="0" bIns="0" rtlCol="0" anchor="ctr"/>
          <a:lstStyle/>
          <a:p>
            <a:pPr indent="0" marL="0">
              <a:buNone/>
            </a:pPr>
            <a:r>
              <a:rPr lang="en-US" sz="1800" b="1" dirty="0">
                <a:solidFill>
                  <a:schemeClr val="tx1"/>
                </a:solidFill>
              </a:rPr>
              <a:t>Compare it with what you put in</a:t>
            </a:r>
            <a:endParaRPr lang="en-US" sz="1800" dirty="0"/>
          </a:p>
        </p:txBody>
      </p:sp>
      <p:sp>
        <p:nvSpPr>
          <p:cNvPr id="18" name="Text 16"/>
          <p:cNvSpPr txBox="1"/>
          <p:nvPr/>
        </p:nvSpPr>
        <p:spPr>
          <a:xfrm>
            <a:off x="914400" y="4572000"/>
            <a:ext cx="10332720" cy="548640"/>
          </a:xfrm>
          <a:prstGeom prst="rect">
            <a:avLst/>
          </a:prstGeom>
          <a:noFill/>
          <a:ln/>
        </p:spPr>
        <p:txBody>
          <a:bodyPr wrap="square" lIns="0" tIns="0" rIns="0" bIns="0" rtlCol="0" anchor="ctr"/>
          <a:lstStyle/>
          <a:p>
            <a:pPr indent="0" marL="0">
              <a:buNone/>
            </a:pPr>
            <a:r>
              <a:rPr lang="en-US" sz="2400" b="1" dirty="0">
                <a:solidFill>
                  <a:schemeClr val="accent2"/>
                </a:solidFill>
              </a:rPr>
              <a:t>Your ad spend ₹ ______    +    Our fee ₹ ______</a:t>
            </a:r>
            <a:endParaRPr lang="en-US" sz="2400" dirty="0"/>
          </a:p>
        </p:txBody>
      </p:sp>
      <p:sp>
        <p:nvSpPr>
          <p:cNvPr id="19" name="Text 17"/>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600" dirty="0">
                <a:solidFill>
                  <a:schemeClr val="accent5"/>
                </a:solidFill>
              </a:rPr>
              <a:t>Use the clinic's own numbers from the worksheet. We don't guess for you.</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Our Guarantee and Fee</a:t>
            </a:r>
            <a:endParaRPr lang="en-US" sz="3800" dirty="0"/>
          </a:p>
        </p:txBody>
      </p:sp>
      <p:sp>
        <p:nvSpPr>
          <p:cNvPr id="3" name="Guarantee panel"/>
          <p:cNvSpPr/>
          <p:nvPr/>
        </p:nvSpPr>
        <p:spPr>
          <a:xfrm>
            <a:off x="548640" y="2011680"/>
            <a:ext cx="6675120" cy="4023360"/>
          </a:xfrm>
          <a:prstGeom prst="roundRect">
            <a:avLst>
              <a:gd name="adj" fmla="val 2727"/>
            </a:avLst>
          </a:prstGeom>
          <a:solidFill>
            <a:schemeClr val="accent6"/>
          </a:solidFill>
          <a:ln w="12700">
            <a:solidFill>
              <a:schemeClr val="accent6"/>
            </a:solidFill>
            <a:prstDash val="solid"/>
          </a:ln>
        </p:spPr>
      </p:sp>
      <p:sp>
        <p:nvSpPr>
          <p:cNvPr id="4" name="Text 2"/>
          <p:cNvSpPr txBox="1"/>
          <p:nvPr/>
        </p:nvSpPr>
        <p:spPr>
          <a:xfrm>
            <a:off x="914400" y="2286000"/>
            <a:ext cx="5943600" cy="1371600"/>
          </a:xfrm>
          <a:prstGeom prst="rect">
            <a:avLst/>
          </a:prstGeom>
          <a:noFill/>
          <a:ln/>
        </p:spPr>
        <p:txBody>
          <a:bodyPr wrap="square" lIns="0" tIns="0" rIns="0" bIns="0" rtlCol="0" anchor="t"/>
          <a:lstStyle/>
          <a:p>
            <a:pPr indent="0" marL="0">
              <a:buNone/>
            </a:pPr>
            <a:r>
              <a:rPr lang="en-US" sz="2800" b="1" dirty="0">
                <a:solidFill>
                  <a:schemeClr val="accent1"/>
                </a:solidFill>
              </a:rPr>
              <a:t>If we miss your number by day 90, we work free until we deliver it</a:t>
            </a:r>
            <a:endParaRPr lang="en-US" sz="2800" dirty="0"/>
          </a:p>
        </p:txBody>
      </p:sp>
      <p:sp>
        <p:nvSpPr>
          <p:cNvPr id="5" name="Text 3"/>
          <p:cNvSpPr txBox="1"/>
          <p:nvPr/>
        </p:nvSpPr>
        <p:spPr>
          <a:xfrm>
            <a:off x="914400" y="3840480"/>
            <a:ext cx="5943600" cy="20116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bg1"/>
                </a:solidFill>
              </a:rPr>
              <a:t>Number of attended appointments agreed in writing at day 30</a:t>
            </a:r>
            <a:endParaRPr lang="en-US" sz="1800" dirty="0"/>
          </a:p>
          <a:p>
            <a:pPr marL="342900" indent="-342900">
              <a:spcAft>
                <a:spcPts val="800"/>
              </a:spcAft>
              <a:buSzPct val="100000"/>
              <a:buChar char="•"/>
            </a:pPr>
            <a:r>
              <a:rPr lang="en-US" sz="1800" dirty="0">
                <a:solidFill>
                  <a:schemeClr val="bg1"/>
                </a:solidFill>
              </a:rPr>
              <a:t>Counted from your booking system, not ad platform clicks</a:t>
            </a:r>
            <a:endParaRPr lang="en-US" sz="1800" dirty="0"/>
          </a:p>
          <a:p>
            <a:pPr marL="342900" indent="-342900">
              <a:spcAft>
                <a:spcPts val="800"/>
              </a:spcAft>
              <a:buSzPct val="100000"/>
              <a:buChar char="•"/>
            </a:pPr>
            <a:r>
              <a:rPr lang="en-US" sz="1800" dirty="0">
                <a:solidFill>
                  <a:schemeClr val="bg1"/>
                </a:solidFill>
              </a:rPr>
              <a:t>One clinic per area</a:t>
            </a:r>
            <a:endParaRPr lang="en-US" sz="1800" dirty="0"/>
          </a:p>
        </p:txBody>
      </p:sp>
      <p:sp>
        <p:nvSpPr>
          <p:cNvPr id="6" name="Fee panel"/>
          <p:cNvSpPr/>
          <p:nvPr/>
        </p:nvSpPr>
        <p:spPr>
          <a:xfrm>
            <a:off x="7498080" y="2011680"/>
            <a:ext cx="4160520" cy="4023360"/>
          </a:xfrm>
          <a:prstGeom prst="roundRect">
            <a:avLst>
              <a:gd name="adj" fmla="val 2727"/>
            </a:avLst>
          </a:prstGeom>
          <a:solidFill>
            <a:schemeClr val="bg1"/>
          </a:solidFill>
          <a:ln w="12700">
            <a:solidFill>
              <a:schemeClr val="bg1"/>
            </a:solidFill>
            <a:prstDash val="solid"/>
          </a:ln>
        </p:spPr>
      </p:sp>
      <p:sp>
        <p:nvSpPr>
          <p:cNvPr id="7" name="Text 5"/>
          <p:cNvSpPr txBox="1"/>
          <p:nvPr/>
        </p:nvSpPr>
        <p:spPr>
          <a:xfrm>
            <a:off x="7818120" y="2286000"/>
            <a:ext cx="3566160" cy="457200"/>
          </a:xfrm>
          <a:prstGeom prst="rect">
            <a:avLst/>
          </a:prstGeom>
          <a:noFill/>
          <a:ln/>
        </p:spPr>
        <p:txBody>
          <a:bodyPr wrap="square" lIns="0" tIns="0" rIns="0" bIns="0" rtlCol="0" anchor="ctr"/>
          <a:lstStyle/>
          <a:p>
            <a:pPr indent="0" marL="0">
              <a:buNone/>
            </a:pPr>
            <a:r>
              <a:rPr lang="en-US" sz="2200" b="1" dirty="0">
                <a:solidFill>
                  <a:schemeClr val="tx1"/>
                </a:solidFill>
              </a:rPr>
              <a:t>How you pay</a:t>
            </a:r>
            <a:endParaRPr lang="en-US" sz="2200" dirty="0"/>
          </a:p>
        </p:txBody>
      </p:sp>
      <p:sp>
        <p:nvSpPr>
          <p:cNvPr id="8" name="Text 6"/>
          <p:cNvSpPr txBox="1"/>
          <p:nvPr/>
        </p:nvSpPr>
        <p:spPr>
          <a:xfrm>
            <a:off x="7818120" y="2926080"/>
            <a:ext cx="3611880" cy="29260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Ad spend: paid by you directly to Google and Meta</a:t>
            </a:r>
            <a:endParaRPr lang="en-US" sz="1800" dirty="0"/>
          </a:p>
          <a:p>
            <a:pPr marL="342900" indent="-342900">
              <a:spcAft>
                <a:spcPts val="1000"/>
              </a:spcAft>
              <a:buSzPct val="100000"/>
              <a:buChar char="•"/>
            </a:pPr>
            <a:r>
              <a:rPr lang="en-US" sz="1800" dirty="0">
                <a:solidFill>
                  <a:schemeClr val="tx1"/>
                </a:solidFill>
              </a:rPr>
              <a:t>Our fee: set for your clinic and quoted before you start</a:t>
            </a:r>
            <a:endParaRPr lang="en-US" sz="1800" dirty="0"/>
          </a:p>
          <a:p>
            <a:pPr marL="342900" indent="-342900">
              <a:spcAft>
                <a:spcPts val="1000"/>
              </a:spcAft>
              <a:buSzPct val="100000"/>
              <a:buChar char="•"/>
            </a:pPr>
            <a:r>
              <a:rPr lang="en-US" sz="1800" dirty="0">
                <a:solidFill>
                  <a:schemeClr val="tx1"/>
                </a:solidFill>
              </a:rPr>
              <a:t>First 90 days, then month to month</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bg1"/>
                </a:solidFill>
              </a:rPr>
              <a:t>Let's fill your calendar</a:t>
            </a:r>
            <a:endParaRPr lang="en-US" sz="3800" dirty="0"/>
          </a:p>
        </p:txBody>
      </p:sp>
      <p:sp>
        <p:nvSpPr>
          <p:cNvPr id="3" name="Next step dot 1"/>
          <p:cNvSpPr/>
          <p:nvPr/>
        </p:nvSpPr>
        <p:spPr>
          <a:xfrm>
            <a:off x="548640" y="2194560"/>
            <a:ext cx="594360" cy="594360"/>
          </a:xfrm>
          <a:prstGeom prst="ellipse">
            <a:avLst/>
          </a:prstGeom>
          <a:solidFill>
            <a:schemeClr val="accent1"/>
          </a:solidFill>
          <a:ln w="12700">
            <a:solidFill>
              <a:schemeClr val="accent1"/>
            </a:solidFill>
            <a:prstDash val="solid"/>
          </a:ln>
        </p:spPr>
      </p:sp>
      <p:sp>
        <p:nvSpPr>
          <p:cNvPr id="4" name="Text 2"/>
          <p:cNvSpPr txBox="1"/>
          <p:nvPr/>
        </p:nvSpPr>
        <p:spPr>
          <a:xfrm>
            <a:off x="548640" y="2194560"/>
            <a:ext cx="594360" cy="594360"/>
          </a:xfrm>
          <a:prstGeom prst="rect">
            <a:avLst/>
          </a:prstGeom>
          <a:noFill/>
          <a:ln/>
        </p:spPr>
        <p:txBody>
          <a:bodyPr wrap="square" lIns="0" tIns="0" rIns="0" bIns="0" rtlCol="0" anchor="ctr"/>
          <a:lstStyle/>
          <a:p>
            <a:pPr algn="ctr" indent="0" marL="0">
              <a:buNone/>
            </a:pPr>
            <a:r>
              <a:rPr lang="en-US" sz="2000" b="1" dirty="0">
                <a:solidFill>
                  <a:schemeClr val="tx1"/>
                </a:solidFill>
              </a:rPr>
              <a:t>1</a:t>
            </a:r>
            <a:endParaRPr lang="en-US" sz="2000" dirty="0"/>
          </a:p>
        </p:txBody>
      </p:sp>
      <p:sp>
        <p:nvSpPr>
          <p:cNvPr id="5" name="Text 3"/>
          <p:cNvSpPr txBox="1"/>
          <p:nvPr/>
        </p:nvSpPr>
        <p:spPr>
          <a:xfrm>
            <a:off x="1371600" y="2194560"/>
            <a:ext cx="6035040" cy="594360"/>
          </a:xfrm>
          <a:prstGeom prst="rect">
            <a:avLst/>
          </a:prstGeom>
          <a:noFill/>
          <a:ln/>
        </p:spPr>
        <p:txBody>
          <a:bodyPr wrap="square" lIns="0" tIns="0" rIns="0" bIns="0" rtlCol="0" anchor="ctr"/>
          <a:lstStyle/>
          <a:p>
            <a:pPr indent="0" marL="0">
              <a:buNone/>
            </a:pPr>
            <a:r>
              <a:rPr lang="en-US" sz="2000" dirty="0">
                <a:solidFill>
                  <a:schemeClr val="bg1"/>
                </a:solidFill>
              </a:rPr>
              <a:t>Agree your ad budget and our fee</a:t>
            </a:r>
            <a:endParaRPr lang="en-US" sz="2000" dirty="0"/>
          </a:p>
        </p:txBody>
      </p:sp>
      <p:sp>
        <p:nvSpPr>
          <p:cNvPr id="6" name="Next step dot 2"/>
          <p:cNvSpPr/>
          <p:nvPr/>
        </p:nvSpPr>
        <p:spPr>
          <a:xfrm>
            <a:off x="548640" y="3108960"/>
            <a:ext cx="594360" cy="594360"/>
          </a:xfrm>
          <a:prstGeom prst="ellipse">
            <a:avLst/>
          </a:prstGeom>
          <a:solidFill>
            <a:schemeClr val="accent1"/>
          </a:solidFill>
          <a:ln w="12700">
            <a:solidFill>
              <a:schemeClr val="accent1"/>
            </a:solidFill>
            <a:prstDash val="solid"/>
          </a:ln>
        </p:spPr>
      </p:sp>
      <p:sp>
        <p:nvSpPr>
          <p:cNvPr id="7" name="Text 5"/>
          <p:cNvSpPr txBox="1"/>
          <p:nvPr/>
        </p:nvSpPr>
        <p:spPr>
          <a:xfrm>
            <a:off x="548640" y="3108960"/>
            <a:ext cx="594360" cy="594360"/>
          </a:xfrm>
          <a:prstGeom prst="rect">
            <a:avLst/>
          </a:prstGeom>
          <a:noFill/>
          <a:ln/>
        </p:spPr>
        <p:txBody>
          <a:bodyPr wrap="square" lIns="0" tIns="0" rIns="0" bIns="0" rtlCol="0" anchor="ctr"/>
          <a:lstStyle/>
          <a:p>
            <a:pPr algn="ctr" indent="0" marL="0">
              <a:buNone/>
            </a:pPr>
            <a:r>
              <a:rPr lang="en-US" sz="2000" b="1" dirty="0">
                <a:solidFill>
                  <a:schemeClr val="tx1"/>
                </a:solidFill>
              </a:rPr>
              <a:t>2</a:t>
            </a:r>
            <a:endParaRPr lang="en-US" sz="2000" dirty="0"/>
          </a:p>
        </p:txBody>
      </p:sp>
      <p:sp>
        <p:nvSpPr>
          <p:cNvPr id="8" name="Text 6"/>
          <p:cNvSpPr txBox="1"/>
          <p:nvPr/>
        </p:nvSpPr>
        <p:spPr>
          <a:xfrm>
            <a:off x="1371600" y="3108960"/>
            <a:ext cx="6035040" cy="594360"/>
          </a:xfrm>
          <a:prstGeom prst="rect">
            <a:avLst/>
          </a:prstGeom>
          <a:noFill/>
          <a:ln/>
        </p:spPr>
        <p:txBody>
          <a:bodyPr wrap="square" lIns="0" tIns="0" rIns="0" bIns="0" rtlCol="0" anchor="ctr"/>
          <a:lstStyle/>
          <a:p>
            <a:pPr indent="0" marL="0">
              <a:buNone/>
            </a:pPr>
            <a:r>
              <a:rPr lang="en-US" sz="2000" dirty="0">
                <a:solidFill>
                  <a:schemeClr val="bg1"/>
                </a:solidFill>
              </a:rPr>
              <a:t>Sign the agreement and share ad, booking and lead access</a:t>
            </a:r>
            <a:endParaRPr lang="en-US" sz="2000" dirty="0"/>
          </a:p>
        </p:txBody>
      </p:sp>
      <p:sp>
        <p:nvSpPr>
          <p:cNvPr id="9" name="Next step dot 3"/>
          <p:cNvSpPr/>
          <p:nvPr/>
        </p:nvSpPr>
        <p:spPr>
          <a:xfrm>
            <a:off x="548640" y="4023360"/>
            <a:ext cx="594360" cy="594360"/>
          </a:xfrm>
          <a:prstGeom prst="ellipse">
            <a:avLst/>
          </a:prstGeom>
          <a:solidFill>
            <a:schemeClr val="accent1"/>
          </a:solidFill>
          <a:ln w="12700">
            <a:solidFill>
              <a:schemeClr val="accent1"/>
            </a:solidFill>
            <a:prstDash val="solid"/>
          </a:ln>
        </p:spPr>
      </p:sp>
      <p:sp>
        <p:nvSpPr>
          <p:cNvPr id="10" name="Text 8"/>
          <p:cNvSpPr txBox="1"/>
          <p:nvPr/>
        </p:nvSpPr>
        <p:spPr>
          <a:xfrm>
            <a:off x="548640" y="4023360"/>
            <a:ext cx="594360" cy="594360"/>
          </a:xfrm>
          <a:prstGeom prst="rect">
            <a:avLst/>
          </a:prstGeom>
          <a:noFill/>
          <a:ln/>
        </p:spPr>
        <p:txBody>
          <a:bodyPr wrap="square" lIns="0" tIns="0" rIns="0" bIns="0" rtlCol="0" anchor="ctr"/>
          <a:lstStyle/>
          <a:p>
            <a:pPr algn="ctr" indent="0" marL="0">
              <a:buNone/>
            </a:pPr>
            <a:r>
              <a:rPr lang="en-US" sz="2000" b="1" dirty="0">
                <a:solidFill>
                  <a:schemeClr val="tx1"/>
                </a:solidFill>
              </a:rPr>
              <a:t>3</a:t>
            </a:r>
            <a:endParaRPr lang="en-US" sz="2000" dirty="0"/>
          </a:p>
        </p:txBody>
      </p:sp>
      <p:sp>
        <p:nvSpPr>
          <p:cNvPr id="11" name="Text 9"/>
          <p:cNvSpPr txBox="1"/>
          <p:nvPr/>
        </p:nvSpPr>
        <p:spPr>
          <a:xfrm>
            <a:off x="1371600" y="4023360"/>
            <a:ext cx="6035040" cy="594360"/>
          </a:xfrm>
          <a:prstGeom prst="rect">
            <a:avLst/>
          </a:prstGeom>
          <a:noFill/>
          <a:ln/>
        </p:spPr>
        <p:txBody>
          <a:bodyPr wrap="square" lIns="0" tIns="0" rIns="0" bIns="0" rtlCol="0" anchor="ctr"/>
          <a:lstStyle/>
          <a:p>
            <a:pPr indent="0" marL="0">
              <a:buNone/>
            </a:pPr>
            <a:r>
              <a:rPr lang="en-US" sz="2000" dirty="0">
                <a:solidFill>
                  <a:schemeClr val="bg1"/>
                </a:solidFill>
              </a:rPr>
              <a:t>Lead Leak Audit lands within 5 business days</a:t>
            </a:r>
            <a:endParaRPr lang="en-US" sz="2000" dirty="0"/>
          </a:p>
        </p:txBody>
      </p:sp>
      <p:sp>
        <p:nvSpPr>
          <p:cNvPr id="12" name="Text 10"/>
          <p:cNvSpPr txBox="1"/>
          <p:nvPr/>
        </p:nvSpPr>
        <p:spPr>
          <a:xfrm>
            <a:off x="548640" y="5120640"/>
            <a:ext cx="6858000" cy="457200"/>
          </a:xfrm>
          <a:prstGeom prst="rect">
            <a:avLst/>
          </a:prstGeom>
          <a:noFill/>
          <a:ln/>
        </p:spPr>
        <p:txBody>
          <a:bodyPr wrap="square" lIns="0" tIns="0" rIns="0" bIns="0" rtlCol="0" anchor="ctr"/>
          <a:lstStyle/>
          <a:p>
            <a:pPr indent="0" marL="0">
              <a:buNone/>
            </a:pPr>
            <a:r>
              <a:rPr lang="en-US" sz="2000" b="1" dirty="0">
                <a:solidFill>
                  <a:schemeClr val="accent1"/>
                </a:solidFill>
              </a:rPr>
              <a:t>We take one clinic per area. Let's check yours.</a:t>
            </a:r>
            <a:endParaRPr lang="en-US" sz="2000" dirty="0"/>
          </a:p>
        </p:txBody>
      </p:sp>
      <p:sp>
        <p:nvSpPr>
          <p:cNvPr id="13" name="Contact panel"/>
          <p:cNvSpPr/>
          <p:nvPr/>
        </p:nvSpPr>
        <p:spPr>
          <a:xfrm>
            <a:off x="7863840" y="2011680"/>
            <a:ext cx="3794760" cy="3291840"/>
          </a:xfrm>
          <a:prstGeom prst="roundRect">
            <a:avLst>
              <a:gd name="adj" fmla="val 3333"/>
            </a:avLst>
          </a:prstGeom>
          <a:solidFill>
            <a:schemeClr val="accent6"/>
          </a:solidFill>
          <a:ln w="12700">
            <a:solidFill>
              <a:schemeClr val="accent6"/>
            </a:solidFill>
            <a:prstDash val="solid"/>
          </a:ln>
        </p:spPr>
      </p:sp>
      <p:sp>
        <p:nvSpPr>
          <p:cNvPr id="14" name="Text 12"/>
          <p:cNvSpPr txBox="1"/>
          <p:nvPr/>
        </p:nvSpPr>
        <p:spPr>
          <a:xfrm>
            <a:off x="8183880" y="2286000"/>
            <a:ext cx="3200400" cy="457200"/>
          </a:xfrm>
          <a:prstGeom prst="rect">
            <a:avLst/>
          </a:prstGeom>
          <a:noFill/>
          <a:ln/>
        </p:spPr>
        <p:txBody>
          <a:bodyPr wrap="square" lIns="0" tIns="0" rIns="0" bIns="0" rtlCol="0" anchor="ctr"/>
          <a:lstStyle/>
          <a:p>
            <a:pPr indent="0" marL="0">
              <a:buNone/>
            </a:pPr>
            <a:r>
              <a:rPr lang="en-US" sz="2200" b="1" dirty="0">
                <a:solidFill>
                  <a:schemeClr val="accent1"/>
                </a:solidFill>
              </a:rPr>
              <a:t>Dreamline Labs</a:t>
            </a:r>
            <a:endParaRPr lang="en-US" sz="2200" dirty="0"/>
          </a:p>
        </p:txBody>
      </p:sp>
      <p:sp>
        <p:nvSpPr>
          <p:cNvPr id="15" name="Text 13"/>
          <p:cNvSpPr txBox="1"/>
          <p:nvPr/>
        </p:nvSpPr>
        <p:spPr>
          <a:xfrm>
            <a:off x="8183880" y="3108960"/>
            <a:ext cx="3200400" cy="365760"/>
          </a:xfrm>
          <a:prstGeom prst="rect">
            <a:avLst/>
          </a:prstGeom>
          <a:noFill/>
          <a:ln/>
        </p:spPr>
        <p:txBody>
          <a:bodyPr wrap="square" lIns="0" tIns="0" rIns="0" bIns="0" rtlCol="0" anchor="ctr"/>
          <a:lstStyle/>
          <a:p>
            <a:pPr indent="0" marL="0">
              <a:buNone/>
            </a:pPr>
            <a:r>
              <a:rPr lang="en-US" sz="1600" dirty="0">
                <a:solidFill>
                  <a:schemeClr val="bg1"/>
                </a:solidFill>
              </a:rPr>
              <a:t>connect@dreamlinelabs.com</a:t>
            </a:r>
            <a:endParaRPr lang="en-US" sz="1600" dirty="0"/>
          </a:p>
        </p:txBody>
      </p:sp>
      <p:sp>
        <p:nvSpPr>
          <p:cNvPr id="16" name="Text 14"/>
          <p:cNvSpPr txBox="1"/>
          <p:nvPr/>
        </p:nvSpPr>
        <p:spPr>
          <a:xfrm>
            <a:off x="8183880" y="3566160"/>
            <a:ext cx="3200400" cy="365760"/>
          </a:xfrm>
          <a:prstGeom prst="rect">
            <a:avLst/>
          </a:prstGeom>
          <a:noFill/>
          <a:ln/>
        </p:spPr>
        <p:txBody>
          <a:bodyPr wrap="square" lIns="0" tIns="0" rIns="0" bIns="0" rtlCol="0" anchor="ctr"/>
          <a:lstStyle/>
          <a:p>
            <a:pPr indent="0" marL="0">
              <a:buNone/>
            </a:pPr>
            <a:r>
              <a:rPr lang="en-US" sz="1600" dirty="0">
                <a:solidFill>
                  <a:schemeClr val="bg1"/>
                </a:solidFill>
              </a:rPr>
              <a:t>+91 7977193104</a:t>
            </a:r>
            <a:endParaRPr lang="en-US" sz="1600" dirty="0"/>
          </a:p>
        </p:txBody>
      </p:sp>
      <p:sp>
        <p:nvSpPr>
          <p:cNvPr id="17" name="Text 15"/>
          <p:cNvSpPr txBox="1"/>
          <p:nvPr/>
        </p:nvSpPr>
        <p:spPr>
          <a:xfrm>
            <a:off x="8183880" y="4023360"/>
            <a:ext cx="3200400" cy="365760"/>
          </a:xfrm>
          <a:prstGeom prst="rect">
            <a:avLst/>
          </a:prstGeom>
          <a:noFill/>
          <a:ln/>
        </p:spPr>
        <p:txBody>
          <a:bodyPr wrap="square" lIns="0" tIns="0" rIns="0" bIns="0" rtlCol="0" anchor="ctr"/>
          <a:lstStyle/>
          <a:p>
            <a:pPr indent="0" marL="0">
              <a:buNone/>
            </a:pPr>
            <a:r>
              <a:rPr lang="en-US" sz="1600" dirty="0">
                <a:solidFill>
                  <a:schemeClr val="bg1"/>
                </a:solidFill>
              </a:rPr>
              <a:t>Mumbai, India</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txBox="1"/>
          <p:nvPr>
            <p:ph idx="101" type="title" hasCustomPrompt="1"/>
          </p:nvPr>
        </p:nvSpPr>
        <p:spPr>
          <a:xfrm>
            <a:off x="548640" y="1188720"/>
            <a:ext cx="11064240" cy="914400"/>
          </a:xfrm>
          <a:prstGeom prst="rect">
            <a:avLst/>
          </a:prstGeom>
          <a:noFill/>
          <a:ln/>
        </p:spPr>
        <p:txBody>
          <a:bodyPr wrap="square" lIns="0" tIns="0" rIns="0" bIns="0" rtlCol="0" anchor="t"/>
          <a:lstStyle/>
          <a:p>
            <a:pPr algn="l" indent="0" marL="0">
              <a:buNone/>
            </a:pPr>
            <a:r>
              <a:rPr lang="en-US" sz="3800" b="1" dirty="0">
                <a:solidFill>
                  <a:schemeClr val="tx1"/>
                </a:solidFill>
              </a:rPr>
              <a:t>Backup: questions clinics ask</a:t>
            </a:r>
            <a:endParaRPr lang="en-US" sz="3800" dirty="0"/>
          </a:p>
        </p:txBody>
      </p:sp>
      <p:sp>
        <p:nvSpPr>
          <p:cNvPr id="3" name="FAQ card 1"/>
          <p:cNvSpPr/>
          <p:nvPr/>
        </p:nvSpPr>
        <p:spPr>
          <a:xfrm>
            <a:off x="548640" y="1828800"/>
            <a:ext cx="5440680" cy="2011680"/>
          </a:xfrm>
          <a:prstGeom prst="roundRect">
            <a:avLst>
              <a:gd name="adj" fmla="val 5455"/>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4" name="Text 2"/>
          <p:cNvSpPr txBox="1"/>
          <p:nvPr/>
        </p:nvSpPr>
        <p:spPr>
          <a:xfrm>
            <a:off x="868680" y="2057400"/>
            <a:ext cx="4800600" cy="457200"/>
          </a:xfrm>
          <a:prstGeom prst="rect">
            <a:avLst/>
          </a:prstGeom>
          <a:noFill/>
          <a:ln/>
        </p:spPr>
        <p:txBody>
          <a:bodyPr wrap="square" lIns="0" tIns="0" rIns="0" bIns="0" rtlCol="0" anchor="t"/>
          <a:lstStyle/>
          <a:p>
            <a:pPr indent="0" marL="0">
              <a:buNone/>
            </a:pPr>
            <a:r>
              <a:rPr lang="en-US" sz="2000" b="1" dirty="0">
                <a:solidFill>
                  <a:schemeClr val="tx1"/>
                </a:solidFill>
              </a:rPr>
              <a:t>We tried agencies before.</a:t>
            </a:r>
            <a:endParaRPr lang="en-US" sz="2000" dirty="0"/>
          </a:p>
        </p:txBody>
      </p:sp>
      <p:sp>
        <p:nvSpPr>
          <p:cNvPr id="5" name="Text 3"/>
          <p:cNvSpPr txBox="1"/>
          <p:nvPr/>
        </p:nvSpPr>
        <p:spPr>
          <a:xfrm>
            <a:off x="868680" y="2606040"/>
            <a:ext cx="4800600" cy="1097280"/>
          </a:xfrm>
          <a:prstGeom prst="rect">
            <a:avLst/>
          </a:prstGeom>
          <a:noFill/>
          <a:ln/>
        </p:spPr>
        <p:txBody>
          <a:bodyPr wrap="square" lIns="0" tIns="0" rIns="0" bIns="0" rtlCol="0" anchor="t"/>
          <a:lstStyle/>
          <a:p>
            <a:pPr indent="0" marL="0">
              <a:buNone/>
            </a:pPr>
            <a:r>
              <a:rPr lang="en-US" sz="1600" dirty="0">
                <a:solidFill>
                  <a:schemeClr val="tx1"/>
                </a:solidFill>
              </a:rPr>
              <a:t>Tell us what went wrong. Then we show how reply speed, tracking and the guarantee handle it.</a:t>
            </a:r>
            <a:endParaRPr lang="en-US" sz="1600" dirty="0"/>
          </a:p>
        </p:txBody>
      </p:sp>
      <p:sp>
        <p:nvSpPr>
          <p:cNvPr id="6" name="FAQ card 2"/>
          <p:cNvSpPr/>
          <p:nvPr/>
        </p:nvSpPr>
        <p:spPr>
          <a:xfrm>
            <a:off x="6172200" y="1828800"/>
            <a:ext cx="5440680" cy="2011680"/>
          </a:xfrm>
          <a:prstGeom prst="roundRect">
            <a:avLst>
              <a:gd name="adj" fmla="val 5455"/>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7" name="Text 5"/>
          <p:cNvSpPr txBox="1"/>
          <p:nvPr/>
        </p:nvSpPr>
        <p:spPr>
          <a:xfrm>
            <a:off x="6492240" y="2057400"/>
            <a:ext cx="4800600" cy="457200"/>
          </a:xfrm>
          <a:prstGeom prst="rect">
            <a:avLst/>
          </a:prstGeom>
          <a:noFill/>
          <a:ln/>
        </p:spPr>
        <p:txBody>
          <a:bodyPr wrap="square" lIns="0" tIns="0" rIns="0" bIns="0" rtlCol="0" anchor="t"/>
          <a:lstStyle/>
          <a:p>
            <a:pPr indent="0" marL="0">
              <a:buNone/>
            </a:pPr>
            <a:r>
              <a:rPr lang="en-US" sz="2000" b="1" dirty="0">
                <a:solidFill>
                  <a:schemeClr val="tx1"/>
                </a:solidFill>
              </a:rPr>
              <a:t>Do you have clinic case studies?</a:t>
            </a:r>
            <a:endParaRPr lang="en-US" sz="2000" dirty="0"/>
          </a:p>
        </p:txBody>
      </p:sp>
      <p:sp>
        <p:nvSpPr>
          <p:cNvPr id="8" name="Text 6"/>
          <p:cNvSpPr txBox="1"/>
          <p:nvPr/>
        </p:nvSpPr>
        <p:spPr>
          <a:xfrm>
            <a:off x="6492240" y="2606040"/>
            <a:ext cx="4800600" cy="1097280"/>
          </a:xfrm>
          <a:prstGeom prst="rect">
            <a:avLst/>
          </a:prstGeom>
          <a:noFill/>
          <a:ln/>
        </p:spPr>
        <p:txBody>
          <a:bodyPr wrap="square" lIns="0" tIns="0" rIns="0" bIns="0" rtlCol="0" anchor="t"/>
          <a:lstStyle/>
          <a:p>
            <a:pPr indent="0" marL="0">
              <a:buNone/>
            </a:pPr>
            <a:r>
              <a:rPr lang="en-US" sz="1600" dirty="0">
                <a:solidFill>
                  <a:schemeClr val="tx1"/>
                </a:solidFill>
              </a:rPr>
              <a:t>Not yet, and we won't invent any. This is our first programme for clinics. You see every number in your own weekly report.</a:t>
            </a:r>
            <a:endParaRPr lang="en-US" sz="1600" dirty="0"/>
          </a:p>
        </p:txBody>
      </p:sp>
      <p:sp>
        <p:nvSpPr>
          <p:cNvPr id="9" name="FAQ card 3"/>
          <p:cNvSpPr/>
          <p:nvPr/>
        </p:nvSpPr>
        <p:spPr>
          <a:xfrm>
            <a:off x="548640" y="4023360"/>
            <a:ext cx="5440680" cy="2011680"/>
          </a:xfrm>
          <a:prstGeom prst="roundRect">
            <a:avLst>
              <a:gd name="adj" fmla="val 5455"/>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10" name="Text 8"/>
          <p:cNvSpPr txBox="1"/>
          <p:nvPr/>
        </p:nvSpPr>
        <p:spPr>
          <a:xfrm>
            <a:off x="868680" y="4251960"/>
            <a:ext cx="4800600" cy="457200"/>
          </a:xfrm>
          <a:prstGeom prst="rect">
            <a:avLst/>
          </a:prstGeom>
          <a:noFill/>
          <a:ln/>
        </p:spPr>
        <p:txBody>
          <a:bodyPr wrap="square" lIns="0" tIns="0" rIns="0" bIns="0" rtlCol="0" anchor="t"/>
          <a:lstStyle/>
          <a:p>
            <a:pPr indent="0" marL="0">
              <a:buNone/>
            </a:pPr>
            <a:r>
              <a:rPr lang="en-US" sz="2000" b="1" dirty="0">
                <a:solidFill>
                  <a:schemeClr val="tx1"/>
                </a:solidFill>
              </a:rPr>
              <a:t>What does it cost?</a:t>
            </a:r>
            <a:endParaRPr lang="en-US" sz="2000" dirty="0"/>
          </a:p>
        </p:txBody>
      </p:sp>
      <p:sp>
        <p:nvSpPr>
          <p:cNvPr id="11" name="Text 9"/>
          <p:cNvSpPr txBox="1"/>
          <p:nvPr/>
        </p:nvSpPr>
        <p:spPr>
          <a:xfrm>
            <a:off x="868680" y="4800600"/>
            <a:ext cx="4800600" cy="1097280"/>
          </a:xfrm>
          <a:prstGeom prst="rect">
            <a:avLst/>
          </a:prstGeom>
          <a:noFill/>
          <a:ln/>
        </p:spPr>
        <p:txBody>
          <a:bodyPr wrap="square" lIns="0" tIns="0" rIns="0" bIns="0" rtlCol="0" anchor="t"/>
          <a:lstStyle/>
          <a:p>
            <a:pPr indent="0" marL="0">
              <a:buNone/>
            </a:pPr>
            <a:r>
              <a:rPr lang="en-US" sz="1600" dirty="0">
                <a:solidFill>
                  <a:schemeClr val="tx1"/>
                </a:solidFill>
              </a:rPr>
              <a:t>Ad spend goes directly to Google and Meta. Our fee is set for your clinic and quoted before you start.</a:t>
            </a:r>
            <a:endParaRPr lang="en-US" sz="1600" dirty="0"/>
          </a:p>
        </p:txBody>
      </p:sp>
      <p:sp>
        <p:nvSpPr>
          <p:cNvPr id="12" name="FAQ card 4"/>
          <p:cNvSpPr/>
          <p:nvPr/>
        </p:nvSpPr>
        <p:spPr>
          <a:xfrm>
            <a:off x="6172200" y="4023360"/>
            <a:ext cx="5440680" cy="2011680"/>
          </a:xfrm>
          <a:prstGeom prst="roundRect">
            <a:avLst>
              <a:gd name="adj" fmla="val 5455"/>
            </a:avLst>
          </a:prstGeom>
          <a:solidFill>
            <a:schemeClr val="bg1"/>
          </a:solidFill>
          <a:ln w="12700">
            <a:solidFill>
              <a:schemeClr val="accent6"/>
            </a:solidFill>
            <a:prstDash val="solid"/>
          </a:ln>
          <a:effectLst>
            <a:outerShdw sx="100000" sy="100000" kx="0" ky="0" algn="bl" rotWithShape="0" blurRad="101600" dist="25400" dir="5400000">
              <a:srgbClr val="0B1636">
                <a:alpha val="12000"/>
              </a:srgbClr>
            </a:outerShdw>
          </a:effectLst>
        </p:spPr>
      </p:sp>
      <p:sp>
        <p:nvSpPr>
          <p:cNvPr id="13" name="Text 11"/>
          <p:cNvSpPr txBox="1"/>
          <p:nvPr/>
        </p:nvSpPr>
        <p:spPr>
          <a:xfrm>
            <a:off x="6492240" y="4251960"/>
            <a:ext cx="4800600" cy="457200"/>
          </a:xfrm>
          <a:prstGeom prst="rect">
            <a:avLst/>
          </a:prstGeom>
          <a:noFill/>
          <a:ln/>
        </p:spPr>
        <p:txBody>
          <a:bodyPr wrap="square" lIns="0" tIns="0" rIns="0" bIns="0" rtlCol="0" anchor="t"/>
          <a:lstStyle/>
          <a:p>
            <a:pPr indent="0" marL="0">
              <a:buNone/>
            </a:pPr>
            <a:r>
              <a:rPr lang="en-US" sz="2000" b="1" dirty="0">
                <a:solidFill>
                  <a:schemeClr val="tx1"/>
                </a:solidFill>
              </a:rPr>
              <a:t>Are the ads allowed?</a:t>
            </a:r>
            <a:endParaRPr lang="en-US" sz="2000" dirty="0"/>
          </a:p>
        </p:txBody>
      </p:sp>
      <p:sp>
        <p:nvSpPr>
          <p:cNvPr id="14" name="Text 12"/>
          <p:cNvSpPr txBox="1"/>
          <p:nvPr/>
        </p:nvSpPr>
        <p:spPr>
          <a:xfrm>
            <a:off x="6492240" y="4800600"/>
            <a:ext cx="4800600" cy="1097280"/>
          </a:xfrm>
          <a:prstGeom prst="rect">
            <a:avLst/>
          </a:prstGeom>
          <a:noFill/>
          <a:ln/>
        </p:spPr>
        <p:txBody>
          <a:bodyPr wrap="square" lIns="0" tIns="0" rIns="0" bIns="0" rtlCol="0" anchor="t"/>
          <a:lstStyle/>
          <a:p>
            <a:pPr indent="0" marL="0">
              <a:buNone/>
            </a:pPr>
            <a:r>
              <a:rPr lang="en-US" sz="1600" dirty="0">
                <a:solidFill>
                  <a:schemeClr val="tx1"/>
                </a:solidFill>
              </a:rPr>
              <a:t>Every ad is checked against Meta's health and cosmetic ad rules before launch. We go through what applies to your treatments first.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Demo data badge"/>
          <p:cNvSpPr/>
          <p:nvPr/>
        </p:nvSpPr>
        <p:spPr>
          <a:xfrm>
            <a:off x="9418320" y="320040"/>
            <a:ext cx="2240280" cy="365760"/>
          </a:xfrm>
          <a:prstGeom prst="roundRect">
            <a:avLst>
              <a:gd name="adj" fmla="val 50000"/>
            </a:avLst>
          </a:prstGeom>
          <a:solidFill>
            <a:schemeClr val="accent3"/>
          </a:solidFill>
          <a:ln w="12700">
            <a:solidFill>
              <a:schemeClr val="accent3"/>
            </a:solidFill>
            <a:prstDash val="solid"/>
          </a:ln>
        </p:spPr>
      </p:sp>
      <p:sp>
        <p:nvSpPr>
          <p:cNvPr id="3" name="Text 1"/>
          <p:cNvSpPr txBox="1"/>
          <p:nvPr/>
        </p:nvSpPr>
        <p:spPr>
          <a:xfrm>
            <a:off x="9418320" y="320040"/>
            <a:ext cx="2240280" cy="365760"/>
          </a:xfrm>
          <a:prstGeom prst="rect">
            <a:avLst/>
          </a:prstGeom>
          <a:noFill/>
          <a:ln/>
        </p:spPr>
        <p:txBody>
          <a:bodyPr wrap="square" lIns="0" tIns="0" rIns="0" bIns="0" rtlCol="0" anchor="ctr"/>
          <a:lstStyle/>
          <a:p>
            <a:pPr algn="ctr" indent="0" marL="0">
              <a:buNone/>
            </a:pPr>
            <a:r>
              <a:rPr lang="en-US" sz="1200" b="1" spc="100" kern="0" dirty="0">
                <a:solidFill>
                  <a:schemeClr val="bg1"/>
                </a:solidFill>
              </a:rPr>
              <a:t>DEMO DATA</a:t>
            </a:r>
            <a:endParaRPr lang="en-US" sz="1200" dirty="0"/>
          </a:p>
        </p:txBody>
      </p:sp>
      <p:sp>
        <p:nvSpPr>
          <p:cNvPr id="4" name="Text 2"/>
          <p:cNvSpPr txBox="1"/>
          <p:nvPr/>
        </p:nvSpPr>
        <p:spPr>
          <a:xfrm>
            <a:off x="548640" y="1143000"/>
            <a:ext cx="82296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CASE STUDY 01</a:t>
            </a:r>
            <a:endParaRPr lang="en-US" sz="1400" dirty="0"/>
          </a:p>
        </p:txBody>
      </p:sp>
      <p:sp>
        <p:nvSpPr>
          <p:cNvPr id="5" name="Text 1"/>
          <p:cNvSpPr txBox="1"/>
          <p:nvPr>
            <p:ph idx="101" type="title" hasCustomPrompt="1"/>
          </p:nvPr>
        </p:nvSpPr>
        <p:spPr>
          <a:xfrm>
            <a:off x="548640" y="1554480"/>
            <a:ext cx="5394960" cy="822960"/>
          </a:xfrm>
          <a:prstGeom prst="rect">
            <a:avLst/>
          </a:prstGeom>
          <a:noFill/>
          <a:ln/>
        </p:spPr>
        <p:txBody>
          <a:bodyPr wrap="square" lIns="0" tIns="0" rIns="0" bIns="0" rtlCol="0" anchor="t"/>
          <a:lstStyle/>
          <a:p>
            <a:pPr algn="l" indent="0" marL="0">
              <a:buNone/>
            </a:pPr>
            <a:r>
              <a:rPr lang="en-US" sz="3000" b="1" dirty="0">
                <a:solidFill>
                  <a:schemeClr val="bg1"/>
                </a:solidFill>
              </a:rPr>
              <a:t>Med Spa Clinic, Mumbai (demo)</a:t>
            </a:r>
            <a:endParaRPr lang="en-US" sz="3000" dirty="0"/>
          </a:p>
        </p:txBody>
      </p:sp>
      <p:sp>
        <p:nvSpPr>
          <p:cNvPr id="6" name="Text 4"/>
          <p:cNvSpPr txBox="1"/>
          <p:nvPr/>
        </p:nvSpPr>
        <p:spPr>
          <a:xfrm>
            <a:off x="548640" y="2468880"/>
            <a:ext cx="5394960" cy="1371600"/>
          </a:xfrm>
          <a:prstGeom prst="rect">
            <a:avLst/>
          </a:prstGeom>
          <a:noFill/>
          <a:ln/>
        </p:spPr>
        <p:txBody>
          <a:bodyPr wrap="square" lIns="0" tIns="0" rIns="0" bIns="0" rtlCol="0" anchor="ctr"/>
          <a:lstStyle/>
          <a:p>
            <a:pPr indent="0" marL="0">
              <a:buNone/>
            </a:pPr>
            <a:r>
              <a:rPr lang="en-US" sz="9600" b="1" dirty="0">
                <a:solidFill>
                  <a:schemeClr val="accent1"/>
                </a:solidFill>
              </a:rPr>
              <a:t>72</a:t>
            </a:r>
            <a:endParaRPr lang="en-US" sz="9600" dirty="0"/>
          </a:p>
        </p:txBody>
      </p:sp>
      <p:sp>
        <p:nvSpPr>
          <p:cNvPr id="7" name="Text 5"/>
          <p:cNvSpPr txBox="1"/>
          <p:nvPr/>
        </p:nvSpPr>
        <p:spPr>
          <a:xfrm>
            <a:off x="548640" y="3840480"/>
            <a:ext cx="5394960" cy="731520"/>
          </a:xfrm>
          <a:prstGeom prst="rect">
            <a:avLst/>
          </a:prstGeom>
          <a:noFill/>
          <a:ln/>
        </p:spPr>
        <p:txBody>
          <a:bodyPr wrap="square" lIns="0" tIns="0" rIns="0" bIns="0" rtlCol="0" anchor="t"/>
          <a:lstStyle/>
          <a:p>
            <a:pPr indent="0" marL="0">
              <a:buNone/>
            </a:pPr>
            <a:r>
              <a:rPr lang="en-US" sz="1800" dirty="0">
                <a:solidFill>
                  <a:schemeClr val="accent5"/>
                </a:solidFill>
              </a:rPr>
              <a:t>attended new-patient appointments a month, up from 22</a:t>
            </a:r>
            <a:endParaRPr lang="en-US" sz="1800" dirty="0"/>
          </a:p>
        </p:txBody>
      </p:sp>
      <p:sp>
        <p:nvSpPr>
          <p:cNvPr id="8" name="Metric chip 1"/>
          <p:cNvSpPr/>
          <p:nvPr/>
        </p:nvSpPr>
        <p:spPr>
          <a:xfrm>
            <a:off x="548640" y="4800600"/>
            <a:ext cx="1719072" cy="1280160"/>
          </a:xfrm>
          <a:prstGeom prst="roundRect">
            <a:avLst>
              <a:gd name="adj" fmla="val 7143"/>
            </a:avLst>
          </a:prstGeom>
          <a:solidFill>
            <a:schemeClr val="accent6"/>
          </a:solidFill>
          <a:ln w="12700">
            <a:solidFill>
              <a:schemeClr val="accent6"/>
            </a:solidFill>
            <a:prstDash val="solid"/>
          </a:ln>
        </p:spPr>
      </p:sp>
      <p:sp>
        <p:nvSpPr>
          <p:cNvPr id="9" name="Text 7"/>
          <p:cNvSpPr txBox="1"/>
          <p:nvPr/>
        </p:nvSpPr>
        <p:spPr>
          <a:xfrm>
            <a:off x="6400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4h → 2 min</a:t>
            </a:r>
            <a:endParaRPr lang="en-US" sz="2000" dirty="0"/>
          </a:p>
        </p:txBody>
      </p:sp>
      <p:sp>
        <p:nvSpPr>
          <p:cNvPr id="10" name="Text 8"/>
          <p:cNvSpPr txBox="1"/>
          <p:nvPr/>
        </p:nvSpPr>
        <p:spPr>
          <a:xfrm>
            <a:off x="6400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First reply</a:t>
            </a:r>
            <a:endParaRPr lang="en-US" sz="1400" dirty="0"/>
          </a:p>
        </p:txBody>
      </p:sp>
      <p:sp>
        <p:nvSpPr>
          <p:cNvPr id="11" name="Metric chip 2"/>
          <p:cNvSpPr/>
          <p:nvPr/>
        </p:nvSpPr>
        <p:spPr>
          <a:xfrm>
            <a:off x="2377440" y="4800600"/>
            <a:ext cx="1719072" cy="1280160"/>
          </a:xfrm>
          <a:prstGeom prst="roundRect">
            <a:avLst>
              <a:gd name="adj" fmla="val 7143"/>
            </a:avLst>
          </a:prstGeom>
          <a:solidFill>
            <a:schemeClr val="accent6"/>
          </a:solidFill>
          <a:ln w="12700">
            <a:solidFill>
              <a:schemeClr val="accent6"/>
            </a:solidFill>
            <a:prstDash val="solid"/>
          </a:ln>
        </p:spPr>
      </p:sp>
      <p:sp>
        <p:nvSpPr>
          <p:cNvPr id="12" name="Text 10"/>
          <p:cNvSpPr txBox="1"/>
          <p:nvPr/>
        </p:nvSpPr>
        <p:spPr>
          <a:xfrm>
            <a:off x="24688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58% → 81%</a:t>
            </a:r>
            <a:endParaRPr lang="en-US" sz="2000" dirty="0"/>
          </a:p>
        </p:txBody>
      </p:sp>
      <p:sp>
        <p:nvSpPr>
          <p:cNvPr id="13" name="Text 11"/>
          <p:cNvSpPr txBox="1"/>
          <p:nvPr/>
        </p:nvSpPr>
        <p:spPr>
          <a:xfrm>
            <a:off x="24688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Show-up rate</a:t>
            </a:r>
            <a:endParaRPr lang="en-US" sz="1400" dirty="0"/>
          </a:p>
        </p:txBody>
      </p:sp>
      <p:sp>
        <p:nvSpPr>
          <p:cNvPr id="14" name="Metric chip 3"/>
          <p:cNvSpPr/>
          <p:nvPr/>
        </p:nvSpPr>
        <p:spPr>
          <a:xfrm>
            <a:off x="4206240" y="4800600"/>
            <a:ext cx="1719072" cy="1280160"/>
          </a:xfrm>
          <a:prstGeom prst="roundRect">
            <a:avLst>
              <a:gd name="adj" fmla="val 7143"/>
            </a:avLst>
          </a:prstGeom>
          <a:solidFill>
            <a:schemeClr val="accent6"/>
          </a:solidFill>
          <a:ln w="12700">
            <a:solidFill>
              <a:schemeClr val="accent6"/>
            </a:solidFill>
            <a:prstDash val="solid"/>
          </a:ln>
        </p:spPr>
      </p:sp>
      <p:sp>
        <p:nvSpPr>
          <p:cNvPr id="15" name="Text 13"/>
          <p:cNvSpPr txBox="1"/>
          <p:nvPr/>
        </p:nvSpPr>
        <p:spPr>
          <a:xfrm>
            <a:off x="4297680" y="4892040"/>
            <a:ext cx="1536192" cy="502920"/>
          </a:xfrm>
          <a:prstGeom prst="rect">
            <a:avLst/>
          </a:prstGeom>
          <a:noFill/>
          <a:ln/>
        </p:spPr>
        <p:txBody>
          <a:bodyPr wrap="square" lIns="0" tIns="0" rIns="0" bIns="0" rtlCol="0" anchor="ctr"/>
          <a:lstStyle/>
          <a:p>
            <a:pPr algn="ctr" indent="0" marL="0">
              <a:buNone/>
            </a:pPr>
            <a:r>
              <a:rPr lang="en-US" sz="2000" b="1" dirty="0">
                <a:solidFill>
                  <a:schemeClr val="accent1"/>
                </a:solidFill>
              </a:rPr>
              <a:t>₹2,400</a:t>
            </a:r>
            <a:endParaRPr lang="en-US" sz="2000" dirty="0"/>
          </a:p>
        </p:txBody>
      </p:sp>
      <p:sp>
        <p:nvSpPr>
          <p:cNvPr id="16" name="Text 14"/>
          <p:cNvSpPr txBox="1"/>
          <p:nvPr/>
        </p:nvSpPr>
        <p:spPr>
          <a:xfrm>
            <a:off x="4297680" y="5440680"/>
            <a:ext cx="1536192" cy="548640"/>
          </a:xfrm>
          <a:prstGeom prst="rect">
            <a:avLst/>
          </a:prstGeom>
          <a:noFill/>
          <a:ln/>
        </p:spPr>
        <p:txBody>
          <a:bodyPr wrap="square" lIns="0" tIns="0" rIns="0" bIns="0" rtlCol="0" anchor="t"/>
          <a:lstStyle/>
          <a:p>
            <a:pPr algn="ctr" indent="0" marL="0">
              <a:buNone/>
            </a:pPr>
            <a:r>
              <a:rPr lang="en-US" sz="1400" dirty="0">
                <a:solidFill>
                  <a:schemeClr val="bg1"/>
                </a:solidFill>
              </a:rPr>
              <a:t>Cost per attended appt</a:t>
            </a:r>
            <a:endParaRPr lang="en-US" sz="1400" dirty="0"/>
          </a:p>
        </p:txBody>
      </p:sp>
      <p:sp>
        <p:nvSpPr>
          <p:cNvPr id="17" name="Chart panel"/>
          <p:cNvSpPr/>
          <p:nvPr/>
        </p:nvSpPr>
        <p:spPr>
          <a:xfrm>
            <a:off x="6309360" y="1143000"/>
            <a:ext cx="5349240" cy="4937760"/>
          </a:xfrm>
          <a:prstGeom prst="roundRect">
            <a:avLst>
              <a:gd name="adj" fmla="val 2222"/>
            </a:avLst>
          </a:prstGeom>
          <a:solidFill>
            <a:schemeClr val="accent6"/>
          </a:solidFill>
          <a:ln w="12700">
            <a:solidFill>
              <a:schemeClr val="accent6"/>
            </a:solidFill>
            <a:prstDash val="solid"/>
          </a:ln>
        </p:spPr>
      </p:sp>
      <p:graphicFrame>
        <p:nvGraphicFramePr>
          <p:cNvPr id="18" name="Chart 0" descr=""/>
          <p:cNvGraphicFramePr/>
          <p:nvPr/>
        </p:nvGraphicFramePr>
        <p:xfrm>
          <a:off x="6446520" y="1280160"/>
          <a:ext cx="5074920" cy="46634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theme/theme1.xml><?xml version="1.0" encoding="utf-8"?>
<a:theme xmlns:a="http://schemas.openxmlformats.org/drawingml/2006/main" name="Dreamline Clinics Short">
  <a:themeElements>
    <a:clrScheme name="Dreamline Clinics Short">
      <a:dk1>
        <a:srgbClr val="0B1636"/>
      </a:dk1>
      <a:lt1>
        <a:srgbClr val="FFFFFF"/>
      </a:lt1>
      <a:dk2>
        <a:srgbClr val="0F2057"/>
      </a:dk2>
      <a:lt2>
        <a:srgbClr val="EEF2FA"/>
      </a:lt2>
      <a:accent1>
        <a:srgbClr val="5FE0C0"/>
      </a:accent1>
      <a:accent2>
        <a:srgbClr val="0B2E9B"/>
      </a:accent2>
      <a:accent3>
        <a:srgbClr val="E0594D"/>
      </a:accent3>
      <a:accent4>
        <a:srgbClr val="F2B84B"/>
      </a:accent4>
      <a:accent5>
        <a:srgbClr val="9FB0D0"/>
      </a:accent5>
      <a:accent6>
        <a:srgbClr val="1B2B63"/>
      </a:accent6>
      <a:hlink>
        <a:srgbClr val="5FE0C0"/>
      </a:hlink>
      <a:folHlink>
        <a:srgbClr val="9FB0D0"/>
      </a:folHlink>
    </a:clrScheme>
    <a:fontScheme name="Dreamline Clinics Sho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Dreamline 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Dreamline Labs - Patient Flow System (Live Call)</dc:title>
  <dc:subject>PptxGenJS Presentation</dc:subject>
  <dc:creator>Dreamline Labs</dc:creator>
  <cp:lastModifiedBy>Dreamline Labs</cp:lastModifiedBy>
  <cp:revision>1</cp:revision>
  <dcterms:created xsi:type="dcterms:W3CDTF">2026-10-23T06:31:45Z</dcterms:created>
  <dcterms:modified xsi:type="dcterms:W3CDTF">2026-10-23T06:31:45Z</dcterms:modified>
</cp:coreProperties>
</file>