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659ca169-19da-1a22-de63-0ef33989f206}">
          <p14:sldIdLst>
            <p14:sldId id="256"/>
          </p14:sldIdLst>
        </p14:section>
        <p14:section name="Problem" id="{1eee28ae-c397-605c-8b11-786ee573133c}">
          <p14:sldIdLst>
            <p14:sldId id="257"/>
            <p14:sldId id="258"/>
            <p14:sldId id="259"/>
          </p14:sldIdLst>
        </p14:section>
        <p14:section name="Solution" id="{0de228e3-411e-be25-2b01-293ce85df0da}">
          <p14:sldIdLst>
            <p14:sldId id="260"/>
            <p14:sldId id="261"/>
            <p14:sldId id="262"/>
          </p14:sldIdLst>
        </p14:section>
        <p14:section name="Fit" id="{4bc56e12-a575-1e8f-e166-4a6e8b6ac73f}">
          <p14:sldIdLst>
            <p14:sldId id="263"/>
            <p14:sldId id="264"/>
          </p14:sldIdLst>
        </p14:section>
        <p14:section name="Offer" id="{1ab9bf1f-3ff8-68fb-420f-7ba14df04713}">
          <p14:sldIdLst>
            <p14:sldId id="265"/>
            <p14:sldId id="266"/>
            <p14:sldId id="267"/>
            <p14:sldId id="268"/>
          </p14:sldIdLst>
        </p14:section>
        <p14:section name="Close" id="{f4004dc7-6965-e1b3-fd65-9d62a03ec830}">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(30 sec). Don't read the slide. Say: 'Thanks for the time. I'll keep this to about 20 minutes and leave the rest for your questions. I want to show you how we get new patients booked and sitting in your chair, and then we'll see if it makes sense for your clinic.' Ask them to say what they run (treatments, team size, current ad spend) so you can point the rest of the deck at their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work with private clinics where one new patient is worth a lot. The treatment changes, but the path is always the same: someone sees an ad, asks a question, books, shows up, and gets treated. Most clinics lose people at every step of that path.' Then ask: 'Which of these is closest to you?'  Know this: the system is built and written up for aesthetic and med-spa clinics today. For hair, skin, IVF and dental we adapt it. Be upfront about that if asked (see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diagnosis slide. Let the owner nod. Ask: 'Which of these four is happening in your clinic right now?' Whichever they pick becomes the thread you pull for the rest of the call. Do NOT quote industry statistics here unless you have a source you can name. Their own answer is stronger than any stat.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SLIDE. Ask the six questions in order and write the answers down (or type them into a shared note). Work out the drop-off out loud: 'So out of 100 enquiries, 40 get a reply in 5 minutes, 30 book, 20 show up. Which of those would you fix first?' Never invent their numbers. If they don't know, that is the finding: 'Most clinics don't know, because nobody tracks from click to treated patient. That's step 6 of what we do.' Keep this to 4-5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in 60 seconds. Point at the weak step they named on the last slide and say: 'This is where we start.' Key line: 'Most agencies stop at step 1. We own all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all six. Pick the two that match their pain from slide 4. If speed was the leak, spend time on step 3. If no-shows, step 4. If 'my agency sends useless reports', step 6. Move on in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happens today if someone messages your clinic at 10pm on a Sunday?' Let them answer. Don't claim a specific stat about response time and conversion unless you can cite it. The point is made by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row that matches the person on the call and speak to it only. IMPORTANT: this table is how we adapt the method, not proof of results in each specialty. The website is written for aesthetic and med-spa clinics only. For IVF and fertility, advertising rules are stricter and vary by country, so say: 'We write to the platform's rules and we'll go through what your regulator allows with you before anything goes live.' Don't promise anything on compliance beyond that. Have the clinic's own compliance contact confirm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their current agency: 'Do you get a report that says how many new patients were treated because of the ads, or one that says reach and cost per lead?' This is the trust-builder. It also supports the guarantee on the next slide because we count appointments from YOUR booking system, not from ad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slide exactly as written. Do NOT say 'or you don't pay' or 'money back'. The website headline says 'or you don't pay', but the guarantee terms say we keep working at no charge until the number is hit. If a buyer hears 'refund' and later finds it isn't, you lose trust and may have a dispute. Recommended fix: change the website headline to match the terms. Also: the 75-100 appointments figure on the site is a headline target, but each clinic's actual number is set at day 30 from real data. Say that out loud. Ask: 'Does it make sense that we agree the number after seeing 30 days of your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qualifies them and raises your status. Ask: 'Looking at the left side, is there anything that isn't true for you?' If they're not a fit, say so on the call. It builds trust and protects the guarantee. Note: the site says 'aesthetic or med-spa' in the fit list. For other specialties you decide per clinic.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closer, not an opener. Values are the stand-alone prices shown on the website ($750 + $1,500 + $1,000 + $500 = $3,750). Say 'stand-alone value' not 'worth', and be ready to explain how you priced them. If you want urgency, only use a real one, such as a real onboarding start date that the website has in NEXT_START. Don't invent scarcity.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'If we start on [date], the audit lands by [date], and your first ads go live by [date].' Only promise these dates if your team can hit them. Check capacity before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honest. Do not describe any clinic result you haven't delivered. Use the line: 'We haven't run this for a clinic yet. That's why the guarantee is on us, and why you'll see your own numbers every week.' This is your strongest trust move, but it is also your biggest sales risk. The most useful thing you can do before presenting this deck is run a pilot with one or two clinics, even at a discount, and add the results here. Also confirm what '30,000+ appointments' refers to (which brands, what counts as an appointment) before you present it, because a clinic owner will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objections beyond these: (1) 'We tried agencies before.' Ask what went wrong, then point to the weekly report and the guarantee. (2) 'Can I see a case study?' Use the honest line from the last slide. (3) 'What does it cost?' Answer on the next slide. (4) 'I need to think about it.' Ask: 'What would you need to see to feel sure?' and book a date for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IS NOT ON THE WEBSITE, so decide it before the call and say the number out loud here. Suggested way to frame it: state ad budget first, then your fee, then what one extra treated patient is worth to them (use THEIR number from the worksheet). Then stop talking. Don't discount in the same breath. If they push, trade price for something real, such as a longer term or a quicker start, not a lower fee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Say: 'Based on what you told me, [their biggest leak] is costing you [their number]. Does it make sense to start?' Then be quiet. If yes, send the agreement the same day. If not yet, book a dated follow-up before you hang up. Never end with 'let me know'. If you have a real start date, set NEXT_START on the site and mention it here. Only say 'limited spots' if that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txBox="1"/>
          <p:nvPr/>
        </p:nvSpPr>
        <p:spPr>
          <a:xfrm>
            <a:off x="548640" y="6355080"/>
            <a:ext cx="3657600" cy="274320"/>
          </a:xfrm>
          <a:prstGeom prst="rect">
            <a:avLst/>
          </a:prstGeom>
          <a:noFill/>
          <a:ln/>
        </p:spPr>
        <p:txBody>
          <a:bodyPr wrap="square" lIns="0" tIns="0" rIns="0" bIns="0" rtlCol="0" anchor="ctr"/>
          <a:lstStyle/>
          <a:p>
            <a:pPr indent="0" marL="0">
              <a:buNone/>
            </a:pPr>
            <a:r>
              <a:rPr lang="en-US" sz="1100" dirty="0">
                <a:solidFill>
                  <a:schemeClr val="accent6"/>
                </a:solidFill>
              </a:rPr>
              <a:t>Dreamline Labs</a:t>
            </a:r>
            <a:endParaRPr lang="en-US" sz="11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chemeClr val="accent5"/>
                </a:solidFill>
              </a:rPr>
              <a:t>Dreamline Labs  |  Patient Flow System</a:t>
            </a:r>
            <a:endParaRPr lang="en-US" sz="11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TITLE_ONLY">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Dreamline Labs  |  Patient Flow System</a:t>
            </a:r>
            <a:endParaRPr lang="en-US" sz="11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71600"/>
            <a:ext cx="8229600" cy="365760"/>
          </a:xfrm>
          <a:prstGeom prst="rect">
            <a:avLst/>
          </a:prstGeom>
          <a:noFill/>
          <a:ln/>
        </p:spPr>
        <p:txBody>
          <a:bodyPr wrap="square" lIns="0" tIns="0" rIns="0" bIns="0" rtlCol="0" anchor="ctr"/>
          <a:lstStyle/>
          <a:p>
            <a:pPr indent="0" marL="0">
              <a:buNone/>
            </a:pPr>
            <a:r>
              <a:rPr lang="en-US" sz="1600" b="1" spc="400" kern="0" dirty="0">
                <a:solidFill>
                  <a:schemeClr val="accent4"/>
                </a:solidFill>
              </a:rPr>
              <a:t>THE PATIENT FLOW SYSTEM</a:t>
            </a:r>
            <a:endParaRPr lang="en-US" sz="1600" dirty="0"/>
          </a:p>
        </p:txBody>
      </p:sp>
      <p:sp>
        <p:nvSpPr>
          <p:cNvPr id="3" name="Text 1"/>
          <p:cNvSpPr txBox="1"/>
          <p:nvPr/>
        </p:nvSpPr>
        <p:spPr>
          <a:xfrm>
            <a:off x="731520" y="1920240"/>
            <a:ext cx="7680960" cy="219456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More treatment-ready patients in your chair. Not just more leads.</a:t>
            </a:r>
            <a:endParaRPr lang="en-US" sz="4400" dirty="0"/>
          </a:p>
        </p:txBody>
      </p:sp>
      <p:sp>
        <p:nvSpPr>
          <p:cNvPr id="4" name="Text 2"/>
          <p:cNvSpPr txBox="1"/>
          <p:nvPr/>
        </p:nvSpPr>
        <p:spPr>
          <a:xfrm>
            <a:off x="731520" y="4389120"/>
            <a:ext cx="6949440" cy="822960"/>
          </a:xfrm>
          <a:prstGeom prst="rect">
            <a:avLst/>
          </a:prstGeom>
          <a:noFill/>
          <a:ln/>
        </p:spPr>
        <p:txBody>
          <a:bodyPr wrap="square" lIns="0" tIns="0" rIns="0" bIns="0" rtlCol="0" anchor="t"/>
          <a:lstStyle/>
          <a:p>
            <a:pPr indent="0" marL="0">
              <a:buNone/>
            </a:pPr>
            <a:r>
              <a:rPr lang="en-US" sz="1800" dirty="0">
                <a:solidFill>
                  <a:schemeClr val="accent6"/>
                </a:solidFill>
              </a:rPr>
              <a:t>A done-for-you growth system for aesthetic, hair, skin, fertility and other private clinics</a:t>
            </a:r>
            <a:endParaRPr lang="en-US" sz="1800" dirty="0"/>
          </a:p>
        </p:txBody>
      </p:sp>
      <p:sp>
        <p:nvSpPr>
          <p:cNvPr id="5" name="Text 3"/>
          <p:cNvSpPr txBox="1"/>
          <p:nvPr/>
        </p:nvSpPr>
        <p:spPr>
          <a:xfrm>
            <a:off x="731520" y="5577840"/>
            <a:ext cx="6400800" cy="320040"/>
          </a:xfrm>
          <a:prstGeom prst="rect">
            <a:avLst/>
          </a:prstGeom>
          <a:noFill/>
          <a:ln/>
        </p:spPr>
        <p:txBody>
          <a:bodyPr wrap="square" lIns="0" tIns="0" rIns="0" bIns="0" rtlCol="0" anchor="ctr"/>
          <a:lstStyle/>
          <a:p>
            <a:pPr indent="0" marL="0">
              <a:buNone/>
            </a:pPr>
            <a:r>
              <a:rPr lang="en-US" sz="1400" dirty="0">
                <a:solidFill>
                  <a:schemeClr val="bg1"/>
                </a:solidFill>
              </a:rPr>
              <a:t>Dreamline Labs  |  Nitesh Jaiswal, Founder</a:t>
            </a:r>
            <a:endParaRPr lang="en-US" sz="1400" dirty="0"/>
          </a:p>
        </p:txBody>
      </p:sp>
      <p:sp>
        <p:nvSpPr>
          <p:cNvPr id="6" name="Specialty icon FaSpa circle"/>
          <p:cNvSpPr/>
          <p:nvPr/>
        </p:nvSpPr>
        <p:spPr>
          <a:xfrm>
            <a:off x="8778240" y="1280160"/>
            <a:ext cx="1188720" cy="1188720"/>
          </a:xfrm>
          <a:prstGeom prst="ellipse">
            <a:avLst/>
          </a:prstGeom>
          <a:solidFill>
            <a:schemeClr val="accent1"/>
          </a:solidFill>
          <a:ln w="12700">
            <a:solidFill>
              <a:schemeClr val="accent1"/>
            </a:solidFill>
            <a:prstDash val="solid"/>
          </a:ln>
        </p:spPr>
      </p:sp>
      <p:pic>
        <p:nvPicPr>
          <p:cNvPr id="7" name="Specialty icon FaSpa" descr="Specialty icon FaSpa">    </p:cNvPr>
          <p:cNvPicPr>
            <a:picLocks noChangeAspect="1"/>
          </p:cNvPicPr>
          <p:nvPr/>
        </p:nvPicPr>
        <p:blipFill>
          <a:blip r:embed="rId1"/>
          <a:stretch>
            <a:fillRect/>
          </a:stretch>
        </p:blipFill>
        <p:spPr>
          <a:xfrm>
            <a:off x="9099194" y="1601114"/>
            <a:ext cx="546811" cy="546811"/>
          </a:xfrm>
          <a:prstGeom prst="rect">
            <a:avLst/>
          </a:prstGeom>
        </p:spPr>
      </p:pic>
      <p:sp>
        <p:nvSpPr>
          <p:cNvPr id="8" name="Specialty icon FaCut circle"/>
          <p:cNvSpPr/>
          <p:nvPr/>
        </p:nvSpPr>
        <p:spPr>
          <a:xfrm>
            <a:off x="10241280" y="2011680"/>
            <a:ext cx="1188720" cy="1188720"/>
          </a:xfrm>
          <a:prstGeom prst="ellipse">
            <a:avLst/>
          </a:prstGeom>
          <a:solidFill>
            <a:schemeClr val="accent1"/>
          </a:solidFill>
          <a:ln w="12700">
            <a:solidFill>
              <a:schemeClr val="accent1"/>
            </a:solidFill>
            <a:prstDash val="solid"/>
          </a:ln>
        </p:spPr>
      </p:sp>
      <p:pic>
        <p:nvPicPr>
          <p:cNvPr id="9" name="Specialty icon FaCut" descr="Specialty icon FaCut">    </p:cNvPr>
          <p:cNvPicPr>
            <a:picLocks noChangeAspect="1"/>
          </p:cNvPicPr>
          <p:nvPr/>
        </p:nvPicPr>
        <p:blipFill>
          <a:blip r:embed="rId2"/>
          <a:stretch>
            <a:fillRect/>
          </a:stretch>
        </p:blipFill>
        <p:spPr>
          <a:xfrm>
            <a:off x="10562234" y="2332634"/>
            <a:ext cx="546811" cy="546811"/>
          </a:xfrm>
          <a:prstGeom prst="rect">
            <a:avLst/>
          </a:prstGeom>
        </p:spPr>
      </p:pic>
      <p:sp>
        <p:nvSpPr>
          <p:cNvPr id="10" name="Specialty icon FaTint circle"/>
          <p:cNvSpPr/>
          <p:nvPr/>
        </p:nvSpPr>
        <p:spPr>
          <a:xfrm>
            <a:off x="8778240" y="2926080"/>
            <a:ext cx="1188720" cy="1188720"/>
          </a:xfrm>
          <a:prstGeom prst="ellipse">
            <a:avLst/>
          </a:prstGeom>
          <a:solidFill>
            <a:schemeClr val="accent1"/>
          </a:solidFill>
          <a:ln w="12700">
            <a:solidFill>
              <a:schemeClr val="accent1"/>
            </a:solidFill>
            <a:prstDash val="solid"/>
          </a:ln>
        </p:spPr>
      </p:sp>
      <p:pic>
        <p:nvPicPr>
          <p:cNvPr id="11" name="Specialty icon FaTint" descr="Specialty icon FaTint">    </p:cNvPr>
          <p:cNvPicPr>
            <a:picLocks noChangeAspect="1"/>
          </p:cNvPicPr>
          <p:nvPr/>
        </p:nvPicPr>
        <p:blipFill>
          <a:blip r:embed="rId3"/>
          <a:stretch>
            <a:fillRect/>
          </a:stretch>
        </p:blipFill>
        <p:spPr>
          <a:xfrm>
            <a:off x="9099194" y="3247034"/>
            <a:ext cx="546811" cy="546811"/>
          </a:xfrm>
          <a:prstGeom prst="rect">
            <a:avLst/>
          </a:prstGeom>
        </p:spPr>
      </p:pic>
      <p:sp>
        <p:nvSpPr>
          <p:cNvPr id="12" name="Specialty icon FaBaby circle"/>
          <p:cNvSpPr/>
          <p:nvPr/>
        </p:nvSpPr>
        <p:spPr>
          <a:xfrm>
            <a:off x="10241280" y="3657600"/>
            <a:ext cx="1188720" cy="1188720"/>
          </a:xfrm>
          <a:prstGeom prst="ellipse">
            <a:avLst/>
          </a:prstGeom>
          <a:solidFill>
            <a:schemeClr val="accent1"/>
          </a:solidFill>
          <a:ln w="12700">
            <a:solidFill>
              <a:schemeClr val="accent1"/>
            </a:solidFill>
            <a:prstDash val="solid"/>
          </a:ln>
        </p:spPr>
      </p:sp>
      <p:pic>
        <p:nvPicPr>
          <p:cNvPr id="13" name="Specialty icon FaBaby" descr="Specialty icon FaBaby">    </p:cNvPr>
          <p:cNvPicPr>
            <a:picLocks noChangeAspect="1"/>
          </p:cNvPicPr>
          <p:nvPr/>
        </p:nvPicPr>
        <p:blipFill>
          <a:blip r:embed="rId4"/>
          <a:stretch>
            <a:fillRect/>
          </a:stretch>
        </p:blipFill>
        <p:spPr>
          <a:xfrm>
            <a:off x="10562234" y="3978554"/>
            <a:ext cx="546811" cy="546811"/>
          </a:xfrm>
          <a:prstGeom prst="rect">
            <a:avLst/>
          </a:prstGeom>
        </p:spPr>
      </p:pic>
      <p:sp>
        <p:nvSpPr>
          <p:cNvPr id="14" name="Specialty icon FaTooth circle"/>
          <p:cNvSpPr/>
          <p:nvPr/>
        </p:nvSpPr>
        <p:spPr>
          <a:xfrm>
            <a:off x="8778240" y="4572000"/>
            <a:ext cx="1188720" cy="1188720"/>
          </a:xfrm>
          <a:prstGeom prst="ellipse">
            <a:avLst/>
          </a:prstGeom>
          <a:solidFill>
            <a:schemeClr val="accent1"/>
          </a:solidFill>
          <a:ln w="12700">
            <a:solidFill>
              <a:schemeClr val="accent1"/>
            </a:solidFill>
            <a:prstDash val="solid"/>
          </a:ln>
        </p:spPr>
      </p:sp>
      <p:pic>
        <p:nvPicPr>
          <p:cNvPr id="15" name="Specialty icon FaTooth" descr="Specialty icon FaTooth">    </p:cNvPr>
          <p:cNvPicPr>
            <a:picLocks noChangeAspect="1"/>
          </p:cNvPicPr>
          <p:nvPr/>
        </p:nvPicPr>
        <p:blipFill>
          <a:blip r:embed="rId5"/>
          <a:stretch>
            <a:fillRect/>
          </a:stretch>
        </p:blipFill>
        <p:spPr>
          <a:xfrm>
            <a:off x="9099194" y="4892954"/>
            <a:ext cx="546811" cy="546811"/>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tx2"/>
                </a:solidFill>
              </a:rPr>
              <a:t>Different clinics. The same patient journey.</a:t>
            </a:r>
            <a:endParaRPr lang="en-US" sz="3400" dirty="0"/>
          </a:p>
        </p:txBody>
      </p:sp>
      <p:sp>
        <p:nvSpPr>
          <p:cNvPr id="3" name="Specialty card 1"/>
          <p:cNvSpPr/>
          <p:nvPr/>
        </p:nvSpPr>
        <p:spPr>
          <a:xfrm>
            <a:off x="548640" y="1691640"/>
            <a:ext cx="3566160"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4" name="Med spa &amp; aesthetics icon circle"/>
          <p:cNvSpPr/>
          <p:nvPr/>
        </p:nvSpPr>
        <p:spPr>
          <a:xfrm>
            <a:off x="822960" y="1965960"/>
            <a:ext cx="731520" cy="731520"/>
          </a:xfrm>
          <a:prstGeom prst="ellipse">
            <a:avLst/>
          </a:prstGeom>
          <a:solidFill>
            <a:schemeClr val="bg2"/>
          </a:solidFill>
          <a:ln w="12700">
            <a:solidFill>
              <a:schemeClr val="bg2"/>
            </a:solidFill>
            <a:prstDash val="solid"/>
          </a:ln>
        </p:spPr>
      </p:sp>
      <p:pic>
        <p:nvPicPr>
          <p:cNvPr id="5" name="Med spa &amp; aesthetics icon" descr="Med spa &amp; aesthetics icon">    </p:cNvPr>
          <p:cNvPicPr>
            <a:picLocks noChangeAspect="1"/>
          </p:cNvPicPr>
          <p:nvPr/>
        </p:nvPicPr>
        <p:blipFill>
          <a:blip r:embed="rId1"/>
          <a:stretch>
            <a:fillRect/>
          </a:stretch>
        </p:blipFill>
        <p:spPr>
          <a:xfrm>
            <a:off x="1020470" y="2163470"/>
            <a:ext cx="336499" cy="336499"/>
          </a:xfrm>
          <a:prstGeom prst="rect">
            <a:avLst/>
          </a:prstGeom>
        </p:spPr>
      </p:pic>
      <p:sp>
        <p:nvSpPr>
          <p:cNvPr id="6" name="Text 3"/>
          <p:cNvSpPr txBox="1"/>
          <p:nvPr/>
        </p:nvSpPr>
        <p:spPr>
          <a:xfrm>
            <a:off x="1737360" y="1965960"/>
            <a:ext cx="2240280" cy="731520"/>
          </a:xfrm>
          <a:prstGeom prst="rect">
            <a:avLst/>
          </a:prstGeom>
          <a:noFill/>
          <a:ln/>
        </p:spPr>
        <p:txBody>
          <a:bodyPr wrap="square" lIns="0" tIns="0" rIns="0" bIns="0" rtlCol="0" anchor="ctr"/>
          <a:lstStyle/>
          <a:p>
            <a:pPr indent="0" marL="0">
              <a:buNone/>
            </a:pPr>
            <a:r>
              <a:rPr lang="en-US" sz="1800" b="1" dirty="0">
                <a:solidFill>
                  <a:schemeClr val="tx2"/>
                </a:solidFill>
              </a:rPr>
              <a:t>Med spa &amp; aesthetics</a:t>
            </a:r>
            <a:endParaRPr lang="en-US" sz="1800" dirty="0"/>
          </a:p>
        </p:txBody>
      </p:sp>
      <p:sp>
        <p:nvSpPr>
          <p:cNvPr id="7" name="Text 4"/>
          <p:cNvSpPr txBox="1"/>
          <p:nvPr/>
        </p:nvSpPr>
        <p:spPr>
          <a:xfrm>
            <a:off x="822960" y="2880360"/>
            <a:ext cx="3108960" cy="502920"/>
          </a:xfrm>
          <a:prstGeom prst="rect">
            <a:avLst/>
          </a:prstGeom>
          <a:noFill/>
          <a:ln/>
        </p:spPr>
        <p:txBody>
          <a:bodyPr wrap="square" lIns="0" tIns="0" rIns="0" bIns="0" rtlCol="0" anchor="t"/>
          <a:lstStyle/>
          <a:p>
            <a:pPr indent="0" marL="0">
              <a:buNone/>
            </a:pPr>
            <a:r>
              <a:rPr lang="en-US" sz="1400" dirty="0">
                <a:solidFill>
                  <a:schemeClr val="accent5"/>
                </a:solidFill>
              </a:rPr>
              <a:t>Injectables, lasers, facials, body</a:t>
            </a:r>
            <a:endParaRPr lang="en-US" sz="1400" dirty="0"/>
          </a:p>
        </p:txBody>
      </p:sp>
      <p:sp>
        <p:nvSpPr>
          <p:cNvPr id="8" name="Specialty card 2"/>
          <p:cNvSpPr/>
          <p:nvPr/>
        </p:nvSpPr>
        <p:spPr>
          <a:xfrm>
            <a:off x="4297680" y="1691640"/>
            <a:ext cx="3566160"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9" name="Hair restoration icon circle"/>
          <p:cNvSpPr/>
          <p:nvPr/>
        </p:nvSpPr>
        <p:spPr>
          <a:xfrm>
            <a:off x="4572000" y="1965960"/>
            <a:ext cx="731520" cy="731520"/>
          </a:xfrm>
          <a:prstGeom prst="ellipse">
            <a:avLst/>
          </a:prstGeom>
          <a:solidFill>
            <a:schemeClr val="bg2"/>
          </a:solidFill>
          <a:ln w="12700">
            <a:solidFill>
              <a:schemeClr val="bg2"/>
            </a:solidFill>
            <a:prstDash val="solid"/>
          </a:ln>
        </p:spPr>
      </p:sp>
      <p:pic>
        <p:nvPicPr>
          <p:cNvPr id="10" name="Hair restoration icon" descr="Hair restoration icon">    </p:cNvPr>
          <p:cNvPicPr>
            <a:picLocks noChangeAspect="1"/>
          </p:cNvPicPr>
          <p:nvPr/>
        </p:nvPicPr>
        <p:blipFill>
          <a:blip r:embed="rId2"/>
          <a:stretch>
            <a:fillRect/>
          </a:stretch>
        </p:blipFill>
        <p:spPr>
          <a:xfrm>
            <a:off x="4769510" y="2163470"/>
            <a:ext cx="336499" cy="336499"/>
          </a:xfrm>
          <a:prstGeom prst="rect">
            <a:avLst/>
          </a:prstGeom>
        </p:spPr>
      </p:pic>
      <p:sp>
        <p:nvSpPr>
          <p:cNvPr id="11" name="Text 7"/>
          <p:cNvSpPr txBox="1"/>
          <p:nvPr/>
        </p:nvSpPr>
        <p:spPr>
          <a:xfrm>
            <a:off x="5486400" y="1965960"/>
            <a:ext cx="2240280" cy="731520"/>
          </a:xfrm>
          <a:prstGeom prst="rect">
            <a:avLst/>
          </a:prstGeom>
          <a:noFill/>
          <a:ln/>
        </p:spPr>
        <p:txBody>
          <a:bodyPr wrap="square" lIns="0" tIns="0" rIns="0" bIns="0" rtlCol="0" anchor="ctr"/>
          <a:lstStyle/>
          <a:p>
            <a:pPr indent="0" marL="0">
              <a:buNone/>
            </a:pPr>
            <a:r>
              <a:rPr lang="en-US" sz="1800" b="1" dirty="0">
                <a:solidFill>
                  <a:schemeClr val="tx2"/>
                </a:solidFill>
              </a:rPr>
              <a:t>Hair restoration</a:t>
            </a:r>
            <a:endParaRPr lang="en-US" sz="1800" dirty="0"/>
          </a:p>
        </p:txBody>
      </p:sp>
      <p:sp>
        <p:nvSpPr>
          <p:cNvPr id="12" name="Text 8"/>
          <p:cNvSpPr txBox="1"/>
          <p:nvPr/>
        </p:nvSpPr>
        <p:spPr>
          <a:xfrm>
            <a:off x="4572000" y="2880360"/>
            <a:ext cx="3108960" cy="502920"/>
          </a:xfrm>
          <a:prstGeom prst="rect">
            <a:avLst/>
          </a:prstGeom>
          <a:noFill/>
          <a:ln/>
        </p:spPr>
        <p:txBody>
          <a:bodyPr wrap="square" lIns="0" tIns="0" rIns="0" bIns="0" rtlCol="0" anchor="t"/>
          <a:lstStyle/>
          <a:p>
            <a:pPr indent="0" marL="0">
              <a:buNone/>
            </a:pPr>
            <a:r>
              <a:rPr lang="en-US" sz="1400" dirty="0">
                <a:solidFill>
                  <a:schemeClr val="accent5"/>
                </a:solidFill>
              </a:rPr>
              <a:t>Transplants, PRP, hair-loss treatment</a:t>
            </a:r>
            <a:endParaRPr lang="en-US" sz="1400" dirty="0"/>
          </a:p>
        </p:txBody>
      </p:sp>
      <p:sp>
        <p:nvSpPr>
          <p:cNvPr id="13" name="Specialty card 3"/>
          <p:cNvSpPr/>
          <p:nvPr/>
        </p:nvSpPr>
        <p:spPr>
          <a:xfrm>
            <a:off x="8046720" y="1691640"/>
            <a:ext cx="3566160"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4" name="Skin &amp; dermatology icon circle"/>
          <p:cNvSpPr/>
          <p:nvPr/>
        </p:nvSpPr>
        <p:spPr>
          <a:xfrm>
            <a:off x="8321040" y="1965960"/>
            <a:ext cx="731520" cy="731520"/>
          </a:xfrm>
          <a:prstGeom prst="ellipse">
            <a:avLst/>
          </a:prstGeom>
          <a:solidFill>
            <a:schemeClr val="bg2"/>
          </a:solidFill>
          <a:ln w="12700">
            <a:solidFill>
              <a:schemeClr val="bg2"/>
            </a:solidFill>
            <a:prstDash val="solid"/>
          </a:ln>
        </p:spPr>
      </p:sp>
      <p:pic>
        <p:nvPicPr>
          <p:cNvPr id="15" name="Skin &amp; dermatology icon" descr="Skin &amp; dermatology icon">    </p:cNvPr>
          <p:cNvPicPr>
            <a:picLocks noChangeAspect="1"/>
          </p:cNvPicPr>
          <p:nvPr/>
        </p:nvPicPr>
        <p:blipFill>
          <a:blip r:embed="rId3"/>
          <a:stretch>
            <a:fillRect/>
          </a:stretch>
        </p:blipFill>
        <p:spPr>
          <a:xfrm>
            <a:off x="8518550" y="2163470"/>
            <a:ext cx="336499" cy="336499"/>
          </a:xfrm>
          <a:prstGeom prst="rect">
            <a:avLst/>
          </a:prstGeom>
        </p:spPr>
      </p:pic>
      <p:sp>
        <p:nvSpPr>
          <p:cNvPr id="16" name="Text 11"/>
          <p:cNvSpPr txBox="1"/>
          <p:nvPr/>
        </p:nvSpPr>
        <p:spPr>
          <a:xfrm>
            <a:off x="9235440" y="1965960"/>
            <a:ext cx="2240280" cy="731520"/>
          </a:xfrm>
          <a:prstGeom prst="rect">
            <a:avLst/>
          </a:prstGeom>
          <a:noFill/>
          <a:ln/>
        </p:spPr>
        <p:txBody>
          <a:bodyPr wrap="square" lIns="0" tIns="0" rIns="0" bIns="0" rtlCol="0" anchor="ctr"/>
          <a:lstStyle/>
          <a:p>
            <a:pPr indent="0" marL="0">
              <a:buNone/>
            </a:pPr>
            <a:r>
              <a:rPr lang="en-US" sz="1800" b="1" dirty="0">
                <a:solidFill>
                  <a:schemeClr val="tx2"/>
                </a:solidFill>
              </a:rPr>
              <a:t>Skin &amp; dermatology</a:t>
            </a:r>
            <a:endParaRPr lang="en-US" sz="1800" dirty="0"/>
          </a:p>
        </p:txBody>
      </p:sp>
      <p:sp>
        <p:nvSpPr>
          <p:cNvPr id="17" name="Text 12"/>
          <p:cNvSpPr txBox="1"/>
          <p:nvPr/>
        </p:nvSpPr>
        <p:spPr>
          <a:xfrm>
            <a:off x="8321040" y="2880360"/>
            <a:ext cx="3108960" cy="502920"/>
          </a:xfrm>
          <a:prstGeom prst="rect">
            <a:avLst/>
          </a:prstGeom>
          <a:noFill/>
          <a:ln/>
        </p:spPr>
        <p:txBody>
          <a:bodyPr wrap="square" lIns="0" tIns="0" rIns="0" bIns="0" rtlCol="0" anchor="t"/>
          <a:lstStyle/>
          <a:p>
            <a:pPr indent="0" marL="0">
              <a:buNone/>
            </a:pPr>
            <a:r>
              <a:rPr lang="en-US" sz="1400" dirty="0">
                <a:solidFill>
                  <a:schemeClr val="accent5"/>
                </a:solidFill>
              </a:rPr>
              <a:t>Acne, pigmentation, anti-ageing</a:t>
            </a:r>
            <a:endParaRPr lang="en-US" sz="1400" dirty="0"/>
          </a:p>
        </p:txBody>
      </p:sp>
      <p:sp>
        <p:nvSpPr>
          <p:cNvPr id="18" name="Specialty card 4"/>
          <p:cNvSpPr/>
          <p:nvPr/>
        </p:nvSpPr>
        <p:spPr>
          <a:xfrm>
            <a:off x="548640" y="3749040"/>
            <a:ext cx="3566160"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9" name="IVF &amp; fertility icon circle"/>
          <p:cNvSpPr/>
          <p:nvPr/>
        </p:nvSpPr>
        <p:spPr>
          <a:xfrm>
            <a:off x="822960" y="4023360"/>
            <a:ext cx="731520" cy="731520"/>
          </a:xfrm>
          <a:prstGeom prst="ellipse">
            <a:avLst/>
          </a:prstGeom>
          <a:solidFill>
            <a:schemeClr val="bg2"/>
          </a:solidFill>
          <a:ln w="12700">
            <a:solidFill>
              <a:schemeClr val="bg2"/>
            </a:solidFill>
            <a:prstDash val="solid"/>
          </a:ln>
        </p:spPr>
      </p:sp>
      <p:pic>
        <p:nvPicPr>
          <p:cNvPr id="20" name="IVF &amp; fertility icon" descr="IVF &amp; fertility icon">    </p:cNvPr>
          <p:cNvPicPr>
            <a:picLocks noChangeAspect="1"/>
          </p:cNvPicPr>
          <p:nvPr/>
        </p:nvPicPr>
        <p:blipFill>
          <a:blip r:embed="rId4"/>
          <a:stretch>
            <a:fillRect/>
          </a:stretch>
        </p:blipFill>
        <p:spPr>
          <a:xfrm>
            <a:off x="1020470" y="4220870"/>
            <a:ext cx="336499" cy="336499"/>
          </a:xfrm>
          <a:prstGeom prst="rect">
            <a:avLst/>
          </a:prstGeom>
        </p:spPr>
      </p:pic>
      <p:sp>
        <p:nvSpPr>
          <p:cNvPr id="21" name="Text 15"/>
          <p:cNvSpPr txBox="1"/>
          <p:nvPr/>
        </p:nvSpPr>
        <p:spPr>
          <a:xfrm>
            <a:off x="1737360" y="4023360"/>
            <a:ext cx="2240280" cy="731520"/>
          </a:xfrm>
          <a:prstGeom prst="rect">
            <a:avLst/>
          </a:prstGeom>
          <a:noFill/>
          <a:ln/>
        </p:spPr>
        <p:txBody>
          <a:bodyPr wrap="square" lIns="0" tIns="0" rIns="0" bIns="0" rtlCol="0" anchor="ctr"/>
          <a:lstStyle/>
          <a:p>
            <a:pPr indent="0" marL="0">
              <a:buNone/>
            </a:pPr>
            <a:r>
              <a:rPr lang="en-US" sz="1800" b="1" dirty="0">
                <a:solidFill>
                  <a:schemeClr val="tx2"/>
                </a:solidFill>
              </a:rPr>
              <a:t>IVF &amp; fertility</a:t>
            </a:r>
            <a:endParaRPr lang="en-US" sz="1800" dirty="0"/>
          </a:p>
        </p:txBody>
      </p:sp>
      <p:sp>
        <p:nvSpPr>
          <p:cNvPr id="22" name="Text 16"/>
          <p:cNvSpPr txBox="1"/>
          <p:nvPr/>
        </p:nvSpPr>
        <p:spPr>
          <a:xfrm>
            <a:off x="822960" y="4937760"/>
            <a:ext cx="3108960" cy="502920"/>
          </a:xfrm>
          <a:prstGeom prst="rect">
            <a:avLst/>
          </a:prstGeom>
          <a:noFill/>
          <a:ln/>
        </p:spPr>
        <p:txBody>
          <a:bodyPr wrap="square" lIns="0" tIns="0" rIns="0" bIns="0" rtlCol="0" anchor="t"/>
          <a:lstStyle/>
          <a:p>
            <a:pPr indent="0" marL="0">
              <a:buNone/>
            </a:pPr>
            <a:r>
              <a:rPr lang="en-US" sz="1400" dirty="0">
                <a:solidFill>
                  <a:schemeClr val="accent5"/>
                </a:solidFill>
              </a:rPr>
              <a:t>Consults, IUI, IVF cycles</a:t>
            </a:r>
            <a:endParaRPr lang="en-US" sz="1400" dirty="0"/>
          </a:p>
        </p:txBody>
      </p:sp>
      <p:sp>
        <p:nvSpPr>
          <p:cNvPr id="23" name="Specialty card 5"/>
          <p:cNvSpPr/>
          <p:nvPr/>
        </p:nvSpPr>
        <p:spPr>
          <a:xfrm>
            <a:off x="4297680" y="3749040"/>
            <a:ext cx="3566160"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24" name="Dental &amp; ortho icon circle"/>
          <p:cNvSpPr/>
          <p:nvPr/>
        </p:nvSpPr>
        <p:spPr>
          <a:xfrm>
            <a:off x="4572000" y="4023360"/>
            <a:ext cx="731520" cy="731520"/>
          </a:xfrm>
          <a:prstGeom prst="ellipse">
            <a:avLst/>
          </a:prstGeom>
          <a:solidFill>
            <a:schemeClr val="bg2"/>
          </a:solidFill>
          <a:ln w="12700">
            <a:solidFill>
              <a:schemeClr val="bg2"/>
            </a:solidFill>
            <a:prstDash val="solid"/>
          </a:ln>
        </p:spPr>
      </p:sp>
      <p:pic>
        <p:nvPicPr>
          <p:cNvPr id="25" name="Dental &amp; ortho icon" descr="Dental &amp; ortho icon">    </p:cNvPr>
          <p:cNvPicPr>
            <a:picLocks noChangeAspect="1"/>
          </p:cNvPicPr>
          <p:nvPr/>
        </p:nvPicPr>
        <p:blipFill>
          <a:blip r:embed="rId5"/>
          <a:stretch>
            <a:fillRect/>
          </a:stretch>
        </p:blipFill>
        <p:spPr>
          <a:xfrm>
            <a:off x="4769510" y="4220870"/>
            <a:ext cx="336499" cy="336499"/>
          </a:xfrm>
          <a:prstGeom prst="rect">
            <a:avLst/>
          </a:prstGeom>
        </p:spPr>
      </p:pic>
      <p:sp>
        <p:nvSpPr>
          <p:cNvPr id="26" name="Text 19"/>
          <p:cNvSpPr txBox="1"/>
          <p:nvPr/>
        </p:nvSpPr>
        <p:spPr>
          <a:xfrm>
            <a:off x="5486400" y="4023360"/>
            <a:ext cx="2240280" cy="731520"/>
          </a:xfrm>
          <a:prstGeom prst="rect">
            <a:avLst/>
          </a:prstGeom>
          <a:noFill/>
          <a:ln/>
        </p:spPr>
        <p:txBody>
          <a:bodyPr wrap="square" lIns="0" tIns="0" rIns="0" bIns="0" rtlCol="0" anchor="ctr"/>
          <a:lstStyle/>
          <a:p>
            <a:pPr indent="0" marL="0">
              <a:buNone/>
            </a:pPr>
            <a:r>
              <a:rPr lang="en-US" sz="1800" b="1" dirty="0">
                <a:solidFill>
                  <a:schemeClr val="tx2"/>
                </a:solidFill>
              </a:rPr>
              <a:t>Dental &amp; ortho</a:t>
            </a:r>
            <a:endParaRPr lang="en-US" sz="1800" dirty="0"/>
          </a:p>
        </p:txBody>
      </p:sp>
      <p:sp>
        <p:nvSpPr>
          <p:cNvPr id="27" name="Text 20"/>
          <p:cNvSpPr txBox="1"/>
          <p:nvPr/>
        </p:nvSpPr>
        <p:spPr>
          <a:xfrm>
            <a:off x="4572000" y="4937760"/>
            <a:ext cx="3108960" cy="502920"/>
          </a:xfrm>
          <a:prstGeom prst="rect">
            <a:avLst/>
          </a:prstGeom>
          <a:noFill/>
          <a:ln/>
        </p:spPr>
        <p:txBody>
          <a:bodyPr wrap="square" lIns="0" tIns="0" rIns="0" bIns="0" rtlCol="0" anchor="t"/>
          <a:lstStyle/>
          <a:p>
            <a:pPr indent="0" marL="0">
              <a:buNone/>
            </a:pPr>
            <a:r>
              <a:rPr lang="en-US" sz="1400" dirty="0">
                <a:solidFill>
                  <a:schemeClr val="accent5"/>
                </a:solidFill>
              </a:rPr>
              <a:t>Implants, aligners, smile makeover</a:t>
            </a:r>
            <a:endParaRPr lang="en-US" sz="1400" dirty="0"/>
          </a:p>
        </p:txBody>
      </p:sp>
      <p:sp>
        <p:nvSpPr>
          <p:cNvPr id="28" name="Specialty card 6"/>
          <p:cNvSpPr/>
          <p:nvPr/>
        </p:nvSpPr>
        <p:spPr>
          <a:xfrm>
            <a:off x="8046720" y="3749040"/>
            <a:ext cx="3566160"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29" name="Wellness &amp; more icon circle"/>
          <p:cNvSpPr/>
          <p:nvPr/>
        </p:nvSpPr>
        <p:spPr>
          <a:xfrm>
            <a:off x="8321040" y="4023360"/>
            <a:ext cx="731520" cy="731520"/>
          </a:xfrm>
          <a:prstGeom prst="ellipse">
            <a:avLst/>
          </a:prstGeom>
          <a:solidFill>
            <a:schemeClr val="bg2"/>
          </a:solidFill>
          <a:ln w="12700">
            <a:solidFill>
              <a:schemeClr val="bg2"/>
            </a:solidFill>
            <a:prstDash val="solid"/>
          </a:ln>
        </p:spPr>
      </p:sp>
      <p:pic>
        <p:nvPicPr>
          <p:cNvPr id="30" name="Wellness &amp; more icon" descr="Wellness &amp; more icon">    </p:cNvPr>
          <p:cNvPicPr>
            <a:picLocks noChangeAspect="1"/>
          </p:cNvPicPr>
          <p:nvPr/>
        </p:nvPicPr>
        <p:blipFill>
          <a:blip r:embed="rId6"/>
          <a:stretch>
            <a:fillRect/>
          </a:stretch>
        </p:blipFill>
        <p:spPr>
          <a:xfrm>
            <a:off x="8518550" y="4220870"/>
            <a:ext cx="336499" cy="336499"/>
          </a:xfrm>
          <a:prstGeom prst="rect">
            <a:avLst/>
          </a:prstGeom>
        </p:spPr>
      </p:pic>
      <p:sp>
        <p:nvSpPr>
          <p:cNvPr id="31" name="Text 23"/>
          <p:cNvSpPr txBox="1"/>
          <p:nvPr/>
        </p:nvSpPr>
        <p:spPr>
          <a:xfrm>
            <a:off x="9235440" y="4023360"/>
            <a:ext cx="2240280" cy="731520"/>
          </a:xfrm>
          <a:prstGeom prst="rect">
            <a:avLst/>
          </a:prstGeom>
          <a:noFill/>
          <a:ln/>
        </p:spPr>
        <p:txBody>
          <a:bodyPr wrap="square" lIns="0" tIns="0" rIns="0" bIns="0" rtlCol="0" anchor="ctr"/>
          <a:lstStyle/>
          <a:p>
            <a:pPr indent="0" marL="0">
              <a:buNone/>
            </a:pPr>
            <a:r>
              <a:rPr lang="en-US" sz="1800" b="1" dirty="0">
                <a:solidFill>
                  <a:schemeClr val="tx2"/>
                </a:solidFill>
              </a:rPr>
              <a:t>Wellness &amp; more</a:t>
            </a:r>
            <a:endParaRPr lang="en-US" sz="1800" dirty="0"/>
          </a:p>
        </p:txBody>
      </p:sp>
      <p:sp>
        <p:nvSpPr>
          <p:cNvPr id="32" name="Text 24"/>
          <p:cNvSpPr txBox="1"/>
          <p:nvPr/>
        </p:nvSpPr>
        <p:spPr>
          <a:xfrm>
            <a:off x="8321040" y="4937760"/>
            <a:ext cx="3108960" cy="502920"/>
          </a:xfrm>
          <a:prstGeom prst="rect">
            <a:avLst/>
          </a:prstGeom>
          <a:noFill/>
          <a:ln/>
        </p:spPr>
        <p:txBody>
          <a:bodyPr wrap="square" lIns="0" tIns="0" rIns="0" bIns="0" rtlCol="0" anchor="t"/>
          <a:lstStyle/>
          <a:p>
            <a:pPr indent="0" marL="0">
              <a:buNone/>
            </a:pPr>
            <a:r>
              <a:rPr lang="en-US" sz="1400" dirty="0">
                <a:solidFill>
                  <a:schemeClr val="accent5"/>
                </a:solidFill>
              </a:rPr>
              <a:t>Weight loss, IV therapy, longevity</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tx2"/>
                </a:solidFill>
              </a:rPr>
              <a:t>You don't have a leads problem. You have a leak between the click and the chair.</a:t>
            </a:r>
            <a:endParaRPr lang="en-US" sz="3400" dirty="0"/>
          </a:p>
        </p:txBody>
      </p:sp>
      <p:sp>
        <p:nvSpPr>
          <p:cNvPr id="3" name="Leak card 1"/>
          <p:cNvSpPr/>
          <p:nvPr/>
        </p:nvSpPr>
        <p:spPr>
          <a:xfrm>
            <a:off x="548640" y="1737360"/>
            <a:ext cx="2651760" cy="4023360"/>
          </a:xfrm>
          <a:prstGeom prst="roundRect">
            <a:avLst>
              <a:gd name="adj" fmla="val 4138"/>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4" name="Leads wait, then go cold icon circle"/>
          <p:cNvSpPr/>
          <p:nvPr/>
        </p:nvSpPr>
        <p:spPr>
          <a:xfrm>
            <a:off x="822960" y="2011680"/>
            <a:ext cx="777240" cy="777240"/>
          </a:xfrm>
          <a:prstGeom prst="ellipse">
            <a:avLst/>
          </a:prstGeom>
          <a:solidFill>
            <a:schemeClr val="accent3"/>
          </a:solidFill>
          <a:ln w="12700">
            <a:solidFill>
              <a:schemeClr val="accent3"/>
            </a:solidFill>
            <a:prstDash val="solid"/>
          </a:ln>
        </p:spPr>
      </p:sp>
      <p:pic>
        <p:nvPicPr>
          <p:cNvPr id="5" name="Leads wait, then go cold icon" descr="Leads wait, then go cold icon">    </p:cNvPr>
          <p:cNvPicPr>
            <a:picLocks noChangeAspect="1"/>
          </p:cNvPicPr>
          <p:nvPr/>
        </p:nvPicPr>
        <p:blipFill>
          <a:blip r:embed="rId1"/>
          <a:stretch>
            <a:fillRect/>
          </a:stretch>
        </p:blipFill>
        <p:spPr>
          <a:xfrm>
            <a:off x="1032815" y="2221535"/>
            <a:ext cx="357530" cy="357530"/>
          </a:xfrm>
          <a:prstGeom prst="rect">
            <a:avLst/>
          </a:prstGeom>
        </p:spPr>
      </p:pic>
      <p:sp>
        <p:nvSpPr>
          <p:cNvPr id="6" name="Text 3"/>
          <p:cNvSpPr txBox="1"/>
          <p:nvPr/>
        </p:nvSpPr>
        <p:spPr>
          <a:xfrm>
            <a:off x="822960" y="3017520"/>
            <a:ext cx="2148840" cy="822960"/>
          </a:xfrm>
          <a:prstGeom prst="rect">
            <a:avLst/>
          </a:prstGeom>
          <a:noFill/>
          <a:ln/>
        </p:spPr>
        <p:txBody>
          <a:bodyPr wrap="square" lIns="0" tIns="0" rIns="0" bIns="0" rtlCol="0" anchor="t"/>
          <a:lstStyle/>
          <a:p>
            <a:pPr indent="0" marL="0">
              <a:buNone/>
            </a:pPr>
            <a:r>
              <a:rPr lang="en-US" sz="1800" b="1" dirty="0">
                <a:solidFill>
                  <a:schemeClr val="tx2"/>
                </a:solidFill>
              </a:rPr>
              <a:t>Leads wait, then go cold</a:t>
            </a:r>
            <a:endParaRPr lang="en-US" sz="1800" dirty="0"/>
          </a:p>
        </p:txBody>
      </p:sp>
      <p:sp>
        <p:nvSpPr>
          <p:cNvPr id="7" name="Text 4"/>
          <p:cNvSpPr txBox="1"/>
          <p:nvPr/>
        </p:nvSpPr>
        <p:spPr>
          <a:xfrm>
            <a:off x="822960" y="3886200"/>
            <a:ext cx="2148840" cy="1737360"/>
          </a:xfrm>
          <a:prstGeom prst="rect">
            <a:avLst/>
          </a:prstGeom>
          <a:noFill/>
          <a:ln/>
        </p:spPr>
        <p:txBody>
          <a:bodyPr wrap="square" lIns="0" tIns="0" rIns="0" bIns="0" rtlCol="0" anchor="t"/>
          <a:lstStyle/>
          <a:p>
            <a:pPr indent="0" marL="0">
              <a:buNone/>
            </a:pPr>
            <a:r>
              <a:rPr lang="en-US" sz="1400" dirty="0">
                <a:solidFill>
                  <a:schemeClr val="accent5"/>
                </a:solidFill>
              </a:rPr>
              <a:t>Someone asks about a treatment and nobody replies for hours. By then they've booked with the next clinic.</a:t>
            </a:r>
            <a:endParaRPr lang="en-US" sz="1400" dirty="0"/>
          </a:p>
        </p:txBody>
      </p:sp>
      <p:sp>
        <p:nvSpPr>
          <p:cNvPr id="8" name="Leak card 2"/>
          <p:cNvSpPr/>
          <p:nvPr/>
        </p:nvSpPr>
        <p:spPr>
          <a:xfrm>
            <a:off x="3364992" y="1737360"/>
            <a:ext cx="2651760" cy="4023360"/>
          </a:xfrm>
          <a:prstGeom prst="roundRect">
            <a:avLst>
              <a:gd name="adj" fmla="val 4138"/>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9" name="Bookings that don't show up icon circle"/>
          <p:cNvSpPr/>
          <p:nvPr/>
        </p:nvSpPr>
        <p:spPr>
          <a:xfrm>
            <a:off x="3639312" y="2011680"/>
            <a:ext cx="777240" cy="777240"/>
          </a:xfrm>
          <a:prstGeom prst="ellipse">
            <a:avLst/>
          </a:prstGeom>
          <a:solidFill>
            <a:schemeClr val="accent3"/>
          </a:solidFill>
          <a:ln w="12700">
            <a:solidFill>
              <a:schemeClr val="accent3"/>
            </a:solidFill>
            <a:prstDash val="solid"/>
          </a:ln>
        </p:spPr>
      </p:sp>
      <p:pic>
        <p:nvPicPr>
          <p:cNvPr id="10" name="Bookings that don't show up icon" descr="Bookings that don't show up icon">    </p:cNvPr>
          <p:cNvPicPr>
            <a:picLocks noChangeAspect="1"/>
          </p:cNvPicPr>
          <p:nvPr/>
        </p:nvPicPr>
        <p:blipFill>
          <a:blip r:embed="rId2"/>
          <a:stretch>
            <a:fillRect/>
          </a:stretch>
        </p:blipFill>
        <p:spPr>
          <a:xfrm>
            <a:off x="3849167" y="2221535"/>
            <a:ext cx="357530" cy="357530"/>
          </a:xfrm>
          <a:prstGeom prst="rect">
            <a:avLst/>
          </a:prstGeom>
        </p:spPr>
      </p:pic>
      <p:sp>
        <p:nvSpPr>
          <p:cNvPr id="11" name="Text 7"/>
          <p:cNvSpPr txBox="1"/>
          <p:nvPr/>
        </p:nvSpPr>
        <p:spPr>
          <a:xfrm>
            <a:off x="3639312" y="3017520"/>
            <a:ext cx="2148840" cy="822960"/>
          </a:xfrm>
          <a:prstGeom prst="rect">
            <a:avLst/>
          </a:prstGeom>
          <a:noFill/>
          <a:ln/>
        </p:spPr>
        <p:txBody>
          <a:bodyPr wrap="square" lIns="0" tIns="0" rIns="0" bIns="0" rtlCol="0" anchor="t"/>
          <a:lstStyle/>
          <a:p>
            <a:pPr indent="0" marL="0">
              <a:buNone/>
            </a:pPr>
            <a:r>
              <a:rPr lang="en-US" sz="1800" b="1" dirty="0">
                <a:solidFill>
                  <a:schemeClr val="tx2"/>
                </a:solidFill>
              </a:rPr>
              <a:t>Bookings that don't show up</a:t>
            </a:r>
            <a:endParaRPr lang="en-US" sz="1800" dirty="0"/>
          </a:p>
        </p:txBody>
      </p:sp>
      <p:sp>
        <p:nvSpPr>
          <p:cNvPr id="12" name="Text 8"/>
          <p:cNvSpPr txBox="1"/>
          <p:nvPr/>
        </p:nvSpPr>
        <p:spPr>
          <a:xfrm>
            <a:off x="3639312" y="3886200"/>
            <a:ext cx="2148840" cy="1737360"/>
          </a:xfrm>
          <a:prstGeom prst="rect">
            <a:avLst/>
          </a:prstGeom>
          <a:noFill/>
          <a:ln/>
        </p:spPr>
        <p:txBody>
          <a:bodyPr wrap="square" lIns="0" tIns="0" rIns="0" bIns="0" rtlCol="0" anchor="t"/>
          <a:lstStyle/>
          <a:p>
            <a:pPr indent="0" marL="0">
              <a:buNone/>
            </a:pPr>
            <a:r>
              <a:rPr lang="en-US" sz="1400" dirty="0">
                <a:solidFill>
                  <a:schemeClr val="accent5"/>
                </a:solidFill>
              </a:rPr>
              <a:t>The calendar looks full on Monday and half empty by Friday. Every no-show is a room sitting idle.</a:t>
            </a:r>
            <a:endParaRPr lang="en-US" sz="1400" dirty="0"/>
          </a:p>
        </p:txBody>
      </p:sp>
      <p:sp>
        <p:nvSpPr>
          <p:cNvPr id="13" name="Leak card 3"/>
          <p:cNvSpPr/>
          <p:nvPr/>
        </p:nvSpPr>
        <p:spPr>
          <a:xfrm>
            <a:off x="6181344" y="1737360"/>
            <a:ext cx="2651760" cy="4023360"/>
          </a:xfrm>
          <a:prstGeom prst="roundRect">
            <a:avLst>
              <a:gd name="adj" fmla="val 4138"/>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4" name="Reports about clicks, not patients icon circle"/>
          <p:cNvSpPr/>
          <p:nvPr/>
        </p:nvSpPr>
        <p:spPr>
          <a:xfrm>
            <a:off x="6455664" y="2011680"/>
            <a:ext cx="777240" cy="777240"/>
          </a:xfrm>
          <a:prstGeom prst="ellipse">
            <a:avLst/>
          </a:prstGeom>
          <a:solidFill>
            <a:schemeClr val="accent3"/>
          </a:solidFill>
          <a:ln w="12700">
            <a:solidFill>
              <a:schemeClr val="accent3"/>
            </a:solidFill>
            <a:prstDash val="solid"/>
          </a:ln>
        </p:spPr>
      </p:sp>
      <p:pic>
        <p:nvPicPr>
          <p:cNvPr id="15" name="Reports about clicks, not patients icon" descr="Reports about clicks, not patients icon">    </p:cNvPr>
          <p:cNvPicPr>
            <a:picLocks noChangeAspect="1"/>
          </p:cNvPicPr>
          <p:nvPr/>
        </p:nvPicPr>
        <p:blipFill>
          <a:blip r:embed="rId3"/>
          <a:stretch>
            <a:fillRect/>
          </a:stretch>
        </p:blipFill>
        <p:spPr>
          <a:xfrm>
            <a:off x="6665519" y="2221535"/>
            <a:ext cx="357530" cy="357530"/>
          </a:xfrm>
          <a:prstGeom prst="rect">
            <a:avLst/>
          </a:prstGeom>
        </p:spPr>
      </p:pic>
      <p:sp>
        <p:nvSpPr>
          <p:cNvPr id="16" name="Text 11"/>
          <p:cNvSpPr txBox="1"/>
          <p:nvPr/>
        </p:nvSpPr>
        <p:spPr>
          <a:xfrm>
            <a:off x="6455664" y="3017520"/>
            <a:ext cx="2148840" cy="822960"/>
          </a:xfrm>
          <a:prstGeom prst="rect">
            <a:avLst/>
          </a:prstGeom>
          <a:noFill/>
          <a:ln/>
        </p:spPr>
        <p:txBody>
          <a:bodyPr wrap="square" lIns="0" tIns="0" rIns="0" bIns="0" rtlCol="0" anchor="t"/>
          <a:lstStyle/>
          <a:p>
            <a:pPr indent="0" marL="0">
              <a:buNone/>
            </a:pPr>
            <a:r>
              <a:rPr lang="en-US" sz="1800" b="1" dirty="0">
                <a:solidFill>
                  <a:schemeClr val="tx2"/>
                </a:solidFill>
              </a:rPr>
              <a:t>Reports about clicks, not patients</a:t>
            </a:r>
            <a:endParaRPr lang="en-US" sz="1800" dirty="0"/>
          </a:p>
        </p:txBody>
      </p:sp>
      <p:sp>
        <p:nvSpPr>
          <p:cNvPr id="17" name="Text 12"/>
          <p:cNvSpPr txBox="1"/>
          <p:nvPr/>
        </p:nvSpPr>
        <p:spPr>
          <a:xfrm>
            <a:off x="6455664" y="3886200"/>
            <a:ext cx="2148840" cy="1737360"/>
          </a:xfrm>
          <a:prstGeom prst="rect">
            <a:avLst/>
          </a:prstGeom>
          <a:noFill/>
          <a:ln/>
        </p:spPr>
        <p:txBody>
          <a:bodyPr wrap="square" lIns="0" tIns="0" rIns="0" bIns="0" rtlCol="0" anchor="t"/>
          <a:lstStyle/>
          <a:p>
            <a:pPr indent="0" marL="0">
              <a:buNone/>
            </a:pPr>
            <a:r>
              <a:rPr lang="en-US" sz="1400" dirty="0">
                <a:solidFill>
                  <a:schemeClr val="accent5"/>
                </a:solidFill>
              </a:rPr>
              <a:t>Your agency sends reach and cost per lead. Nobody can say how many new patients the ads brought in.</a:t>
            </a:r>
            <a:endParaRPr lang="en-US" sz="1400" dirty="0"/>
          </a:p>
        </p:txBody>
      </p:sp>
      <p:sp>
        <p:nvSpPr>
          <p:cNvPr id="18" name="Leak card 4"/>
          <p:cNvSpPr/>
          <p:nvPr/>
        </p:nvSpPr>
        <p:spPr>
          <a:xfrm>
            <a:off x="8997696" y="1737360"/>
            <a:ext cx="2651760" cy="4023360"/>
          </a:xfrm>
          <a:prstGeom prst="roundRect">
            <a:avLst>
              <a:gd name="adj" fmla="val 4138"/>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9" name="Leads that never become appointments icon circle"/>
          <p:cNvSpPr/>
          <p:nvPr/>
        </p:nvSpPr>
        <p:spPr>
          <a:xfrm>
            <a:off x="9272016" y="2011680"/>
            <a:ext cx="777240" cy="777240"/>
          </a:xfrm>
          <a:prstGeom prst="ellipse">
            <a:avLst/>
          </a:prstGeom>
          <a:solidFill>
            <a:schemeClr val="accent3"/>
          </a:solidFill>
          <a:ln w="12700">
            <a:solidFill>
              <a:schemeClr val="accent3"/>
            </a:solidFill>
            <a:prstDash val="solid"/>
          </a:ln>
        </p:spPr>
      </p:sp>
      <p:pic>
        <p:nvPicPr>
          <p:cNvPr id="20" name="Leads that never become appointments icon" descr="Leads that never become appointments icon">    </p:cNvPr>
          <p:cNvPicPr>
            <a:picLocks noChangeAspect="1"/>
          </p:cNvPicPr>
          <p:nvPr/>
        </p:nvPicPr>
        <p:blipFill>
          <a:blip r:embed="rId4"/>
          <a:stretch>
            <a:fillRect/>
          </a:stretch>
        </p:blipFill>
        <p:spPr>
          <a:xfrm>
            <a:off x="9481871" y="2221535"/>
            <a:ext cx="357530" cy="357530"/>
          </a:xfrm>
          <a:prstGeom prst="rect">
            <a:avLst/>
          </a:prstGeom>
        </p:spPr>
      </p:pic>
      <p:sp>
        <p:nvSpPr>
          <p:cNvPr id="21" name="Text 15"/>
          <p:cNvSpPr txBox="1"/>
          <p:nvPr/>
        </p:nvSpPr>
        <p:spPr>
          <a:xfrm>
            <a:off x="9272016" y="3017520"/>
            <a:ext cx="2148840" cy="822960"/>
          </a:xfrm>
          <a:prstGeom prst="rect">
            <a:avLst/>
          </a:prstGeom>
          <a:noFill/>
          <a:ln/>
        </p:spPr>
        <p:txBody>
          <a:bodyPr wrap="square" lIns="0" tIns="0" rIns="0" bIns="0" rtlCol="0" anchor="t"/>
          <a:lstStyle/>
          <a:p>
            <a:pPr indent="0" marL="0">
              <a:buNone/>
            </a:pPr>
            <a:r>
              <a:rPr lang="en-US" sz="1800" b="1" dirty="0">
                <a:solidFill>
                  <a:schemeClr val="tx2"/>
                </a:solidFill>
              </a:rPr>
              <a:t>Leads that never become appointments</a:t>
            </a:r>
            <a:endParaRPr lang="en-US" sz="1800" dirty="0"/>
          </a:p>
        </p:txBody>
      </p:sp>
      <p:sp>
        <p:nvSpPr>
          <p:cNvPr id="22" name="Text 16"/>
          <p:cNvSpPr txBox="1"/>
          <p:nvPr/>
        </p:nvSpPr>
        <p:spPr>
          <a:xfrm>
            <a:off x="9272016" y="3886200"/>
            <a:ext cx="2148840" cy="1737360"/>
          </a:xfrm>
          <a:prstGeom prst="rect">
            <a:avLst/>
          </a:prstGeom>
          <a:noFill/>
          <a:ln/>
        </p:spPr>
        <p:txBody>
          <a:bodyPr wrap="square" lIns="0" tIns="0" rIns="0" bIns="0" rtlCol="0" anchor="t"/>
          <a:lstStyle/>
          <a:p>
            <a:pPr indent="0" marL="0">
              <a:buNone/>
            </a:pPr>
            <a:r>
              <a:rPr lang="en-US" sz="1400" dirty="0">
                <a:solidFill>
                  <a:schemeClr val="accent5"/>
                </a:solidFill>
              </a:rPr>
              <a:t>You pay for price-shoppers and wrong-area enquiries, and the good ones get lost in a slow booking process.</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bg1"/>
                </a:solidFill>
              </a:rPr>
              <a:t>Let's find your leak. Your numbers, not ours</a:t>
            </a:r>
            <a:endParaRPr lang="en-US" sz="3400" dirty="0"/>
          </a:p>
        </p:txBody>
      </p:sp>
      <p:sp>
        <p:nvSpPr>
          <p:cNvPr id="3" name="Worksheet card 1"/>
          <p:cNvSpPr/>
          <p:nvPr/>
        </p:nvSpPr>
        <p:spPr>
          <a:xfrm>
            <a:off x="548640" y="1737360"/>
            <a:ext cx="3566160" cy="1783080"/>
          </a:xfrm>
          <a:prstGeom prst="roundRect">
            <a:avLst>
              <a:gd name="adj" fmla="val 6154"/>
            </a:avLst>
          </a:prstGeom>
          <a:solidFill>
            <a:schemeClr val="accent1"/>
          </a:solidFill>
          <a:ln w="12700">
            <a:solidFill>
              <a:schemeClr val="accent1"/>
            </a:solidFill>
            <a:prstDash val="solid"/>
          </a:ln>
        </p:spPr>
      </p:sp>
      <p:sp>
        <p:nvSpPr>
          <p:cNvPr id="4" name="Text 2"/>
          <p:cNvSpPr txBox="1"/>
          <p:nvPr/>
        </p:nvSpPr>
        <p:spPr>
          <a:xfrm>
            <a:off x="822960" y="1938528"/>
            <a:ext cx="457200" cy="457200"/>
          </a:xfrm>
          <a:prstGeom prst="rect">
            <a:avLst/>
          </a:prstGeom>
          <a:noFill/>
          <a:ln/>
        </p:spPr>
        <p:txBody>
          <a:bodyPr wrap="square" lIns="0" tIns="0" rIns="0" bIns="0" rtlCol="0" anchor="ctr"/>
          <a:lstStyle/>
          <a:p>
            <a:pPr indent="0" marL="0">
              <a:buNone/>
            </a:pPr>
            <a:r>
              <a:rPr lang="en-US" sz="2200" b="1" dirty="0">
                <a:solidFill>
                  <a:schemeClr val="accent4"/>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822960" y="2395728"/>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Monthly ad spend</a:t>
            </a:r>
            <a:endParaRPr lang="en-US" sz="1800" dirty="0"/>
          </a:p>
        </p:txBody>
      </p:sp>
      <p:sp>
        <p:nvSpPr>
          <p:cNvPr id="6" name="Text 4"/>
          <p:cNvSpPr txBox="1"/>
          <p:nvPr/>
        </p:nvSpPr>
        <p:spPr>
          <a:xfrm>
            <a:off x="822960" y="2834640"/>
            <a:ext cx="3017520" cy="365760"/>
          </a:xfrm>
          <a:prstGeom prst="rect">
            <a:avLst/>
          </a:prstGeom>
          <a:noFill/>
          <a:ln/>
        </p:spPr>
        <p:txBody>
          <a:bodyPr wrap="square" lIns="0" tIns="0" rIns="0" bIns="0" rtlCol="0" anchor="ctr"/>
          <a:lstStyle/>
          <a:p>
            <a:pPr indent="0" marL="0">
              <a:buNone/>
            </a:pPr>
            <a:r>
              <a:rPr lang="en-US" sz="1400" dirty="0">
                <a:solidFill>
                  <a:schemeClr val="accent6"/>
                </a:solidFill>
              </a:rPr>
              <a:t>Where it starts</a:t>
            </a:r>
            <a:endParaRPr lang="en-US" sz="1400" dirty="0"/>
          </a:p>
        </p:txBody>
      </p:sp>
      <p:sp>
        <p:nvSpPr>
          <p:cNvPr id="7" name="Worksheet card 2"/>
          <p:cNvSpPr/>
          <p:nvPr/>
        </p:nvSpPr>
        <p:spPr>
          <a:xfrm>
            <a:off x="4297680" y="1737360"/>
            <a:ext cx="3566160" cy="1783080"/>
          </a:xfrm>
          <a:prstGeom prst="roundRect">
            <a:avLst>
              <a:gd name="adj" fmla="val 6154"/>
            </a:avLst>
          </a:prstGeom>
          <a:solidFill>
            <a:schemeClr val="accent1"/>
          </a:solidFill>
          <a:ln w="12700">
            <a:solidFill>
              <a:schemeClr val="accent1"/>
            </a:solidFill>
            <a:prstDash val="solid"/>
          </a:ln>
        </p:spPr>
      </p:sp>
      <p:sp>
        <p:nvSpPr>
          <p:cNvPr id="8" name="Text 6"/>
          <p:cNvSpPr txBox="1"/>
          <p:nvPr/>
        </p:nvSpPr>
        <p:spPr>
          <a:xfrm>
            <a:off x="4572000" y="1938528"/>
            <a:ext cx="457200" cy="457200"/>
          </a:xfrm>
          <a:prstGeom prst="rect">
            <a:avLst/>
          </a:prstGeom>
          <a:noFill/>
          <a:ln/>
        </p:spPr>
        <p:txBody>
          <a:bodyPr wrap="square" lIns="0" tIns="0" rIns="0" bIns="0" rtlCol="0" anchor="ctr"/>
          <a:lstStyle/>
          <a:p>
            <a:pPr indent="0" marL="0">
              <a:buNone/>
            </a:pPr>
            <a:r>
              <a:rPr lang="en-US" sz="2200" b="1" dirty="0">
                <a:solidFill>
                  <a:schemeClr val="accent4"/>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4572000" y="2395728"/>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New enquiries</a:t>
            </a:r>
            <a:endParaRPr lang="en-US" sz="1800" dirty="0"/>
          </a:p>
        </p:txBody>
      </p:sp>
      <p:sp>
        <p:nvSpPr>
          <p:cNvPr id="10" name="Text 8"/>
          <p:cNvSpPr txBox="1"/>
          <p:nvPr/>
        </p:nvSpPr>
        <p:spPr>
          <a:xfrm>
            <a:off x="4572000" y="2834640"/>
            <a:ext cx="3017520" cy="365760"/>
          </a:xfrm>
          <a:prstGeom prst="rect">
            <a:avLst/>
          </a:prstGeom>
          <a:noFill/>
          <a:ln/>
        </p:spPr>
        <p:txBody>
          <a:bodyPr wrap="square" lIns="0" tIns="0" rIns="0" bIns="0" rtlCol="0" anchor="ctr"/>
          <a:lstStyle/>
          <a:p>
            <a:pPr indent="0" marL="0">
              <a:buNone/>
            </a:pPr>
            <a:r>
              <a:rPr lang="en-US" sz="1400" dirty="0">
                <a:solidFill>
                  <a:schemeClr val="accent6"/>
                </a:solidFill>
              </a:rPr>
              <a:t>Per month</a:t>
            </a:r>
            <a:endParaRPr lang="en-US" sz="1400" dirty="0"/>
          </a:p>
        </p:txBody>
      </p:sp>
      <p:sp>
        <p:nvSpPr>
          <p:cNvPr id="11" name="Worksheet card 3"/>
          <p:cNvSpPr/>
          <p:nvPr/>
        </p:nvSpPr>
        <p:spPr>
          <a:xfrm>
            <a:off x="8046720" y="1737360"/>
            <a:ext cx="3566160" cy="1783080"/>
          </a:xfrm>
          <a:prstGeom prst="roundRect">
            <a:avLst>
              <a:gd name="adj" fmla="val 6154"/>
            </a:avLst>
          </a:prstGeom>
          <a:solidFill>
            <a:schemeClr val="accent1"/>
          </a:solidFill>
          <a:ln w="12700">
            <a:solidFill>
              <a:schemeClr val="accent1"/>
            </a:solidFill>
            <a:prstDash val="solid"/>
          </a:ln>
        </p:spPr>
      </p:sp>
      <p:sp>
        <p:nvSpPr>
          <p:cNvPr id="12" name="Text 10"/>
          <p:cNvSpPr txBox="1"/>
          <p:nvPr/>
        </p:nvSpPr>
        <p:spPr>
          <a:xfrm>
            <a:off x="8321040" y="1938528"/>
            <a:ext cx="457200" cy="457200"/>
          </a:xfrm>
          <a:prstGeom prst="rect">
            <a:avLst/>
          </a:prstGeom>
          <a:noFill/>
          <a:ln/>
        </p:spPr>
        <p:txBody>
          <a:bodyPr wrap="square" lIns="0" tIns="0" rIns="0" bIns="0" rtlCol="0" anchor="ctr"/>
          <a:lstStyle/>
          <a:p>
            <a:pPr indent="0" marL="0">
              <a:buNone/>
            </a:pPr>
            <a:r>
              <a:rPr lang="en-US" sz="2200" b="1" dirty="0">
                <a:solidFill>
                  <a:schemeClr val="accent4"/>
                </a:solidFill>
                <a:latin typeface="Cambria" pitchFamily="34" charset="0"/>
                <a:ea typeface="Cambria" pitchFamily="34" charset="-122"/>
                <a:cs typeface="Cambria" pitchFamily="34" charset="-120"/>
              </a:rPr>
              <a:t>3</a:t>
            </a:r>
            <a:endParaRPr lang="en-US" sz="2200" dirty="0"/>
          </a:p>
        </p:txBody>
      </p:sp>
      <p:sp>
        <p:nvSpPr>
          <p:cNvPr id="13" name="Text 11"/>
          <p:cNvSpPr txBox="1"/>
          <p:nvPr/>
        </p:nvSpPr>
        <p:spPr>
          <a:xfrm>
            <a:off x="8321040" y="2395728"/>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Replied in 5 minutes</a:t>
            </a:r>
            <a:endParaRPr lang="en-US" sz="1800" dirty="0"/>
          </a:p>
        </p:txBody>
      </p:sp>
      <p:sp>
        <p:nvSpPr>
          <p:cNvPr id="14" name="Text 12"/>
          <p:cNvSpPr txBox="1"/>
          <p:nvPr/>
        </p:nvSpPr>
        <p:spPr>
          <a:xfrm>
            <a:off x="8321040" y="2834640"/>
            <a:ext cx="3017520" cy="365760"/>
          </a:xfrm>
          <a:prstGeom prst="rect">
            <a:avLst/>
          </a:prstGeom>
          <a:noFill/>
          <a:ln/>
        </p:spPr>
        <p:txBody>
          <a:bodyPr wrap="square" lIns="0" tIns="0" rIns="0" bIns="0" rtlCol="0" anchor="ctr"/>
          <a:lstStyle/>
          <a:p>
            <a:pPr indent="0" marL="0">
              <a:buNone/>
            </a:pPr>
            <a:r>
              <a:rPr lang="en-US" sz="1400" dirty="0">
                <a:solidFill>
                  <a:schemeClr val="accent6"/>
                </a:solidFill>
              </a:rPr>
              <a:t>% of enquiries</a:t>
            </a:r>
            <a:endParaRPr lang="en-US" sz="1400" dirty="0"/>
          </a:p>
        </p:txBody>
      </p:sp>
      <p:sp>
        <p:nvSpPr>
          <p:cNvPr id="15" name="Worksheet card 4"/>
          <p:cNvSpPr/>
          <p:nvPr/>
        </p:nvSpPr>
        <p:spPr>
          <a:xfrm>
            <a:off x="548640" y="3749040"/>
            <a:ext cx="3566160" cy="1783080"/>
          </a:xfrm>
          <a:prstGeom prst="roundRect">
            <a:avLst>
              <a:gd name="adj" fmla="val 6154"/>
            </a:avLst>
          </a:prstGeom>
          <a:solidFill>
            <a:schemeClr val="accent1"/>
          </a:solidFill>
          <a:ln w="12700">
            <a:solidFill>
              <a:schemeClr val="accent1"/>
            </a:solidFill>
            <a:prstDash val="solid"/>
          </a:ln>
        </p:spPr>
      </p:sp>
      <p:sp>
        <p:nvSpPr>
          <p:cNvPr id="16" name="Text 14"/>
          <p:cNvSpPr txBox="1"/>
          <p:nvPr/>
        </p:nvSpPr>
        <p:spPr>
          <a:xfrm>
            <a:off x="822960" y="3950208"/>
            <a:ext cx="457200" cy="457200"/>
          </a:xfrm>
          <a:prstGeom prst="rect">
            <a:avLst/>
          </a:prstGeom>
          <a:noFill/>
          <a:ln/>
        </p:spPr>
        <p:txBody>
          <a:bodyPr wrap="square" lIns="0" tIns="0" rIns="0" bIns="0" rtlCol="0" anchor="ctr"/>
          <a:lstStyle/>
          <a:p>
            <a:pPr indent="0" marL="0">
              <a:buNone/>
            </a:pPr>
            <a:r>
              <a:rPr lang="en-US" sz="2200" b="1" dirty="0">
                <a:solidFill>
                  <a:schemeClr val="accent4"/>
                </a:solidFill>
                <a:latin typeface="Cambria" pitchFamily="34" charset="0"/>
                <a:ea typeface="Cambria" pitchFamily="34" charset="-122"/>
                <a:cs typeface="Cambria" pitchFamily="34" charset="-120"/>
              </a:rPr>
              <a:t>4</a:t>
            </a:r>
            <a:endParaRPr lang="en-US" sz="2200" dirty="0"/>
          </a:p>
        </p:txBody>
      </p:sp>
      <p:sp>
        <p:nvSpPr>
          <p:cNvPr id="17" name="Text 15"/>
          <p:cNvSpPr txBox="1"/>
          <p:nvPr/>
        </p:nvSpPr>
        <p:spPr>
          <a:xfrm>
            <a:off x="822960" y="4407408"/>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Booked</a:t>
            </a:r>
            <a:endParaRPr lang="en-US" sz="1800" dirty="0"/>
          </a:p>
        </p:txBody>
      </p:sp>
      <p:sp>
        <p:nvSpPr>
          <p:cNvPr id="18" name="Text 16"/>
          <p:cNvSpPr txBox="1"/>
          <p:nvPr/>
        </p:nvSpPr>
        <p:spPr>
          <a:xfrm>
            <a:off x="822960" y="4846320"/>
            <a:ext cx="3017520" cy="365760"/>
          </a:xfrm>
          <a:prstGeom prst="rect">
            <a:avLst/>
          </a:prstGeom>
          <a:noFill/>
          <a:ln/>
        </p:spPr>
        <p:txBody>
          <a:bodyPr wrap="square" lIns="0" tIns="0" rIns="0" bIns="0" rtlCol="0" anchor="ctr"/>
          <a:lstStyle/>
          <a:p>
            <a:pPr indent="0" marL="0">
              <a:buNone/>
            </a:pPr>
            <a:r>
              <a:rPr lang="en-US" sz="1400" dirty="0">
                <a:solidFill>
                  <a:schemeClr val="accent6"/>
                </a:solidFill>
              </a:rPr>
              <a:t>% of enquiries</a:t>
            </a:r>
            <a:endParaRPr lang="en-US" sz="1400" dirty="0"/>
          </a:p>
        </p:txBody>
      </p:sp>
      <p:sp>
        <p:nvSpPr>
          <p:cNvPr id="19" name="Worksheet card 5"/>
          <p:cNvSpPr/>
          <p:nvPr/>
        </p:nvSpPr>
        <p:spPr>
          <a:xfrm>
            <a:off x="4297680" y="3749040"/>
            <a:ext cx="3566160" cy="1783080"/>
          </a:xfrm>
          <a:prstGeom prst="roundRect">
            <a:avLst>
              <a:gd name="adj" fmla="val 6154"/>
            </a:avLst>
          </a:prstGeom>
          <a:solidFill>
            <a:schemeClr val="accent1"/>
          </a:solidFill>
          <a:ln w="12700">
            <a:solidFill>
              <a:schemeClr val="accent1"/>
            </a:solidFill>
            <a:prstDash val="solid"/>
          </a:ln>
        </p:spPr>
      </p:sp>
      <p:sp>
        <p:nvSpPr>
          <p:cNvPr id="20" name="Text 18"/>
          <p:cNvSpPr txBox="1"/>
          <p:nvPr/>
        </p:nvSpPr>
        <p:spPr>
          <a:xfrm>
            <a:off x="4572000" y="3950208"/>
            <a:ext cx="457200" cy="457200"/>
          </a:xfrm>
          <a:prstGeom prst="rect">
            <a:avLst/>
          </a:prstGeom>
          <a:noFill/>
          <a:ln/>
        </p:spPr>
        <p:txBody>
          <a:bodyPr wrap="square" lIns="0" tIns="0" rIns="0" bIns="0" rtlCol="0" anchor="ctr"/>
          <a:lstStyle/>
          <a:p>
            <a:pPr indent="0" marL="0">
              <a:buNone/>
            </a:pPr>
            <a:r>
              <a:rPr lang="en-US" sz="2200" b="1" dirty="0">
                <a:solidFill>
                  <a:schemeClr val="accent4"/>
                </a:solidFill>
                <a:latin typeface="Cambria" pitchFamily="34" charset="0"/>
                <a:ea typeface="Cambria" pitchFamily="34" charset="-122"/>
                <a:cs typeface="Cambria" pitchFamily="34" charset="-120"/>
              </a:rPr>
              <a:t>5</a:t>
            </a:r>
            <a:endParaRPr lang="en-US" sz="2200" dirty="0"/>
          </a:p>
        </p:txBody>
      </p:sp>
      <p:sp>
        <p:nvSpPr>
          <p:cNvPr id="21" name="Text 19"/>
          <p:cNvSpPr txBox="1"/>
          <p:nvPr/>
        </p:nvSpPr>
        <p:spPr>
          <a:xfrm>
            <a:off x="4572000" y="4407408"/>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Showed up</a:t>
            </a:r>
            <a:endParaRPr lang="en-US" sz="1800" dirty="0"/>
          </a:p>
        </p:txBody>
      </p:sp>
      <p:sp>
        <p:nvSpPr>
          <p:cNvPr id="22" name="Text 20"/>
          <p:cNvSpPr txBox="1"/>
          <p:nvPr/>
        </p:nvSpPr>
        <p:spPr>
          <a:xfrm>
            <a:off x="4572000" y="4846320"/>
            <a:ext cx="3017520" cy="365760"/>
          </a:xfrm>
          <a:prstGeom prst="rect">
            <a:avLst/>
          </a:prstGeom>
          <a:noFill/>
          <a:ln/>
        </p:spPr>
        <p:txBody>
          <a:bodyPr wrap="square" lIns="0" tIns="0" rIns="0" bIns="0" rtlCol="0" anchor="ctr"/>
          <a:lstStyle/>
          <a:p>
            <a:pPr indent="0" marL="0">
              <a:buNone/>
            </a:pPr>
            <a:r>
              <a:rPr lang="en-US" sz="1400" dirty="0">
                <a:solidFill>
                  <a:schemeClr val="accent6"/>
                </a:solidFill>
              </a:rPr>
              <a:t>% of bookings</a:t>
            </a:r>
            <a:endParaRPr lang="en-US" sz="1400" dirty="0"/>
          </a:p>
        </p:txBody>
      </p:sp>
      <p:sp>
        <p:nvSpPr>
          <p:cNvPr id="23" name="Worksheet card 6"/>
          <p:cNvSpPr/>
          <p:nvPr/>
        </p:nvSpPr>
        <p:spPr>
          <a:xfrm>
            <a:off x="8046720" y="3749040"/>
            <a:ext cx="3566160" cy="1783080"/>
          </a:xfrm>
          <a:prstGeom prst="roundRect">
            <a:avLst>
              <a:gd name="adj" fmla="val 6154"/>
            </a:avLst>
          </a:prstGeom>
          <a:solidFill>
            <a:schemeClr val="accent1"/>
          </a:solidFill>
          <a:ln w="12700">
            <a:solidFill>
              <a:schemeClr val="accent1"/>
            </a:solidFill>
            <a:prstDash val="solid"/>
          </a:ln>
        </p:spPr>
      </p:sp>
      <p:sp>
        <p:nvSpPr>
          <p:cNvPr id="24" name="Text 22"/>
          <p:cNvSpPr txBox="1"/>
          <p:nvPr/>
        </p:nvSpPr>
        <p:spPr>
          <a:xfrm>
            <a:off x="8321040" y="3950208"/>
            <a:ext cx="457200" cy="457200"/>
          </a:xfrm>
          <a:prstGeom prst="rect">
            <a:avLst/>
          </a:prstGeom>
          <a:noFill/>
          <a:ln/>
        </p:spPr>
        <p:txBody>
          <a:bodyPr wrap="square" lIns="0" tIns="0" rIns="0" bIns="0" rtlCol="0" anchor="ctr"/>
          <a:lstStyle/>
          <a:p>
            <a:pPr indent="0" marL="0">
              <a:buNone/>
            </a:pPr>
            <a:r>
              <a:rPr lang="en-US" sz="2200" b="1" dirty="0">
                <a:solidFill>
                  <a:schemeClr val="accent4"/>
                </a:solidFill>
                <a:latin typeface="Cambria" pitchFamily="34" charset="0"/>
                <a:ea typeface="Cambria" pitchFamily="34" charset="-122"/>
                <a:cs typeface="Cambria" pitchFamily="34" charset="-120"/>
              </a:rPr>
              <a:t>6</a:t>
            </a:r>
            <a:endParaRPr lang="en-US" sz="2200" dirty="0"/>
          </a:p>
        </p:txBody>
      </p:sp>
      <p:sp>
        <p:nvSpPr>
          <p:cNvPr id="25" name="Text 23"/>
          <p:cNvSpPr txBox="1"/>
          <p:nvPr/>
        </p:nvSpPr>
        <p:spPr>
          <a:xfrm>
            <a:off x="8321040" y="4407408"/>
            <a:ext cx="3017520" cy="411480"/>
          </a:xfrm>
          <a:prstGeom prst="rect">
            <a:avLst/>
          </a:prstGeom>
          <a:noFill/>
          <a:ln/>
        </p:spPr>
        <p:txBody>
          <a:bodyPr wrap="square" lIns="0" tIns="0" rIns="0" bIns="0" rtlCol="0" anchor="ctr"/>
          <a:lstStyle/>
          <a:p>
            <a:pPr indent="0" marL="0">
              <a:buNone/>
            </a:pPr>
            <a:r>
              <a:rPr lang="en-US" sz="1800" b="1" dirty="0">
                <a:solidFill>
                  <a:schemeClr val="bg1"/>
                </a:solidFill>
              </a:rPr>
              <a:t>Value of a new patient</a:t>
            </a:r>
            <a:endParaRPr lang="en-US" sz="1800" dirty="0"/>
          </a:p>
        </p:txBody>
      </p:sp>
      <p:sp>
        <p:nvSpPr>
          <p:cNvPr id="26" name="Text 24"/>
          <p:cNvSpPr txBox="1"/>
          <p:nvPr/>
        </p:nvSpPr>
        <p:spPr>
          <a:xfrm>
            <a:off x="8321040" y="4846320"/>
            <a:ext cx="3017520" cy="365760"/>
          </a:xfrm>
          <a:prstGeom prst="rect">
            <a:avLst/>
          </a:prstGeom>
          <a:noFill/>
          <a:ln/>
        </p:spPr>
        <p:txBody>
          <a:bodyPr wrap="square" lIns="0" tIns="0" rIns="0" bIns="0" rtlCol="0" anchor="ctr"/>
          <a:lstStyle/>
          <a:p>
            <a:pPr indent="0" marL="0">
              <a:buNone/>
            </a:pPr>
            <a:r>
              <a:rPr lang="en-US" sz="1400" dirty="0">
                <a:solidFill>
                  <a:schemeClr val="accent6"/>
                </a:solidFill>
              </a:rPr>
              <a:t>Average, first 12 months</a:t>
            </a:r>
            <a:endParaRPr lang="en-US" sz="1400" dirty="0"/>
          </a:p>
        </p:txBody>
      </p:sp>
      <p:sp>
        <p:nvSpPr>
          <p:cNvPr id="27" name="Text 25"/>
          <p:cNvSpPr txBox="1"/>
          <p:nvPr/>
        </p:nvSpPr>
        <p:spPr>
          <a:xfrm>
            <a:off x="548640" y="5852160"/>
            <a:ext cx="10972800" cy="365760"/>
          </a:xfrm>
          <a:prstGeom prst="rect">
            <a:avLst/>
          </a:prstGeom>
          <a:noFill/>
          <a:ln/>
        </p:spPr>
        <p:txBody>
          <a:bodyPr wrap="square" lIns="0" tIns="0" rIns="0" bIns="0" rtlCol="0" anchor="ctr"/>
          <a:lstStyle/>
          <a:p>
            <a:pPr indent="0" marL="0">
              <a:buNone/>
            </a:pPr>
            <a:r>
              <a:rPr lang="en-US" sz="1600" dirty="0">
                <a:solidFill>
                  <a:schemeClr val="bg1"/>
                </a:solidFill>
              </a:rPr>
              <a:t>Fill these in together on the call. The weakest step is where the money is leaking.</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tx2"/>
                </a:solidFill>
              </a:rPr>
              <a:t>One system, from first click to a patient in your chair</a:t>
            </a:r>
            <a:endParaRPr lang="en-US" sz="3400" dirty="0"/>
          </a:p>
        </p:txBody>
      </p:sp>
      <p:sp>
        <p:nvSpPr>
          <p:cNvPr id="3" name="Your ad icon circle"/>
          <p:cNvSpPr/>
          <p:nvPr/>
        </p:nvSpPr>
        <p:spPr>
          <a:xfrm>
            <a:off x="960120" y="1920240"/>
            <a:ext cx="1005840" cy="1005840"/>
          </a:xfrm>
          <a:prstGeom prst="ellipse">
            <a:avLst/>
          </a:prstGeom>
          <a:solidFill>
            <a:schemeClr val="accent1"/>
          </a:solidFill>
          <a:ln w="12700">
            <a:solidFill>
              <a:schemeClr val="accent1"/>
            </a:solidFill>
            <a:prstDash val="solid"/>
          </a:ln>
        </p:spPr>
      </p:sp>
      <p:pic>
        <p:nvPicPr>
          <p:cNvPr id="4" name="Your ad icon" descr="Your ad icon">    </p:cNvPr>
          <p:cNvPicPr>
            <a:picLocks noChangeAspect="1"/>
          </p:cNvPicPr>
          <p:nvPr/>
        </p:nvPicPr>
        <p:blipFill>
          <a:blip r:embed="rId1"/>
          <a:stretch>
            <a:fillRect/>
          </a:stretch>
        </p:blipFill>
        <p:spPr>
          <a:xfrm>
            <a:off x="1231697" y="2191817"/>
            <a:ext cx="462686" cy="462686"/>
          </a:xfrm>
          <a:prstGeom prst="rect">
            <a:avLst/>
          </a:prstGeom>
        </p:spPr>
      </p:pic>
      <p:sp>
        <p:nvSpPr>
          <p:cNvPr id="5" name="Arrow 1"/>
          <p:cNvSpPr/>
          <p:nvPr/>
        </p:nvSpPr>
        <p:spPr>
          <a:xfrm>
            <a:off x="2057400" y="2286000"/>
            <a:ext cx="457200" cy="274320"/>
          </a:xfrm>
          <a:prstGeom prst="rightArrow">
            <a:avLst/>
          </a:prstGeom>
          <a:solidFill>
            <a:schemeClr val="accent6"/>
          </a:solidFill>
          <a:ln w="12700">
            <a:solidFill>
              <a:schemeClr val="accent6"/>
            </a:solidFill>
            <a:prstDash val="solid"/>
          </a:ln>
        </p:spPr>
      </p:sp>
      <p:sp>
        <p:nvSpPr>
          <p:cNvPr id="6" name="Text 3"/>
          <p:cNvSpPr txBox="1"/>
          <p:nvPr/>
        </p:nvSpPr>
        <p:spPr>
          <a:xfrm>
            <a:off x="548640" y="3063240"/>
            <a:ext cx="1828800" cy="457200"/>
          </a:xfrm>
          <a:prstGeom prst="rect">
            <a:avLst/>
          </a:prstGeom>
          <a:noFill/>
          <a:ln/>
        </p:spPr>
        <p:txBody>
          <a:bodyPr wrap="square" lIns="0" tIns="0" rIns="0" bIns="0" rtlCol="0" anchor="ctr"/>
          <a:lstStyle/>
          <a:p>
            <a:pPr algn="ctr" indent="0" marL="0">
              <a:buNone/>
            </a:pPr>
            <a:r>
              <a:rPr lang="en-US" sz="1600" b="1" dirty="0">
                <a:solidFill>
                  <a:schemeClr val="tx2"/>
                </a:solidFill>
              </a:rPr>
              <a:t>Your ad</a:t>
            </a:r>
            <a:endParaRPr lang="en-US" sz="1600" dirty="0"/>
          </a:p>
        </p:txBody>
      </p:sp>
      <p:sp>
        <p:nvSpPr>
          <p:cNvPr id="7" name="Booking page icon circle"/>
          <p:cNvSpPr/>
          <p:nvPr/>
        </p:nvSpPr>
        <p:spPr>
          <a:xfrm>
            <a:off x="2834640" y="1920240"/>
            <a:ext cx="1005840" cy="1005840"/>
          </a:xfrm>
          <a:prstGeom prst="ellipse">
            <a:avLst/>
          </a:prstGeom>
          <a:solidFill>
            <a:schemeClr val="accent1"/>
          </a:solidFill>
          <a:ln w="12700">
            <a:solidFill>
              <a:schemeClr val="accent1"/>
            </a:solidFill>
            <a:prstDash val="solid"/>
          </a:ln>
        </p:spPr>
      </p:sp>
      <p:pic>
        <p:nvPicPr>
          <p:cNvPr id="8" name="Booking page icon" descr="Booking page icon">    </p:cNvPr>
          <p:cNvPicPr>
            <a:picLocks noChangeAspect="1"/>
          </p:cNvPicPr>
          <p:nvPr/>
        </p:nvPicPr>
        <p:blipFill>
          <a:blip r:embed="rId2"/>
          <a:stretch>
            <a:fillRect/>
          </a:stretch>
        </p:blipFill>
        <p:spPr>
          <a:xfrm>
            <a:off x="3106217" y="2191817"/>
            <a:ext cx="462686" cy="462686"/>
          </a:xfrm>
          <a:prstGeom prst="rect">
            <a:avLst/>
          </a:prstGeom>
        </p:spPr>
      </p:pic>
      <p:sp>
        <p:nvSpPr>
          <p:cNvPr id="9" name="Arrow 2"/>
          <p:cNvSpPr/>
          <p:nvPr/>
        </p:nvSpPr>
        <p:spPr>
          <a:xfrm>
            <a:off x="3931920" y="2286000"/>
            <a:ext cx="457200" cy="274320"/>
          </a:xfrm>
          <a:prstGeom prst="rightArrow">
            <a:avLst/>
          </a:prstGeom>
          <a:solidFill>
            <a:schemeClr val="accent6"/>
          </a:solidFill>
          <a:ln w="12700">
            <a:solidFill>
              <a:schemeClr val="accent6"/>
            </a:solidFill>
            <a:prstDash val="solid"/>
          </a:ln>
        </p:spPr>
      </p:sp>
      <p:sp>
        <p:nvSpPr>
          <p:cNvPr id="10" name="Text 6"/>
          <p:cNvSpPr txBox="1"/>
          <p:nvPr/>
        </p:nvSpPr>
        <p:spPr>
          <a:xfrm>
            <a:off x="2423160" y="3063240"/>
            <a:ext cx="1828800" cy="457200"/>
          </a:xfrm>
          <a:prstGeom prst="rect">
            <a:avLst/>
          </a:prstGeom>
          <a:noFill/>
          <a:ln/>
        </p:spPr>
        <p:txBody>
          <a:bodyPr wrap="square" lIns="0" tIns="0" rIns="0" bIns="0" rtlCol="0" anchor="ctr"/>
          <a:lstStyle/>
          <a:p>
            <a:pPr algn="ctr" indent="0" marL="0">
              <a:buNone/>
            </a:pPr>
            <a:r>
              <a:rPr lang="en-US" sz="1600" b="1" dirty="0">
                <a:solidFill>
                  <a:schemeClr val="tx2"/>
                </a:solidFill>
              </a:rPr>
              <a:t>Booking page</a:t>
            </a:r>
            <a:endParaRPr lang="en-US" sz="1600" dirty="0"/>
          </a:p>
        </p:txBody>
      </p:sp>
      <p:sp>
        <p:nvSpPr>
          <p:cNvPr id="11" name="Instant reply icon circle"/>
          <p:cNvSpPr/>
          <p:nvPr/>
        </p:nvSpPr>
        <p:spPr>
          <a:xfrm>
            <a:off x="4709160" y="1920240"/>
            <a:ext cx="1005840" cy="1005840"/>
          </a:xfrm>
          <a:prstGeom prst="ellipse">
            <a:avLst/>
          </a:prstGeom>
          <a:solidFill>
            <a:schemeClr val="accent1"/>
          </a:solidFill>
          <a:ln w="12700">
            <a:solidFill>
              <a:schemeClr val="accent1"/>
            </a:solidFill>
            <a:prstDash val="solid"/>
          </a:ln>
        </p:spPr>
      </p:sp>
      <p:pic>
        <p:nvPicPr>
          <p:cNvPr id="12" name="Instant reply icon" descr="Instant reply icon">    </p:cNvPr>
          <p:cNvPicPr>
            <a:picLocks noChangeAspect="1"/>
          </p:cNvPicPr>
          <p:nvPr/>
        </p:nvPicPr>
        <p:blipFill>
          <a:blip r:embed="rId3"/>
          <a:stretch>
            <a:fillRect/>
          </a:stretch>
        </p:blipFill>
        <p:spPr>
          <a:xfrm>
            <a:off x="4980737" y="2191817"/>
            <a:ext cx="462686" cy="462686"/>
          </a:xfrm>
          <a:prstGeom prst="rect">
            <a:avLst/>
          </a:prstGeom>
        </p:spPr>
      </p:pic>
      <p:sp>
        <p:nvSpPr>
          <p:cNvPr id="13" name="Arrow 3"/>
          <p:cNvSpPr/>
          <p:nvPr/>
        </p:nvSpPr>
        <p:spPr>
          <a:xfrm>
            <a:off x="5806440" y="2286000"/>
            <a:ext cx="457200" cy="274320"/>
          </a:xfrm>
          <a:prstGeom prst="rightArrow">
            <a:avLst/>
          </a:prstGeom>
          <a:solidFill>
            <a:schemeClr val="accent6"/>
          </a:solidFill>
          <a:ln w="12700">
            <a:solidFill>
              <a:schemeClr val="accent6"/>
            </a:solidFill>
            <a:prstDash val="solid"/>
          </a:ln>
        </p:spPr>
      </p:sp>
      <p:sp>
        <p:nvSpPr>
          <p:cNvPr id="14" name="Text 9"/>
          <p:cNvSpPr txBox="1"/>
          <p:nvPr/>
        </p:nvSpPr>
        <p:spPr>
          <a:xfrm>
            <a:off x="4297680" y="3063240"/>
            <a:ext cx="1828800" cy="457200"/>
          </a:xfrm>
          <a:prstGeom prst="rect">
            <a:avLst/>
          </a:prstGeom>
          <a:noFill/>
          <a:ln/>
        </p:spPr>
        <p:txBody>
          <a:bodyPr wrap="square" lIns="0" tIns="0" rIns="0" bIns="0" rtlCol="0" anchor="ctr"/>
          <a:lstStyle/>
          <a:p>
            <a:pPr algn="ctr" indent="0" marL="0">
              <a:buNone/>
            </a:pPr>
            <a:r>
              <a:rPr lang="en-US" sz="1600" b="1" dirty="0">
                <a:solidFill>
                  <a:schemeClr val="tx2"/>
                </a:solidFill>
              </a:rPr>
              <a:t>Instant reply</a:t>
            </a:r>
            <a:endParaRPr lang="en-US" sz="1600" dirty="0"/>
          </a:p>
        </p:txBody>
      </p:sp>
      <p:sp>
        <p:nvSpPr>
          <p:cNvPr id="15" name="Booked icon circle"/>
          <p:cNvSpPr/>
          <p:nvPr/>
        </p:nvSpPr>
        <p:spPr>
          <a:xfrm>
            <a:off x="6583680" y="1920240"/>
            <a:ext cx="1005840" cy="1005840"/>
          </a:xfrm>
          <a:prstGeom prst="ellipse">
            <a:avLst/>
          </a:prstGeom>
          <a:solidFill>
            <a:schemeClr val="accent1"/>
          </a:solidFill>
          <a:ln w="12700">
            <a:solidFill>
              <a:schemeClr val="accent1"/>
            </a:solidFill>
            <a:prstDash val="solid"/>
          </a:ln>
        </p:spPr>
      </p:sp>
      <p:pic>
        <p:nvPicPr>
          <p:cNvPr id="16" name="Booked icon" descr="Booked icon">    </p:cNvPr>
          <p:cNvPicPr>
            <a:picLocks noChangeAspect="1"/>
          </p:cNvPicPr>
          <p:nvPr/>
        </p:nvPicPr>
        <p:blipFill>
          <a:blip r:embed="rId4"/>
          <a:stretch>
            <a:fillRect/>
          </a:stretch>
        </p:blipFill>
        <p:spPr>
          <a:xfrm>
            <a:off x="6855257" y="2191817"/>
            <a:ext cx="462686" cy="462686"/>
          </a:xfrm>
          <a:prstGeom prst="rect">
            <a:avLst/>
          </a:prstGeom>
        </p:spPr>
      </p:pic>
      <p:sp>
        <p:nvSpPr>
          <p:cNvPr id="17" name="Arrow 4"/>
          <p:cNvSpPr/>
          <p:nvPr/>
        </p:nvSpPr>
        <p:spPr>
          <a:xfrm>
            <a:off x="7680960" y="2286000"/>
            <a:ext cx="457200" cy="274320"/>
          </a:xfrm>
          <a:prstGeom prst="rightArrow">
            <a:avLst/>
          </a:prstGeom>
          <a:solidFill>
            <a:schemeClr val="accent6"/>
          </a:solidFill>
          <a:ln w="12700">
            <a:solidFill>
              <a:schemeClr val="accent6"/>
            </a:solidFill>
            <a:prstDash val="solid"/>
          </a:ln>
        </p:spPr>
      </p:sp>
      <p:sp>
        <p:nvSpPr>
          <p:cNvPr id="18" name="Text 12"/>
          <p:cNvSpPr txBox="1"/>
          <p:nvPr/>
        </p:nvSpPr>
        <p:spPr>
          <a:xfrm>
            <a:off x="6172200" y="3063240"/>
            <a:ext cx="1828800" cy="457200"/>
          </a:xfrm>
          <a:prstGeom prst="rect">
            <a:avLst/>
          </a:prstGeom>
          <a:noFill/>
          <a:ln/>
        </p:spPr>
        <p:txBody>
          <a:bodyPr wrap="square" lIns="0" tIns="0" rIns="0" bIns="0" rtlCol="0" anchor="ctr"/>
          <a:lstStyle/>
          <a:p>
            <a:pPr algn="ctr" indent="0" marL="0">
              <a:buNone/>
            </a:pPr>
            <a:r>
              <a:rPr lang="en-US" sz="1600" b="1" dirty="0">
                <a:solidFill>
                  <a:schemeClr val="tx2"/>
                </a:solidFill>
              </a:rPr>
              <a:t>Booked</a:t>
            </a:r>
            <a:endParaRPr lang="en-US" sz="1600" dirty="0"/>
          </a:p>
        </p:txBody>
      </p:sp>
      <p:sp>
        <p:nvSpPr>
          <p:cNvPr id="19" name="Shows up icon circle"/>
          <p:cNvSpPr/>
          <p:nvPr/>
        </p:nvSpPr>
        <p:spPr>
          <a:xfrm>
            <a:off x="8458200" y="1920240"/>
            <a:ext cx="1005840" cy="1005840"/>
          </a:xfrm>
          <a:prstGeom prst="ellipse">
            <a:avLst/>
          </a:prstGeom>
          <a:solidFill>
            <a:schemeClr val="accent1"/>
          </a:solidFill>
          <a:ln w="12700">
            <a:solidFill>
              <a:schemeClr val="accent1"/>
            </a:solidFill>
            <a:prstDash val="solid"/>
          </a:ln>
        </p:spPr>
      </p:sp>
      <p:pic>
        <p:nvPicPr>
          <p:cNvPr id="20" name="Shows up icon" descr="Shows up icon">    </p:cNvPr>
          <p:cNvPicPr>
            <a:picLocks noChangeAspect="1"/>
          </p:cNvPicPr>
          <p:nvPr/>
        </p:nvPicPr>
        <p:blipFill>
          <a:blip r:embed="rId5"/>
          <a:stretch>
            <a:fillRect/>
          </a:stretch>
        </p:blipFill>
        <p:spPr>
          <a:xfrm>
            <a:off x="8729777" y="2191817"/>
            <a:ext cx="462686" cy="462686"/>
          </a:xfrm>
          <a:prstGeom prst="rect">
            <a:avLst/>
          </a:prstGeom>
        </p:spPr>
      </p:pic>
      <p:sp>
        <p:nvSpPr>
          <p:cNvPr id="21" name="Arrow 5"/>
          <p:cNvSpPr/>
          <p:nvPr/>
        </p:nvSpPr>
        <p:spPr>
          <a:xfrm>
            <a:off x="9555480" y="2286000"/>
            <a:ext cx="457200" cy="274320"/>
          </a:xfrm>
          <a:prstGeom prst="rightArrow">
            <a:avLst/>
          </a:prstGeom>
          <a:solidFill>
            <a:schemeClr val="accent6"/>
          </a:solidFill>
          <a:ln w="12700">
            <a:solidFill>
              <a:schemeClr val="accent6"/>
            </a:solidFill>
            <a:prstDash val="solid"/>
          </a:ln>
        </p:spPr>
      </p:sp>
      <p:sp>
        <p:nvSpPr>
          <p:cNvPr id="22" name="Text 15"/>
          <p:cNvSpPr txBox="1"/>
          <p:nvPr/>
        </p:nvSpPr>
        <p:spPr>
          <a:xfrm>
            <a:off x="8046720" y="3063240"/>
            <a:ext cx="1828800" cy="457200"/>
          </a:xfrm>
          <a:prstGeom prst="rect">
            <a:avLst/>
          </a:prstGeom>
          <a:noFill/>
          <a:ln/>
        </p:spPr>
        <p:txBody>
          <a:bodyPr wrap="square" lIns="0" tIns="0" rIns="0" bIns="0" rtlCol="0" anchor="ctr"/>
          <a:lstStyle/>
          <a:p>
            <a:pPr algn="ctr" indent="0" marL="0">
              <a:buNone/>
            </a:pPr>
            <a:r>
              <a:rPr lang="en-US" sz="1600" b="1" dirty="0">
                <a:solidFill>
                  <a:schemeClr val="tx2"/>
                </a:solidFill>
              </a:rPr>
              <a:t>Shows up</a:t>
            </a:r>
            <a:endParaRPr lang="en-US" sz="1600" dirty="0"/>
          </a:p>
        </p:txBody>
      </p:sp>
      <p:sp>
        <p:nvSpPr>
          <p:cNvPr id="23" name="Tracked to revenue icon circle"/>
          <p:cNvSpPr/>
          <p:nvPr/>
        </p:nvSpPr>
        <p:spPr>
          <a:xfrm>
            <a:off x="10332720" y="1920240"/>
            <a:ext cx="1005840" cy="1005840"/>
          </a:xfrm>
          <a:prstGeom prst="ellipse">
            <a:avLst/>
          </a:prstGeom>
          <a:solidFill>
            <a:schemeClr val="accent1"/>
          </a:solidFill>
          <a:ln w="12700">
            <a:solidFill>
              <a:schemeClr val="accent1"/>
            </a:solidFill>
            <a:prstDash val="solid"/>
          </a:ln>
        </p:spPr>
      </p:sp>
      <p:pic>
        <p:nvPicPr>
          <p:cNvPr id="24" name="Tracked to revenue icon" descr="Tracked to revenue icon">    </p:cNvPr>
          <p:cNvPicPr>
            <a:picLocks noChangeAspect="1"/>
          </p:cNvPicPr>
          <p:nvPr/>
        </p:nvPicPr>
        <p:blipFill>
          <a:blip r:embed="rId6"/>
          <a:stretch>
            <a:fillRect/>
          </a:stretch>
        </p:blipFill>
        <p:spPr>
          <a:xfrm>
            <a:off x="10604297" y="2191817"/>
            <a:ext cx="462686" cy="462686"/>
          </a:xfrm>
          <a:prstGeom prst="rect">
            <a:avLst/>
          </a:prstGeom>
        </p:spPr>
      </p:pic>
      <p:sp>
        <p:nvSpPr>
          <p:cNvPr id="25" name="Text 17"/>
          <p:cNvSpPr txBox="1"/>
          <p:nvPr/>
        </p:nvSpPr>
        <p:spPr>
          <a:xfrm>
            <a:off x="9921240" y="3063240"/>
            <a:ext cx="1828800" cy="457200"/>
          </a:xfrm>
          <a:prstGeom prst="rect">
            <a:avLst/>
          </a:prstGeom>
          <a:noFill/>
          <a:ln/>
        </p:spPr>
        <p:txBody>
          <a:bodyPr wrap="square" lIns="0" tIns="0" rIns="0" bIns="0" rtlCol="0" anchor="ctr"/>
          <a:lstStyle/>
          <a:p>
            <a:pPr algn="ctr" indent="0" marL="0">
              <a:buNone/>
            </a:pPr>
            <a:r>
              <a:rPr lang="en-US" sz="1600" b="1" dirty="0">
                <a:solidFill>
                  <a:schemeClr val="tx2"/>
                </a:solidFill>
              </a:rPr>
              <a:t>Tracked to revenue</a:t>
            </a:r>
            <a:endParaRPr lang="en-US" sz="1600" dirty="0"/>
          </a:p>
        </p:txBody>
      </p:sp>
      <p:sp>
        <p:nvSpPr>
          <p:cNvPr id="26" name="Promise panel"/>
          <p:cNvSpPr/>
          <p:nvPr/>
        </p:nvSpPr>
        <p:spPr>
          <a:xfrm>
            <a:off x="548640" y="3977640"/>
            <a:ext cx="11064240" cy="1783080"/>
          </a:xfrm>
          <a:prstGeom prst="roundRect">
            <a:avLst>
              <a:gd name="adj" fmla="val 6154"/>
            </a:avLst>
          </a:prstGeom>
          <a:solidFill>
            <a:schemeClr val="bg2"/>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27" name="Text 19"/>
          <p:cNvSpPr txBox="1"/>
          <p:nvPr/>
        </p:nvSpPr>
        <p:spPr>
          <a:xfrm>
            <a:off x="914400" y="4251960"/>
            <a:ext cx="1033272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We build it, run it and fix it.</a:t>
            </a:r>
            <a:endParaRPr lang="en-US" sz="2800" dirty="0"/>
          </a:p>
        </p:txBody>
      </p:sp>
      <p:sp>
        <p:nvSpPr>
          <p:cNvPr id="28" name="Text 20"/>
          <p:cNvSpPr txBox="1"/>
          <p:nvPr/>
        </p:nvSpPr>
        <p:spPr>
          <a:xfrm>
            <a:off x="914400" y="4892040"/>
            <a:ext cx="10332720" cy="457200"/>
          </a:xfrm>
          <a:prstGeom prst="rect">
            <a:avLst/>
          </a:prstGeom>
          <a:noFill/>
          <a:ln/>
        </p:spPr>
        <p:txBody>
          <a:bodyPr wrap="square" lIns="0" tIns="0" rIns="0" bIns="0" rtlCol="0" anchor="ctr"/>
          <a:lstStyle/>
          <a:p>
            <a:pPr indent="0" marL="0">
              <a:buNone/>
            </a:pPr>
            <a:r>
              <a:rPr lang="en-US" sz="1800" dirty="0">
                <a:solidFill>
                  <a:schemeClr val="accent5"/>
                </a:solidFill>
              </a:rPr>
              <a:t>Your team just takes the appointments and tells us what happened to each one.</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tx2"/>
                </a:solidFill>
              </a:rPr>
              <a:t>What we run for you, every month</a:t>
            </a:r>
            <a:endParaRPr lang="en-US" sz="3400" dirty="0"/>
          </a:p>
        </p:txBody>
      </p:sp>
      <p:sp>
        <p:nvSpPr>
          <p:cNvPr id="3" name="Step card 1"/>
          <p:cNvSpPr/>
          <p:nvPr/>
        </p:nvSpPr>
        <p:spPr>
          <a:xfrm>
            <a:off x="548640" y="1554480"/>
            <a:ext cx="3566160" cy="2194560"/>
          </a:xfrm>
          <a:prstGeom prst="roundRect">
            <a:avLst>
              <a:gd name="adj" fmla="val 5000"/>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4" name="Ads that find the right patients icon circle"/>
          <p:cNvSpPr/>
          <p:nvPr/>
        </p:nvSpPr>
        <p:spPr>
          <a:xfrm>
            <a:off x="777240" y="1783080"/>
            <a:ext cx="548640" cy="548640"/>
          </a:xfrm>
          <a:prstGeom prst="ellipse">
            <a:avLst/>
          </a:prstGeom>
          <a:solidFill>
            <a:schemeClr val="bg2"/>
          </a:solidFill>
          <a:ln w="12700">
            <a:solidFill>
              <a:schemeClr val="bg2"/>
            </a:solidFill>
            <a:prstDash val="solid"/>
          </a:ln>
        </p:spPr>
      </p:sp>
      <p:pic>
        <p:nvPicPr>
          <p:cNvPr id="5" name="Ads that find the right patients icon" descr="Ads that find the right patients icon">    </p:cNvPr>
          <p:cNvPicPr>
            <a:picLocks noChangeAspect="1"/>
          </p:cNvPicPr>
          <p:nvPr/>
        </p:nvPicPr>
        <p:blipFill>
          <a:blip r:embed="rId1"/>
          <a:stretch>
            <a:fillRect/>
          </a:stretch>
        </p:blipFill>
        <p:spPr>
          <a:xfrm>
            <a:off x="925373" y="1931213"/>
            <a:ext cx="252374" cy="252374"/>
          </a:xfrm>
          <a:prstGeom prst="rect">
            <a:avLst/>
          </a:prstGeom>
        </p:spPr>
      </p:pic>
      <p:sp>
        <p:nvSpPr>
          <p:cNvPr id="6" name="Text 3"/>
          <p:cNvSpPr txBox="1"/>
          <p:nvPr/>
        </p:nvSpPr>
        <p:spPr>
          <a:xfrm>
            <a:off x="1463040" y="1783080"/>
            <a:ext cx="2514600" cy="548640"/>
          </a:xfrm>
          <a:prstGeom prst="rect">
            <a:avLst/>
          </a:prstGeom>
          <a:noFill/>
          <a:ln/>
        </p:spPr>
        <p:txBody>
          <a:bodyPr wrap="square" lIns="0" tIns="0" rIns="0" bIns="0" rtlCol="0" anchor="ctr"/>
          <a:lstStyle/>
          <a:p>
            <a:pPr indent="0" marL="0">
              <a:buNone/>
            </a:pPr>
            <a:r>
              <a:rPr lang="en-US" sz="1600" b="1" dirty="0">
                <a:solidFill>
                  <a:schemeClr val="tx2"/>
                </a:solidFill>
              </a:rPr>
              <a:t>Ads that find the right patients</a:t>
            </a:r>
            <a:endParaRPr lang="en-US" sz="1600" dirty="0"/>
          </a:p>
        </p:txBody>
      </p:sp>
      <p:sp>
        <p:nvSpPr>
          <p:cNvPr id="7" name="Text 4"/>
          <p:cNvSpPr txBox="1"/>
          <p:nvPr/>
        </p:nvSpPr>
        <p:spPr>
          <a:xfrm>
            <a:off x="777240" y="2468880"/>
            <a:ext cx="3108960" cy="1188720"/>
          </a:xfrm>
          <a:prstGeom prst="rect">
            <a:avLst/>
          </a:prstGeom>
          <a:noFill/>
          <a:ln/>
        </p:spPr>
        <p:txBody>
          <a:bodyPr wrap="square" lIns="0" tIns="0" rIns="0" bIns="0" rtlCol="0" anchor="t"/>
          <a:lstStyle/>
          <a:p>
            <a:pPr indent="0" marL="0">
              <a:buNone/>
            </a:pPr>
            <a:r>
              <a:rPr lang="en-US" sz="1400" dirty="0">
                <a:solidFill>
                  <a:schemeClr val="accent5"/>
                </a:solidFill>
              </a:rPr>
              <a:t>Google Search and Meta ads aimed at people already looking for your treatments, with form questions that filter out tyre-kickers.</a:t>
            </a:r>
            <a:endParaRPr lang="en-US" sz="1400" dirty="0"/>
          </a:p>
        </p:txBody>
      </p:sp>
      <p:sp>
        <p:nvSpPr>
          <p:cNvPr id="8" name="Step card 2"/>
          <p:cNvSpPr/>
          <p:nvPr/>
        </p:nvSpPr>
        <p:spPr>
          <a:xfrm>
            <a:off x="4297680" y="1554480"/>
            <a:ext cx="3566160" cy="2194560"/>
          </a:xfrm>
          <a:prstGeom prst="roundRect">
            <a:avLst>
              <a:gd name="adj" fmla="val 5000"/>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9" name="A page built to book icon circle"/>
          <p:cNvSpPr/>
          <p:nvPr/>
        </p:nvSpPr>
        <p:spPr>
          <a:xfrm>
            <a:off x="4526280" y="1783080"/>
            <a:ext cx="548640" cy="548640"/>
          </a:xfrm>
          <a:prstGeom prst="ellipse">
            <a:avLst/>
          </a:prstGeom>
          <a:solidFill>
            <a:schemeClr val="bg2"/>
          </a:solidFill>
          <a:ln w="12700">
            <a:solidFill>
              <a:schemeClr val="bg2"/>
            </a:solidFill>
            <a:prstDash val="solid"/>
          </a:ln>
        </p:spPr>
      </p:sp>
      <p:pic>
        <p:nvPicPr>
          <p:cNvPr id="10" name="A page built to book icon" descr="A page built to book icon">    </p:cNvPr>
          <p:cNvPicPr>
            <a:picLocks noChangeAspect="1"/>
          </p:cNvPicPr>
          <p:nvPr/>
        </p:nvPicPr>
        <p:blipFill>
          <a:blip r:embed="rId2"/>
          <a:stretch>
            <a:fillRect/>
          </a:stretch>
        </p:blipFill>
        <p:spPr>
          <a:xfrm>
            <a:off x="4674413" y="1931213"/>
            <a:ext cx="252374" cy="252374"/>
          </a:xfrm>
          <a:prstGeom prst="rect">
            <a:avLst/>
          </a:prstGeom>
        </p:spPr>
      </p:pic>
      <p:sp>
        <p:nvSpPr>
          <p:cNvPr id="11" name="Text 7"/>
          <p:cNvSpPr txBox="1"/>
          <p:nvPr/>
        </p:nvSpPr>
        <p:spPr>
          <a:xfrm>
            <a:off x="5212080" y="1783080"/>
            <a:ext cx="2514600" cy="548640"/>
          </a:xfrm>
          <a:prstGeom prst="rect">
            <a:avLst/>
          </a:prstGeom>
          <a:noFill/>
          <a:ln/>
        </p:spPr>
        <p:txBody>
          <a:bodyPr wrap="square" lIns="0" tIns="0" rIns="0" bIns="0" rtlCol="0" anchor="ctr"/>
          <a:lstStyle/>
          <a:p>
            <a:pPr indent="0" marL="0">
              <a:buNone/>
            </a:pPr>
            <a:r>
              <a:rPr lang="en-US" sz="1600" b="1" dirty="0">
                <a:solidFill>
                  <a:schemeClr val="tx2"/>
                </a:solidFill>
              </a:rPr>
              <a:t>A page built to book</a:t>
            </a:r>
            <a:endParaRPr lang="en-US" sz="1600" dirty="0"/>
          </a:p>
        </p:txBody>
      </p:sp>
      <p:sp>
        <p:nvSpPr>
          <p:cNvPr id="12" name="Text 8"/>
          <p:cNvSpPr txBox="1"/>
          <p:nvPr/>
        </p:nvSpPr>
        <p:spPr>
          <a:xfrm>
            <a:off x="4526280" y="2468880"/>
            <a:ext cx="3108960" cy="1188720"/>
          </a:xfrm>
          <a:prstGeom prst="rect">
            <a:avLst/>
          </a:prstGeom>
          <a:noFill/>
          <a:ln/>
        </p:spPr>
        <p:txBody>
          <a:bodyPr wrap="square" lIns="0" tIns="0" rIns="0" bIns="0" rtlCol="0" anchor="t"/>
          <a:lstStyle/>
          <a:p>
            <a:pPr indent="0" marL="0">
              <a:buNone/>
            </a:pPr>
            <a:r>
              <a:rPr lang="en-US" sz="1400" dirty="0">
                <a:solidFill>
                  <a:schemeClr val="accent5"/>
                </a:solidFill>
              </a:rPr>
              <a:t>A fast landing page with your reviews, provider bios and answers to common questions. Booking in two taps.</a:t>
            </a:r>
            <a:endParaRPr lang="en-US" sz="1400" dirty="0"/>
          </a:p>
        </p:txBody>
      </p:sp>
      <p:sp>
        <p:nvSpPr>
          <p:cNvPr id="13" name="Step card 3"/>
          <p:cNvSpPr/>
          <p:nvPr/>
        </p:nvSpPr>
        <p:spPr>
          <a:xfrm>
            <a:off x="8046720" y="1554480"/>
            <a:ext cx="3566160" cy="2194560"/>
          </a:xfrm>
          <a:prstGeom prst="roundRect">
            <a:avLst>
              <a:gd name="adj" fmla="val 5000"/>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4" name="A reply within minutes icon circle"/>
          <p:cNvSpPr/>
          <p:nvPr/>
        </p:nvSpPr>
        <p:spPr>
          <a:xfrm>
            <a:off x="8275320" y="1783080"/>
            <a:ext cx="548640" cy="548640"/>
          </a:xfrm>
          <a:prstGeom prst="ellipse">
            <a:avLst/>
          </a:prstGeom>
          <a:solidFill>
            <a:schemeClr val="bg2"/>
          </a:solidFill>
          <a:ln w="12700">
            <a:solidFill>
              <a:schemeClr val="bg2"/>
            </a:solidFill>
            <a:prstDash val="solid"/>
          </a:ln>
        </p:spPr>
      </p:sp>
      <p:pic>
        <p:nvPicPr>
          <p:cNvPr id="15" name="A reply within minutes icon" descr="A reply within minutes icon">    </p:cNvPr>
          <p:cNvPicPr>
            <a:picLocks noChangeAspect="1"/>
          </p:cNvPicPr>
          <p:nvPr/>
        </p:nvPicPr>
        <p:blipFill>
          <a:blip r:embed="rId3"/>
          <a:stretch>
            <a:fillRect/>
          </a:stretch>
        </p:blipFill>
        <p:spPr>
          <a:xfrm>
            <a:off x="8423453" y="1931213"/>
            <a:ext cx="252374" cy="252374"/>
          </a:xfrm>
          <a:prstGeom prst="rect">
            <a:avLst/>
          </a:prstGeom>
        </p:spPr>
      </p:pic>
      <p:sp>
        <p:nvSpPr>
          <p:cNvPr id="16" name="Text 11"/>
          <p:cNvSpPr txBox="1"/>
          <p:nvPr/>
        </p:nvSpPr>
        <p:spPr>
          <a:xfrm>
            <a:off x="8961120" y="1783080"/>
            <a:ext cx="2514600" cy="548640"/>
          </a:xfrm>
          <a:prstGeom prst="rect">
            <a:avLst/>
          </a:prstGeom>
          <a:noFill/>
          <a:ln/>
        </p:spPr>
        <p:txBody>
          <a:bodyPr wrap="square" lIns="0" tIns="0" rIns="0" bIns="0" rtlCol="0" anchor="ctr"/>
          <a:lstStyle/>
          <a:p>
            <a:pPr indent="0" marL="0">
              <a:buNone/>
            </a:pPr>
            <a:r>
              <a:rPr lang="en-US" sz="1600" b="1" dirty="0">
                <a:solidFill>
                  <a:schemeClr val="tx2"/>
                </a:solidFill>
              </a:rPr>
              <a:t>A reply within minutes</a:t>
            </a:r>
            <a:endParaRPr lang="en-US" sz="1600" dirty="0"/>
          </a:p>
        </p:txBody>
      </p:sp>
      <p:sp>
        <p:nvSpPr>
          <p:cNvPr id="17" name="Text 12"/>
          <p:cNvSpPr txBox="1"/>
          <p:nvPr/>
        </p:nvSpPr>
        <p:spPr>
          <a:xfrm>
            <a:off x="8275320" y="2468880"/>
            <a:ext cx="3108960" cy="1188720"/>
          </a:xfrm>
          <a:prstGeom prst="rect">
            <a:avLst/>
          </a:prstGeom>
          <a:noFill/>
          <a:ln/>
        </p:spPr>
        <p:txBody>
          <a:bodyPr wrap="square" lIns="0" tIns="0" rIns="0" bIns="0" rtlCol="0" anchor="t"/>
          <a:lstStyle/>
          <a:p>
            <a:pPr indent="0" marL="0">
              <a:buNone/>
            </a:pPr>
            <a:r>
              <a:rPr lang="en-US" sz="1400" dirty="0">
                <a:solidFill>
                  <a:schemeClr val="accent5"/>
                </a:solidFill>
              </a:rPr>
              <a:t>Every lead gets an instant text and call-back, even at 11pm on a Sunday. Your staff get an alert to take over.</a:t>
            </a:r>
            <a:endParaRPr lang="en-US" sz="1400" dirty="0"/>
          </a:p>
        </p:txBody>
      </p:sp>
      <p:sp>
        <p:nvSpPr>
          <p:cNvPr id="18" name="Step card 4"/>
          <p:cNvSpPr/>
          <p:nvPr/>
        </p:nvSpPr>
        <p:spPr>
          <a:xfrm>
            <a:off x="548640" y="3931920"/>
            <a:ext cx="3566160" cy="2194560"/>
          </a:xfrm>
          <a:prstGeom prst="roundRect">
            <a:avLst>
              <a:gd name="adj" fmla="val 5000"/>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9" name="Reminders so they show up icon circle"/>
          <p:cNvSpPr/>
          <p:nvPr/>
        </p:nvSpPr>
        <p:spPr>
          <a:xfrm>
            <a:off x="777240" y="4160520"/>
            <a:ext cx="548640" cy="548640"/>
          </a:xfrm>
          <a:prstGeom prst="ellipse">
            <a:avLst/>
          </a:prstGeom>
          <a:solidFill>
            <a:schemeClr val="bg2"/>
          </a:solidFill>
          <a:ln w="12700">
            <a:solidFill>
              <a:schemeClr val="bg2"/>
            </a:solidFill>
            <a:prstDash val="solid"/>
          </a:ln>
        </p:spPr>
      </p:sp>
      <p:pic>
        <p:nvPicPr>
          <p:cNvPr id="20" name="Reminders so they show up icon" descr="Reminders so they show up icon">    </p:cNvPr>
          <p:cNvPicPr>
            <a:picLocks noChangeAspect="1"/>
          </p:cNvPicPr>
          <p:nvPr/>
        </p:nvPicPr>
        <p:blipFill>
          <a:blip r:embed="rId4"/>
          <a:stretch>
            <a:fillRect/>
          </a:stretch>
        </p:blipFill>
        <p:spPr>
          <a:xfrm>
            <a:off x="925373" y="4308653"/>
            <a:ext cx="252374" cy="252374"/>
          </a:xfrm>
          <a:prstGeom prst="rect">
            <a:avLst/>
          </a:prstGeom>
        </p:spPr>
      </p:pic>
      <p:sp>
        <p:nvSpPr>
          <p:cNvPr id="21" name="Text 15"/>
          <p:cNvSpPr txBox="1"/>
          <p:nvPr/>
        </p:nvSpPr>
        <p:spPr>
          <a:xfrm>
            <a:off x="1463040" y="4160520"/>
            <a:ext cx="2514600" cy="548640"/>
          </a:xfrm>
          <a:prstGeom prst="rect">
            <a:avLst/>
          </a:prstGeom>
          <a:noFill/>
          <a:ln/>
        </p:spPr>
        <p:txBody>
          <a:bodyPr wrap="square" lIns="0" tIns="0" rIns="0" bIns="0" rtlCol="0" anchor="ctr"/>
          <a:lstStyle/>
          <a:p>
            <a:pPr indent="0" marL="0">
              <a:buNone/>
            </a:pPr>
            <a:r>
              <a:rPr lang="en-US" sz="1600" b="1" dirty="0">
                <a:solidFill>
                  <a:schemeClr val="tx2"/>
                </a:solidFill>
              </a:rPr>
              <a:t>Reminders so they show up</a:t>
            </a:r>
            <a:endParaRPr lang="en-US" sz="1600" dirty="0"/>
          </a:p>
        </p:txBody>
      </p:sp>
      <p:sp>
        <p:nvSpPr>
          <p:cNvPr id="22" name="Text 16"/>
          <p:cNvSpPr txBox="1"/>
          <p:nvPr/>
        </p:nvSpPr>
        <p:spPr>
          <a:xfrm>
            <a:off x="777240" y="4846320"/>
            <a:ext cx="3108960" cy="1188720"/>
          </a:xfrm>
          <a:prstGeom prst="rect">
            <a:avLst/>
          </a:prstGeom>
          <a:noFill/>
          <a:ln/>
        </p:spPr>
        <p:txBody>
          <a:bodyPr wrap="square" lIns="0" tIns="0" rIns="0" bIns="0" rtlCol="0" anchor="t"/>
          <a:lstStyle/>
          <a:p>
            <a:pPr indent="0" marL="0">
              <a:buNone/>
            </a:pPr>
            <a:r>
              <a:rPr lang="en-US" sz="1400" dirty="0">
                <a:solidFill>
                  <a:schemeClr val="accent5"/>
                </a:solidFill>
              </a:rPr>
              <a:t>Reminders, a short pre-visit message and an optional deposit. Cancelled slots are offered to the next person.</a:t>
            </a:r>
            <a:endParaRPr lang="en-US" sz="1400" dirty="0"/>
          </a:p>
        </p:txBody>
      </p:sp>
      <p:sp>
        <p:nvSpPr>
          <p:cNvPr id="23" name="Step card 5"/>
          <p:cNvSpPr/>
          <p:nvPr/>
        </p:nvSpPr>
        <p:spPr>
          <a:xfrm>
            <a:off x="4297680" y="3931920"/>
            <a:ext cx="3566160" cy="2194560"/>
          </a:xfrm>
          <a:prstGeom prst="roundRect">
            <a:avLst>
              <a:gd name="adj" fmla="val 5000"/>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24" name="Fresh ads, inside the rules icon circle"/>
          <p:cNvSpPr/>
          <p:nvPr/>
        </p:nvSpPr>
        <p:spPr>
          <a:xfrm>
            <a:off x="4526280" y="4160520"/>
            <a:ext cx="548640" cy="548640"/>
          </a:xfrm>
          <a:prstGeom prst="ellipse">
            <a:avLst/>
          </a:prstGeom>
          <a:solidFill>
            <a:schemeClr val="bg2"/>
          </a:solidFill>
          <a:ln w="12700">
            <a:solidFill>
              <a:schemeClr val="bg2"/>
            </a:solidFill>
            <a:prstDash val="solid"/>
          </a:ln>
        </p:spPr>
      </p:sp>
      <p:pic>
        <p:nvPicPr>
          <p:cNvPr id="25" name="Fresh ads, inside the rules icon" descr="Fresh ads, inside the rules icon">    </p:cNvPr>
          <p:cNvPicPr>
            <a:picLocks noChangeAspect="1"/>
          </p:cNvPicPr>
          <p:nvPr/>
        </p:nvPicPr>
        <p:blipFill>
          <a:blip r:embed="rId5"/>
          <a:stretch>
            <a:fillRect/>
          </a:stretch>
        </p:blipFill>
        <p:spPr>
          <a:xfrm>
            <a:off x="4674413" y="4308653"/>
            <a:ext cx="252374" cy="252374"/>
          </a:xfrm>
          <a:prstGeom prst="rect">
            <a:avLst/>
          </a:prstGeom>
        </p:spPr>
      </p:pic>
      <p:sp>
        <p:nvSpPr>
          <p:cNvPr id="26" name="Text 19"/>
          <p:cNvSpPr txBox="1"/>
          <p:nvPr/>
        </p:nvSpPr>
        <p:spPr>
          <a:xfrm>
            <a:off x="5212080" y="4160520"/>
            <a:ext cx="2514600" cy="548640"/>
          </a:xfrm>
          <a:prstGeom prst="rect">
            <a:avLst/>
          </a:prstGeom>
          <a:noFill/>
          <a:ln/>
        </p:spPr>
        <p:txBody>
          <a:bodyPr wrap="square" lIns="0" tIns="0" rIns="0" bIns="0" rtlCol="0" anchor="ctr"/>
          <a:lstStyle/>
          <a:p>
            <a:pPr indent="0" marL="0">
              <a:buNone/>
            </a:pPr>
            <a:r>
              <a:rPr lang="en-US" sz="1600" b="1" dirty="0">
                <a:solidFill>
                  <a:schemeClr val="tx2"/>
                </a:solidFill>
              </a:rPr>
              <a:t>Fresh ads, inside the rules</a:t>
            </a:r>
            <a:endParaRPr lang="en-US" sz="1600" dirty="0"/>
          </a:p>
        </p:txBody>
      </p:sp>
      <p:sp>
        <p:nvSpPr>
          <p:cNvPr id="27" name="Text 20"/>
          <p:cNvSpPr txBox="1"/>
          <p:nvPr/>
        </p:nvSpPr>
        <p:spPr>
          <a:xfrm>
            <a:off x="4526280" y="4846320"/>
            <a:ext cx="3108960" cy="1188720"/>
          </a:xfrm>
          <a:prstGeom prst="rect">
            <a:avLst/>
          </a:prstGeom>
          <a:noFill/>
          <a:ln/>
        </p:spPr>
        <p:txBody>
          <a:bodyPr wrap="square" lIns="0" tIns="0" rIns="0" bIns="0" rtlCol="0" anchor="t"/>
          <a:lstStyle/>
          <a:p>
            <a:pPr indent="0" marL="0">
              <a:buNone/>
            </a:pPr>
            <a:r>
              <a:rPr lang="en-US" sz="1400" dirty="0">
                <a:solidFill>
                  <a:schemeClr val="accent5"/>
                </a:solidFill>
              </a:rPr>
              <a:t>A monthly batch of ads built from your content and checked against Meta's health and cosmetic ad rules before launch.</a:t>
            </a:r>
            <a:endParaRPr lang="en-US" sz="1400" dirty="0"/>
          </a:p>
        </p:txBody>
      </p:sp>
      <p:sp>
        <p:nvSpPr>
          <p:cNvPr id="28" name="Step card 6"/>
          <p:cNvSpPr/>
          <p:nvPr/>
        </p:nvSpPr>
        <p:spPr>
          <a:xfrm>
            <a:off x="8046720" y="3931920"/>
            <a:ext cx="3566160" cy="2194560"/>
          </a:xfrm>
          <a:prstGeom prst="roundRect">
            <a:avLst>
              <a:gd name="adj" fmla="val 5000"/>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29" name="A weekly report in a minute icon circle"/>
          <p:cNvSpPr/>
          <p:nvPr/>
        </p:nvSpPr>
        <p:spPr>
          <a:xfrm>
            <a:off x="8275320" y="4160520"/>
            <a:ext cx="548640" cy="548640"/>
          </a:xfrm>
          <a:prstGeom prst="ellipse">
            <a:avLst/>
          </a:prstGeom>
          <a:solidFill>
            <a:schemeClr val="bg2"/>
          </a:solidFill>
          <a:ln w="12700">
            <a:solidFill>
              <a:schemeClr val="bg2"/>
            </a:solidFill>
            <a:prstDash val="solid"/>
          </a:ln>
        </p:spPr>
      </p:sp>
      <p:pic>
        <p:nvPicPr>
          <p:cNvPr id="30" name="A weekly report in a minute icon" descr="A weekly report in a minute icon">    </p:cNvPr>
          <p:cNvPicPr>
            <a:picLocks noChangeAspect="1"/>
          </p:cNvPicPr>
          <p:nvPr/>
        </p:nvPicPr>
        <p:blipFill>
          <a:blip r:embed="rId6"/>
          <a:stretch>
            <a:fillRect/>
          </a:stretch>
        </p:blipFill>
        <p:spPr>
          <a:xfrm>
            <a:off x="8423453" y="4308653"/>
            <a:ext cx="252374" cy="252374"/>
          </a:xfrm>
          <a:prstGeom prst="rect">
            <a:avLst/>
          </a:prstGeom>
        </p:spPr>
      </p:pic>
      <p:sp>
        <p:nvSpPr>
          <p:cNvPr id="31" name="Text 23"/>
          <p:cNvSpPr txBox="1"/>
          <p:nvPr/>
        </p:nvSpPr>
        <p:spPr>
          <a:xfrm>
            <a:off x="8961120" y="4160520"/>
            <a:ext cx="2514600" cy="548640"/>
          </a:xfrm>
          <a:prstGeom prst="rect">
            <a:avLst/>
          </a:prstGeom>
          <a:noFill/>
          <a:ln/>
        </p:spPr>
        <p:txBody>
          <a:bodyPr wrap="square" lIns="0" tIns="0" rIns="0" bIns="0" rtlCol="0" anchor="ctr"/>
          <a:lstStyle/>
          <a:p>
            <a:pPr indent="0" marL="0">
              <a:buNone/>
            </a:pPr>
            <a:r>
              <a:rPr lang="en-US" sz="1600" b="1" dirty="0">
                <a:solidFill>
                  <a:schemeClr val="tx2"/>
                </a:solidFill>
              </a:rPr>
              <a:t>A weekly report in a minute</a:t>
            </a:r>
            <a:endParaRPr lang="en-US" sz="1600" dirty="0"/>
          </a:p>
        </p:txBody>
      </p:sp>
      <p:sp>
        <p:nvSpPr>
          <p:cNvPr id="32" name="Text 24"/>
          <p:cNvSpPr txBox="1"/>
          <p:nvPr/>
        </p:nvSpPr>
        <p:spPr>
          <a:xfrm>
            <a:off x="8275320" y="4846320"/>
            <a:ext cx="3108960" cy="1188720"/>
          </a:xfrm>
          <a:prstGeom prst="rect">
            <a:avLst/>
          </a:prstGeom>
          <a:noFill/>
          <a:ln/>
        </p:spPr>
        <p:txBody>
          <a:bodyPr wrap="square" lIns="0" tIns="0" rIns="0" bIns="0" rtlCol="0" anchor="t"/>
          <a:lstStyle/>
          <a:p>
            <a:pPr indent="0" marL="0">
              <a:buNone/>
            </a:pPr>
            <a:r>
              <a:rPr lang="en-US" sz="1400" dirty="0">
                <a:solidFill>
                  <a:schemeClr val="accent5"/>
                </a:solidFill>
              </a:rPr>
              <a:t>Every lead tracked from first click to booked, attended and treated. You always know what the ads are worth.</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tx2"/>
                </a:solidFill>
              </a:rPr>
              <a:t>What a lead sees at 9:47 on a Sunday night</a:t>
            </a:r>
            <a:endParaRPr lang="en-US" sz="3400" dirty="0"/>
          </a:p>
        </p:txBody>
      </p:sp>
      <p:sp>
        <p:nvSpPr>
          <p:cNvPr id="3" name="Phone frame"/>
          <p:cNvSpPr/>
          <p:nvPr/>
        </p:nvSpPr>
        <p:spPr>
          <a:xfrm>
            <a:off x="822960" y="1554480"/>
            <a:ext cx="4206240" cy="4526280"/>
          </a:xfrm>
          <a:prstGeom prst="roundRect">
            <a:avLst>
              <a:gd name="adj" fmla="val 5435"/>
            </a:avLst>
          </a:prstGeom>
          <a:solidFill>
            <a:schemeClr val="bg2"/>
          </a:solidFill>
          <a:ln w="12700">
            <a:solidFill>
              <a:schemeClr val="accent6"/>
            </a:solidFill>
            <a:prstDash val="solid"/>
          </a:ln>
          <a:effectLst>
            <a:outerShdw sx="100000" sy="100000" kx="0" ky="0" algn="bl" rotWithShape="0" blurRad="101600" dist="25400" dir="5400000">
              <a:srgbClr val="14203A">
                <a:alpha val="12000"/>
              </a:srgbClr>
            </a:outerShdw>
          </a:effectLst>
        </p:spPr>
      </p:sp>
      <p:sp>
        <p:nvSpPr>
          <p:cNvPr id="4" name="Message bubble 1"/>
          <p:cNvSpPr/>
          <p:nvPr/>
        </p:nvSpPr>
        <p:spPr>
          <a:xfrm>
            <a:off x="1051560" y="1828800"/>
            <a:ext cx="2834640" cy="594360"/>
          </a:xfrm>
          <a:prstGeom prst="roundRect">
            <a:avLst>
              <a:gd name="adj" fmla="val 15385"/>
            </a:avLst>
          </a:prstGeom>
          <a:solidFill>
            <a:schemeClr val="bg1"/>
          </a:solidFill>
          <a:ln w="9525">
            <a:solidFill>
              <a:schemeClr val="accent6"/>
            </a:solidFill>
            <a:prstDash val="solid"/>
          </a:ln>
        </p:spPr>
      </p:sp>
      <p:sp>
        <p:nvSpPr>
          <p:cNvPr id="5" name="Text 3"/>
          <p:cNvSpPr txBox="1"/>
          <p:nvPr/>
        </p:nvSpPr>
        <p:spPr>
          <a:xfrm>
            <a:off x="1188720" y="1828800"/>
            <a:ext cx="2560320" cy="594360"/>
          </a:xfrm>
          <a:prstGeom prst="rect">
            <a:avLst/>
          </a:prstGeom>
          <a:noFill/>
          <a:ln/>
        </p:spPr>
        <p:txBody>
          <a:bodyPr wrap="square" lIns="0" tIns="0" rIns="0" bIns="0" rtlCol="0" anchor="ctr"/>
          <a:lstStyle/>
          <a:p>
            <a:pPr indent="0" marL="0">
              <a:buNone/>
            </a:pPr>
            <a:r>
              <a:rPr lang="en-US" sz="1200" dirty="0">
                <a:solidFill>
                  <a:schemeClr val="tx1"/>
                </a:solidFill>
              </a:rPr>
              <a:t>Hi, I saw your ad. Do you have anything this week?</a:t>
            </a:r>
            <a:endParaRPr lang="en-US" sz="1200" dirty="0"/>
          </a:p>
        </p:txBody>
      </p:sp>
      <p:sp>
        <p:nvSpPr>
          <p:cNvPr id="6" name="Message bubble 2"/>
          <p:cNvSpPr/>
          <p:nvPr/>
        </p:nvSpPr>
        <p:spPr>
          <a:xfrm>
            <a:off x="1965960" y="2560320"/>
            <a:ext cx="2834640" cy="914400"/>
          </a:xfrm>
          <a:prstGeom prst="roundRect">
            <a:avLst>
              <a:gd name="adj" fmla="val 10000"/>
            </a:avLst>
          </a:prstGeom>
          <a:solidFill>
            <a:schemeClr val="accent1"/>
          </a:solidFill>
          <a:ln w="9525">
            <a:solidFill>
              <a:schemeClr val="accent1"/>
            </a:solidFill>
            <a:prstDash val="solid"/>
          </a:ln>
        </p:spPr>
      </p:sp>
      <p:sp>
        <p:nvSpPr>
          <p:cNvPr id="7" name="Text 5"/>
          <p:cNvSpPr txBox="1"/>
          <p:nvPr/>
        </p:nvSpPr>
        <p:spPr>
          <a:xfrm>
            <a:off x="2103120" y="2560320"/>
            <a:ext cx="2560320" cy="914400"/>
          </a:xfrm>
          <a:prstGeom prst="rect">
            <a:avLst/>
          </a:prstGeom>
          <a:noFill/>
          <a:ln/>
        </p:spPr>
        <p:txBody>
          <a:bodyPr wrap="square" lIns="0" tIns="0" rIns="0" bIns="0" rtlCol="0" anchor="ctr"/>
          <a:lstStyle/>
          <a:p>
            <a:pPr indent="0" marL="0">
              <a:buNone/>
            </a:pPr>
            <a:r>
              <a:rPr lang="en-US" sz="1200" dirty="0">
                <a:solidFill>
                  <a:schemeClr val="bg1"/>
                </a:solidFill>
              </a:rPr>
              <a:t>Thanks for reaching out! Yes. Thursday 4:30 PM or Friday 11:00 AM. Which works better?</a:t>
            </a:r>
            <a:endParaRPr lang="en-US" sz="1200" dirty="0"/>
          </a:p>
        </p:txBody>
      </p:sp>
      <p:sp>
        <p:nvSpPr>
          <p:cNvPr id="8" name="Message bubble 3"/>
          <p:cNvSpPr/>
          <p:nvPr/>
        </p:nvSpPr>
        <p:spPr>
          <a:xfrm>
            <a:off x="1051560" y="3611880"/>
            <a:ext cx="2834640" cy="457200"/>
          </a:xfrm>
          <a:prstGeom prst="roundRect">
            <a:avLst>
              <a:gd name="adj" fmla="val 20000"/>
            </a:avLst>
          </a:prstGeom>
          <a:solidFill>
            <a:schemeClr val="bg1"/>
          </a:solidFill>
          <a:ln w="9525">
            <a:solidFill>
              <a:schemeClr val="accent6"/>
            </a:solidFill>
            <a:prstDash val="solid"/>
          </a:ln>
        </p:spPr>
      </p:sp>
      <p:sp>
        <p:nvSpPr>
          <p:cNvPr id="9" name="Text 7"/>
          <p:cNvSpPr txBox="1"/>
          <p:nvPr/>
        </p:nvSpPr>
        <p:spPr>
          <a:xfrm>
            <a:off x="1188720" y="3611880"/>
            <a:ext cx="2560320" cy="457200"/>
          </a:xfrm>
          <a:prstGeom prst="rect">
            <a:avLst/>
          </a:prstGeom>
          <a:noFill/>
          <a:ln/>
        </p:spPr>
        <p:txBody>
          <a:bodyPr wrap="square" lIns="0" tIns="0" rIns="0" bIns="0" rtlCol="0" anchor="ctr"/>
          <a:lstStyle/>
          <a:p>
            <a:pPr indent="0" marL="0">
              <a:buNone/>
            </a:pPr>
            <a:r>
              <a:rPr lang="en-US" sz="1200" dirty="0">
                <a:solidFill>
                  <a:schemeClr val="tx1"/>
                </a:solidFill>
              </a:rPr>
              <a:t>Friday 11 works!</a:t>
            </a:r>
            <a:endParaRPr lang="en-US" sz="1200" dirty="0"/>
          </a:p>
        </p:txBody>
      </p:sp>
      <p:sp>
        <p:nvSpPr>
          <p:cNvPr id="10" name="Message bubble 4"/>
          <p:cNvSpPr/>
          <p:nvPr/>
        </p:nvSpPr>
        <p:spPr>
          <a:xfrm>
            <a:off x="1965960" y="4206240"/>
            <a:ext cx="2834640" cy="685800"/>
          </a:xfrm>
          <a:prstGeom prst="roundRect">
            <a:avLst>
              <a:gd name="adj" fmla="val 13333"/>
            </a:avLst>
          </a:prstGeom>
          <a:solidFill>
            <a:schemeClr val="accent1"/>
          </a:solidFill>
          <a:ln w="9525">
            <a:solidFill>
              <a:schemeClr val="accent1"/>
            </a:solidFill>
            <a:prstDash val="solid"/>
          </a:ln>
        </p:spPr>
      </p:sp>
      <p:sp>
        <p:nvSpPr>
          <p:cNvPr id="11" name="Text 9"/>
          <p:cNvSpPr txBox="1"/>
          <p:nvPr/>
        </p:nvSpPr>
        <p:spPr>
          <a:xfrm>
            <a:off x="2103120" y="4206240"/>
            <a:ext cx="2560320" cy="685800"/>
          </a:xfrm>
          <a:prstGeom prst="rect">
            <a:avLst/>
          </a:prstGeom>
          <a:noFill/>
          <a:ln/>
        </p:spPr>
        <p:txBody>
          <a:bodyPr wrap="square" lIns="0" tIns="0" rIns="0" bIns="0" rtlCol="0" anchor="ctr"/>
          <a:lstStyle/>
          <a:p>
            <a:pPr indent="0" marL="0">
              <a:buNone/>
            </a:pPr>
            <a:r>
              <a:rPr lang="en-US" sz="1200" dirty="0">
                <a:solidFill>
                  <a:schemeClr val="bg1"/>
                </a:solidFill>
              </a:rPr>
              <a:t>Booked. We'll send a reminder the day before.</a:t>
            </a:r>
            <a:endParaRPr lang="en-US" sz="1200" dirty="0"/>
          </a:p>
        </p:txBody>
      </p:sp>
      <p:sp>
        <p:nvSpPr>
          <p:cNvPr id="12" name="Text 10"/>
          <p:cNvSpPr txBox="1"/>
          <p:nvPr/>
        </p:nvSpPr>
        <p:spPr>
          <a:xfrm>
            <a:off x="1051560" y="5029200"/>
            <a:ext cx="3749040" cy="365760"/>
          </a:xfrm>
          <a:prstGeom prst="rect">
            <a:avLst/>
          </a:prstGeom>
          <a:noFill/>
          <a:ln/>
        </p:spPr>
        <p:txBody>
          <a:bodyPr wrap="square" lIns="0" tIns="0" rIns="0" bIns="0" rtlCol="0" anchor="ctr"/>
          <a:lstStyle/>
          <a:p>
            <a:pPr indent="0" marL="0">
              <a:buNone/>
            </a:pPr>
            <a:r>
              <a:rPr lang="en-US" sz="1200" b="1" dirty="0">
                <a:solidFill>
                  <a:schemeClr val="accent2"/>
                </a:solidFill>
              </a:rPr>
              <a:t>Replied in under 1 minute</a:t>
            </a:r>
            <a:endParaRPr lang="en-US" sz="1200" dirty="0"/>
          </a:p>
        </p:txBody>
      </p:sp>
      <p:sp>
        <p:nvSpPr>
          <p:cNvPr id="13" name="Text 11"/>
          <p:cNvSpPr txBox="1"/>
          <p:nvPr/>
        </p:nvSpPr>
        <p:spPr>
          <a:xfrm>
            <a:off x="1051560" y="5532120"/>
            <a:ext cx="3749040" cy="365760"/>
          </a:xfrm>
          <a:prstGeom prst="rect">
            <a:avLst/>
          </a:prstGeom>
          <a:noFill/>
          <a:ln/>
        </p:spPr>
        <p:txBody>
          <a:bodyPr wrap="square" lIns="0" tIns="0" rIns="0" bIns="0" rtlCol="0" anchor="ctr"/>
          <a:lstStyle/>
          <a:p>
            <a:pPr indent="0" marL="0">
              <a:buNone/>
            </a:pPr>
            <a:r>
              <a:rPr lang="en-US" sz="1100" dirty="0">
                <a:solidFill>
                  <a:schemeClr val="accent5"/>
                </a:solidFill>
              </a:rPr>
              <a:t>Illustration. Names and messages are examples.</a:t>
            </a:r>
            <a:endParaRPr lang="en-US" sz="1100" dirty="0"/>
          </a:p>
        </p:txBody>
      </p:sp>
      <p:sp>
        <p:nvSpPr>
          <p:cNvPr id="14" name="Text 12"/>
          <p:cNvSpPr txBox="1"/>
          <p:nvPr/>
        </p:nvSpPr>
        <p:spPr>
          <a:xfrm>
            <a:off x="5852160" y="1691640"/>
            <a:ext cx="576072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The first reply wins</a:t>
            </a:r>
            <a:endParaRPr lang="en-US" sz="2200" dirty="0"/>
          </a:p>
        </p:txBody>
      </p:sp>
      <p:sp>
        <p:nvSpPr>
          <p:cNvPr id="15" name="Text 13"/>
          <p:cNvSpPr txBox="1"/>
          <p:nvPr/>
        </p:nvSpPr>
        <p:spPr>
          <a:xfrm>
            <a:off x="5852160" y="2194560"/>
            <a:ext cx="5760720" cy="822960"/>
          </a:xfrm>
          <a:prstGeom prst="rect">
            <a:avLst/>
          </a:prstGeom>
          <a:noFill/>
          <a:ln/>
        </p:spPr>
        <p:txBody>
          <a:bodyPr wrap="square" lIns="0" tIns="0" rIns="0" bIns="0" rtlCol="0" anchor="t"/>
          <a:lstStyle/>
          <a:p>
            <a:pPr indent="0" marL="0">
              <a:buNone/>
            </a:pPr>
            <a:r>
              <a:rPr lang="en-US" sz="1600" dirty="0">
                <a:solidFill>
                  <a:schemeClr val="accent5"/>
                </a:solidFill>
              </a:rPr>
              <a:t>A patient who asks at night is deciding now. The clinic that answers first usually gets the booking.</a:t>
            </a:r>
            <a:endParaRPr lang="en-US" sz="1600" dirty="0"/>
          </a:p>
        </p:txBody>
      </p:sp>
      <p:sp>
        <p:nvSpPr>
          <p:cNvPr id="16" name="Text 14"/>
          <p:cNvSpPr txBox="1"/>
          <p:nvPr/>
        </p:nvSpPr>
        <p:spPr>
          <a:xfrm>
            <a:off x="5852160" y="3154680"/>
            <a:ext cx="576072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Your staff stay in control</a:t>
            </a:r>
            <a:endParaRPr lang="en-US" sz="2200" dirty="0"/>
          </a:p>
        </p:txBody>
      </p:sp>
      <p:sp>
        <p:nvSpPr>
          <p:cNvPr id="17" name="Text 15"/>
          <p:cNvSpPr txBox="1"/>
          <p:nvPr/>
        </p:nvSpPr>
        <p:spPr>
          <a:xfrm>
            <a:off x="5852160" y="3657600"/>
            <a:ext cx="5760720" cy="822960"/>
          </a:xfrm>
          <a:prstGeom prst="rect">
            <a:avLst/>
          </a:prstGeom>
          <a:noFill/>
          <a:ln/>
        </p:spPr>
        <p:txBody>
          <a:bodyPr wrap="square" lIns="0" tIns="0" rIns="0" bIns="0" rtlCol="0" anchor="t"/>
          <a:lstStyle/>
          <a:p>
            <a:pPr indent="0" marL="0">
              <a:buNone/>
            </a:pPr>
            <a:r>
              <a:rPr lang="en-US" sz="1600" dirty="0">
                <a:solidFill>
                  <a:schemeClr val="accent5"/>
                </a:solidFill>
              </a:rPr>
              <a:t>They get an alert and take over the chat once the patient is warm.</a:t>
            </a:r>
            <a:endParaRPr lang="en-US" sz="1600" dirty="0"/>
          </a:p>
        </p:txBody>
      </p:sp>
      <p:sp>
        <p:nvSpPr>
          <p:cNvPr id="18" name="Text 16"/>
          <p:cNvSpPr txBox="1"/>
          <p:nvPr/>
        </p:nvSpPr>
        <p:spPr>
          <a:xfrm>
            <a:off x="5852160" y="4617720"/>
            <a:ext cx="576072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Nothing falls through</a:t>
            </a:r>
            <a:endParaRPr lang="en-US" sz="2200" dirty="0"/>
          </a:p>
        </p:txBody>
      </p:sp>
      <p:sp>
        <p:nvSpPr>
          <p:cNvPr id="19" name="Text 17"/>
          <p:cNvSpPr txBox="1"/>
          <p:nvPr/>
        </p:nvSpPr>
        <p:spPr>
          <a:xfrm>
            <a:off x="5852160" y="5120640"/>
            <a:ext cx="5760720" cy="822960"/>
          </a:xfrm>
          <a:prstGeom prst="rect">
            <a:avLst/>
          </a:prstGeom>
          <a:noFill/>
          <a:ln/>
        </p:spPr>
        <p:txBody>
          <a:bodyPr wrap="square" lIns="0" tIns="0" rIns="0" bIns="0" rtlCol="0" anchor="t"/>
          <a:lstStyle/>
          <a:p>
            <a:pPr indent="0" marL="0">
              <a:buNone/>
            </a:pPr>
            <a:r>
              <a:rPr lang="en-US" sz="1600" dirty="0">
                <a:solidFill>
                  <a:schemeClr val="accent5"/>
                </a:solidFill>
              </a:rPr>
              <a:t>Every conversation, booking and no-show is logged and tracked in your weekly report.</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tx2"/>
                </a:solidFill>
              </a:rPr>
              <a:t>Same engine. Tuned for your specialty</a:t>
            </a:r>
            <a:endParaRPr lang="en-US" sz="3400" dirty="0"/>
          </a:p>
        </p:txBody>
      </p:sp>
      <p:graphicFrame>
        <p:nvGraphicFramePr>
          <p:cNvPr id="9" name="Specialty tuning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651760"/>
                <a:gridCol w="3840480"/>
                <a:gridCol w="4572000"/>
              </a:tblGrid>
              <a:tr h="457200">
                <a:tc>
                  <a:txBody>
                    <a:bodyPr/>
                    <a:lstStyle/>
                    <a:p>
                      <a:pPr indent="0" marL="0">
                        <a:buNone/>
                      </a:pPr>
                      <a:r>
                        <a:rPr lang="en-US" sz="1400" b="1" dirty="0">
                          <a:solidFill>
                            <a:srgbClr val="FFFFFF"/>
                          </a:solidFill>
                        </a:rPr>
                        <a:t>Specialty</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0A2272"/>
                    </a:solidFill>
                  </a:tcPr>
                </a:tc>
                <a:tc>
                  <a:txBody>
                    <a:bodyPr/>
                    <a:lstStyle/>
                    <a:p>
                      <a:pPr indent="0" marL="0">
                        <a:buNone/>
                      </a:pPr>
                      <a:r>
                        <a:rPr lang="en-US" sz="1400" b="1" dirty="0">
                          <a:solidFill>
                            <a:srgbClr val="FFFFFF"/>
                          </a:solidFill>
                        </a:rPr>
                        <a:t>What the patient is weighing</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0A2272"/>
                    </a:solidFill>
                  </a:tcPr>
                </a:tc>
                <a:tc>
                  <a:txBody>
                    <a:bodyPr/>
                    <a:lstStyle/>
                    <a:p>
                      <a:pPr indent="0" marL="0">
                        <a:buNone/>
                      </a:pPr>
                      <a:r>
                        <a:rPr lang="en-US" sz="1400" b="1" dirty="0">
                          <a:solidFill>
                            <a:srgbClr val="FFFFFF"/>
                          </a:solidFill>
                        </a:rPr>
                        <a:t>What we tune</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0A2272"/>
                    </a:solidFill>
                  </a:tcPr>
                </a:tc>
              </a:tr>
              <a:tr h="713232">
                <a:tc>
                  <a:txBody>
                    <a:bodyPr/>
                    <a:lstStyle/>
                    <a:p>
                      <a:pPr indent="0" marL="0">
                        <a:buNone/>
                      </a:pPr>
                      <a:r>
                        <a:rPr lang="en-US" sz="1400" b="1" dirty="0">
                          <a:solidFill>
                            <a:srgbClr val="0A2272"/>
                          </a:solidFill>
                        </a:rPr>
                        <a:t>Med spa &amp; aesthetics</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c>
                  <a:txBody>
                    <a:bodyPr/>
                    <a:lstStyle/>
                    <a:p>
                      <a:pPr indent="0" marL="0">
                        <a:buNone/>
                      </a:pPr>
                      <a:r>
                        <a:rPr lang="en-US" sz="1400" dirty="0">
                          <a:solidFill>
                            <a:srgbClr val="14203A"/>
                          </a:solidFill>
                        </a:rPr>
                        <a:t>Price, results, trust in the provider</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c>
                  <a:txBody>
                    <a:bodyPr/>
                    <a:lstStyle/>
                    <a:p>
                      <a:pPr indent="0" marL="0">
                        <a:buNone/>
                      </a:pPr>
                      <a:r>
                        <a:rPr lang="en-US" sz="1400" dirty="0">
                          <a:solidFill>
                            <a:srgbClr val="14203A"/>
                          </a:solidFill>
                        </a:rPr>
                        <a:t>Treatment-led offers, packages, rebooking follow-up</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0A2272"/>
                          </a:solidFill>
                        </a:rPr>
                        <a:t>Hair restoration</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c>
                  <a:txBody>
                    <a:bodyPr/>
                    <a:lstStyle/>
                    <a:p>
                      <a:pPr indent="0" marL="0">
                        <a:buNone/>
                      </a:pPr>
                      <a:r>
                        <a:rPr lang="en-US" sz="1400" dirty="0">
                          <a:solidFill>
                            <a:srgbClr val="14203A"/>
                          </a:solidFill>
                        </a:rPr>
                        <a:t>A big spend and fear of a poor result</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c>
                  <a:txBody>
                    <a:bodyPr/>
                    <a:lstStyle/>
                    <a:p>
                      <a:pPr indent="0" marL="0">
                        <a:buNone/>
                      </a:pPr>
                      <a:r>
                        <a:rPr lang="en-US" sz="1400" dirty="0">
                          <a:solidFill>
                            <a:srgbClr val="14203A"/>
                          </a:solidFill>
                        </a:rPr>
                        <a:t>Photo pre-screen, consult-first booking, doctor bios up front</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0A2272"/>
                          </a:solidFill>
                        </a:rPr>
                        <a:t>Skin &amp; dermatology</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c>
                  <a:txBody>
                    <a:bodyPr/>
                    <a:lstStyle/>
                    <a:p>
                      <a:pPr indent="0" marL="0">
                        <a:buNone/>
                      </a:pPr>
                      <a:r>
                        <a:rPr lang="en-US" sz="1400" dirty="0">
                          <a:solidFill>
                            <a:srgbClr val="14203A"/>
                          </a:solidFill>
                        </a:rPr>
                        <a:t>Medical problem or cosmetic goal?</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c>
                  <a:txBody>
                    <a:bodyPr/>
                    <a:lstStyle/>
                    <a:p>
                      <a:pPr indent="0" marL="0">
                        <a:buNone/>
                      </a:pPr>
                      <a:r>
                        <a:rPr lang="en-US" sz="1400" dirty="0">
                          <a:solidFill>
                            <a:srgbClr val="14203A"/>
                          </a:solidFill>
                        </a:rPr>
                        <a:t>Condition-led pages, medical and cosmetic ads kept separate</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0A2272"/>
                          </a:solidFill>
                        </a:rPr>
                        <a:t>IVF &amp; fertility</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c>
                  <a:txBody>
                    <a:bodyPr/>
                    <a:lstStyle/>
                    <a:p>
                      <a:pPr indent="0" marL="0">
                        <a:buNone/>
                      </a:pPr>
                      <a:r>
                        <a:rPr lang="en-US" sz="1400" dirty="0">
                          <a:solidFill>
                            <a:srgbClr val="14203A"/>
                          </a:solidFill>
                        </a:rPr>
                        <a:t>An emotional, high-trust, slow decision</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c>
                  <a:txBody>
                    <a:bodyPr/>
                    <a:lstStyle/>
                    <a:p>
                      <a:pPr indent="0" marL="0">
                        <a:buNone/>
                      </a:pPr>
                      <a:r>
                        <a:rPr lang="en-US" sz="1400" dirty="0">
                          <a:solidFill>
                            <a:srgbClr val="14203A"/>
                          </a:solidFill>
                        </a:rPr>
                        <a:t>Calm, compliant messaging and a patient follow-up over weeks</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0A2272"/>
                          </a:solidFill>
                        </a:rPr>
                        <a:t>Dental, wellness &amp; more</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c>
                  <a:txBody>
                    <a:bodyPr/>
                    <a:lstStyle/>
                    <a:p>
                      <a:pPr indent="0" marL="0">
                        <a:buNone/>
                      </a:pPr>
                      <a:r>
                        <a:rPr lang="en-US" sz="1400" dirty="0">
                          <a:solidFill>
                            <a:srgbClr val="14203A"/>
                          </a:solidFill>
                        </a:rPr>
                        <a:t>Convenience, cost and urgency</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c>
                  <a:txBody>
                    <a:bodyPr/>
                    <a:lstStyle/>
                    <a:p>
                      <a:pPr indent="0" marL="0">
                        <a:buNone/>
                      </a:pPr>
                      <a:r>
                        <a:rPr lang="en-US" sz="1400" dirty="0">
                          <a:solidFill>
                            <a:srgbClr val="14203A"/>
                          </a:solidFill>
                        </a:rPr>
                        <a:t>Offers and screening questions rebuilt per service</a:t>
                      </a:r>
                      <a:endParaRPr lang="en-US" sz="1400" dirty="0"/>
                    </a:p>
                  </a:txBody>
                  <a:tcPr marL="109728" marR="109728" marT="45720" marB="45720" anchor="ctr">
                    <a:lnL w="12700" cap="flat" cmpd="sng" algn="ctr">
                      <a:solidFill>
                        <a:srgbClr val="DBE3F1"/>
                      </a:solidFill>
                      <a:prstDash val="solid"/>
                      <a:round/>
                      <a:headEnd type="none" w="med" len="med"/>
                      <a:tailEnd type="none" w="med" len="med"/>
                    </a:lnL>
                    <a:lnR w="12700" cap="flat" cmpd="sng" algn="ctr">
                      <a:solidFill>
                        <a:srgbClr val="DBE3F1"/>
                      </a:solidFill>
                      <a:prstDash val="solid"/>
                      <a:round/>
                      <a:headEnd type="none" w="med" len="med"/>
                      <a:tailEnd type="none" w="med" len="med"/>
                    </a:lnR>
                    <a:lnT w="12700" cap="flat" cmpd="sng" algn="ctr">
                      <a:solidFill>
                        <a:srgbClr val="DBE3F1"/>
                      </a:solidFill>
                      <a:prstDash val="solid"/>
                      <a:round/>
                      <a:headEnd type="none" w="med" len="med"/>
                      <a:tailEnd type="none" w="med" len="med"/>
                    </a:lnT>
                    <a:lnB w="12700" cap="flat" cmpd="sng" algn="ctr">
                      <a:solidFill>
                        <a:srgbClr val="DBE3F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97880"/>
            <a:ext cx="11064240" cy="320040"/>
          </a:xfrm>
          <a:prstGeom prst="rect">
            <a:avLst/>
          </a:prstGeom>
          <a:noFill/>
          <a:ln/>
        </p:spPr>
        <p:txBody>
          <a:bodyPr wrap="square" lIns="0" tIns="0" rIns="0" bIns="0" rtlCol="0" anchor="ctr"/>
          <a:lstStyle/>
          <a:p>
            <a:pPr indent="0" marL="0">
              <a:buNone/>
            </a:pPr>
            <a:r>
              <a:rPr lang="en-US" sz="1400" dirty="0">
                <a:solidFill>
                  <a:schemeClr val="accent5"/>
                </a:solidFill>
              </a:rPr>
              <a:t>Every ad is checked against platform health and cosmetic ad rules before it goes live.</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tx2"/>
                </a:solidFill>
              </a:rPr>
              <a:t>You see every lead tracked to a treated patient</a:t>
            </a:r>
            <a:endParaRPr lang="en-US" sz="3400" dirty="0"/>
          </a:p>
        </p:txBody>
      </p:sp>
      <p:sp>
        <p:nvSpPr>
          <p:cNvPr id="3" name="Text 1"/>
          <p:cNvSpPr txBox="1"/>
          <p:nvPr/>
        </p:nvSpPr>
        <p:spPr>
          <a:xfrm>
            <a:off x="548640" y="1691640"/>
            <a:ext cx="1645920" cy="731520"/>
          </a:xfrm>
          <a:prstGeom prst="rect">
            <a:avLst/>
          </a:prstGeom>
          <a:noFill/>
          <a:ln/>
        </p:spPr>
        <p:txBody>
          <a:bodyPr wrap="square" lIns="0" tIns="0" rIns="0" bIns="0" rtlCol="0" anchor="ctr"/>
          <a:lstStyle/>
          <a:p>
            <a:pPr indent="0" marL="0">
              <a:buNone/>
            </a:pPr>
            <a:r>
              <a:rPr lang="en-US" sz="1800" b="1" dirty="0">
                <a:solidFill>
                  <a:schemeClr val="tx2"/>
                </a:solidFill>
              </a:rPr>
              <a:t>Lead</a:t>
            </a:r>
            <a:endParaRPr lang="en-US" sz="1800" dirty="0"/>
          </a:p>
        </p:txBody>
      </p:sp>
      <p:sp>
        <p:nvSpPr>
          <p:cNvPr id="4" name="Funnel bar Lead"/>
          <p:cNvSpPr/>
          <p:nvPr/>
        </p:nvSpPr>
        <p:spPr>
          <a:xfrm>
            <a:off x="2194560" y="1691640"/>
            <a:ext cx="6400800" cy="731520"/>
          </a:xfrm>
          <a:prstGeom prst="roundRect">
            <a:avLst>
              <a:gd name="adj" fmla="val 12500"/>
            </a:avLst>
          </a:prstGeom>
          <a:solidFill>
            <a:schemeClr val="accent1"/>
          </a:solidFill>
          <a:ln w="12700">
            <a:solidFill>
              <a:schemeClr val="accent1"/>
            </a:solidFill>
            <a:prstDash val="solid"/>
          </a:ln>
        </p:spPr>
      </p:sp>
      <p:sp>
        <p:nvSpPr>
          <p:cNvPr id="5" name="Text 3"/>
          <p:cNvSpPr txBox="1"/>
          <p:nvPr/>
        </p:nvSpPr>
        <p:spPr>
          <a:xfrm>
            <a:off x="548640" y="2651760"/>
            <a:ext cx="1645920" cy="731520"/>
          </a:xfrm>
          <a:prstGeom prst="rect">
            <a:avLst/>
          </a:prstGeom>
          <a:noFill/>
          <a:ln/>
        </p:spPr>
        <p:txBody>
          <a:bodyPr wrap="square" lIns="0" tIns="0" rIns="0" bIns="0" rtlCol="0" anchor="ctr"/>
          <a:lstStyle/>
          <a:p>
            <a:pPr indent="0" marL="0">
              <a:buNone/>
            </a:pPr>
            <a:r>
              <a:rPr lang="en-US" sz="1800" b="1" dirty="0">
                <a:solidFill>
                  <a:schemeClr val="tx2"/>
                </a:solidFill>
              </a:rPr>
              <a:t>Booked</a:t>
            </a:r>
            <a:endParaRPr lang="en-US" sz="1800" dirty="0"/>
          </a:p>
        </p:txBody>
      </p:sp>
      <p:sp>
        <p:nvSpPr>
          <p:cNvPr id="6" name="Funnel bar Booked"/>
          <p:cNvSpPr/>
          <p:nvPr/>
        </p:nvSpPr>
        <p:spPr>
          <a:xfrm>
            <a:off x="2194560" y="2651760"/>
            <a:ext cx="4992624" cy="731520"/>
          </a:xfrm>
          <a:prstGeom prst="roundRect">
            <a:avLst>
              <a:gd name="adj" fmla="val 12500"/>
            </a:avLst>
          </a:prstGeom>
          <a:solidFill>
            <a:schemeClr val="accent1"/>
          </a:solidFill>
          <a:ln w="12700">
            <a:solidFill>
              <a:schemeClr val="accent1"/>
            </a:solidFill>
            <a:prstDash val="solid"/>
          </a:ln>
        </p:spPr>
      </p:sp>
      <p:sp>
        <p:nvSpPr>
          <p:cNvPr id="7" name="Text 5"/>
          <p:cNvSpPr txBox="1"/>
          <p:nvPr/>
        </p:nvSpPr>
        <p:spPr>
          <a:xfrm>
            <a:off x="548640" y="3611880"/>
            <a:ext cx="1645920" cy="731520"/>
          </a:xfrm>
          <a:prstGeom prst="rect">
            <a:avLst/>
          </a:prstGeom>
          <a:noFill/>
          <a:ln/>
        </p:spPr>
        <p:txBody>
          <a:bodyPr wrap="square" lIns="0" tIns="0" rIns="0" bIns="0" rtlCol="0" anchor="ctr"/>
          <a:lstStyle/>
          <a:p>
            <a:pPr indent="0" marL="0">
              <a:buNone/>
            </a:pPr>
            <a:r>
              <a:rPr lang="en-US" sz="1800" b="1" dirty="0">
                <a:solidFill>
                  <a:schemeClr val="tx2"/>
                </a:solidFill>
              </a:rPr>
              <a:t>Attended</a:t>
            </a:r>
            <a:endParaRPr lang="en-US" sz="1800" dirty="0"/>
          </a:p>
        </p:txBody>
      </p:sp>
      <p:sp>
        <p:nvSpPr>
          <p:cNvPr id="8" name="Funnel bar Attended"/>
          <p:cNvSpPr/>
          <p:nvPr/>
        </p:nvSpPr>
        <p:spPr>
          <a:xfrm>
            <a:off x="2194560" y="3611880"/>
            <a:ext cx="3712464" cy="731520"/>
          </a:xfrm>
          <a:prstGeom prst="roundRect">
            <a:avLst>
              <a:gd name="adj" fmla="val 12500"/>
            </a:avLst>
          </a:prstGeom>
          <a:solidFill>
            <a:schemeClr val="accent1"/>
          </a:solidFill>
          <a:ln w="12700">
            <a:solidFill>
              <a:schemeClr val="accent1"/>
            </a:solidFill>
            <a:prstDash val="solid"/>
          </a:ln>
        </p:spPr>
      </p:sp>
      <p:sp>
        <p:nvSpPr>
          <p:cNvPr id="9" name="Text 7"/>
          <p:cNvSpPr txBox="1"/>
          <p:nvPr/>
        </p:nvSpPr>
        <p:spPr>
          <a:xfrm>
            <a:off x="548640" y="4572000"/>
            <a:ext cx="1645920" cy="731520"/>
          </a:xfrm>
          <a:prstGeom prst="rect">
            <a:avLst/>
          </a:prstGeom>
          <a:noFill/>
          <a:ln/>
        </p:spPr>
        <p:txBody>
          <a:bodyPr wrap="square" lIns="0" tIns="0" rIns="0" bIns="0" rtlCol="0" anchor="ctr"/>
          <a:lstStyle/>
          <a:p>
            <a:pPr indent="0" marL="0">
              <a:buNone/>
            </a:pPr>
            <a:r>
              <a:rPr lang="en-US" sz="1800" b="1" dirty="0">
                <a:solidFill>
                  <a:schemeClr val="tx2"/>
                </a:solidFill>
              </a:rPr>
              <a:t>Treated</a:t>
            </a:r>
            <a:endParaRPr lang="en-US" sz="1800" dirty="0"/>
          </a:p>
        </p:txBody>
      </p:sp>
      <p:sp>
        <p:nvSpPr>
          <p:cNvPr id="10" name="Funnel bar Treated"/>
          <p:cNvSpPr/>
          <p:nvPr/>
        </p:nvSpPr>
        <p:spPr>
          <a:xfrm>
            <a:off x="2194560" y="4572000"/>
            <a:ext cx="2560320" cy="731520"/>
          </a:xfrm>
          <a:prstGeom prst="roundRect">
            <a:avLst>
              <a:gd name="adj" fmla="val 12500"/>
            </a:avLst>
          </a:prstGeom>
          <a:solidFill>
            <a:schemeClr val="accent2"/>
          </a:solidFill>
          <a:ln w="12700">
            <a:solidFill>
              <a:schemeClr val="accent2"/>
            </a:solidFill>
            <a:prstDash val="solid"/>
          </a:ln>
        </p:spPr>
      </p:sp>
      <p:sp>
        <p:nvSpPr>
          <p:cNvPr id="11" name="Text 9"/>
          <p:cNvSpPr txBox="1"/>
          <p:nvPr/>
        </p:nvSpPr>
        <p:spPr>
          <a:xfrm>
            <a:off x="548640" y="5577840"/>
            <a:ext cx="7315200" cy="320040"/>
          </a:xfrm>
          <a:prstGeom prst="rect">
            <a:avLst/>
          </a:prstGeom>
          <a:noFill/>
          <a:ln/>
        </p:spPr>
        <p:txBody>
          <a:bodyPr wrap="square" lIns="0" tIns="0" rIns="0" bIns="0" rtlCol="0" anchor="ctr"/>
          <a:lstStyle/>
          <a:p>
            <a:pPr indent="0" marL="0">
              <a:buNone/>
            </a:pPr>
            <a:r>
              <a:rPr lang="en-US" sz="1100" dirty="0">
                <a:solidFill>
                  <a:schemeClr val="accent5"/>
                </a:solidFill>
              </a:rPr>
              <a:t>Sample layout. Shapes are illustrative, not client results.</a:t>
            </a:r>
            <a:endParaRPr lang="en-US" sz="1100" dirty="0"/>
          </a:p>
        </p:txBody>
      </p:sp>
      <p:sp>
        <p:nvSpPr>
          <p:cNvPr id="12" name="Report panel"/>
          <p:cNvSpPr/>
          <p:nvPr/>
        </p:nvSpPr>
        <p:spPr>
          <a:xfrm>
            <a:off x="9052560" y="1691640"/>
            <a:ext cx="2560320" cy="3749040"/>
          </a:xfrm>
          <a:prstGeom prst="roundRect">
            <a:avLst>
              <a:gd name="adj" fmla="val 4286"/>
            </a:avLst>
          </a:prstGeom>
          <a:solidFill>
            <a:schemeClr val="bg2"/>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3" name="Text 11"/>
          <p:cNvSpPr txBox="1"/>
          <p:nvPr/>
        </p:nvSpPr>
        <p:spPr>
          <a:xfrm>
            <a:off x="9281160" y="1874520"/>
            <a:ext cx="2103120" cy="457200"/>
          </a:xfrm>
          <a:prstGeom prst="rect">
            <a:avLst/>
          </a:prstGeom>
          <a:noFill/>
          <a:ln/>
        </p:spPr>
        <p:txBody>
          <a:bodyPr wrap="square" lIns="0" tIns="0" rIns="0" bIns="0" rtlCol="0" anchor="ctr"/>
          <a:lstStyle/>
          <a:p>
            <a:pPr indent="0" marL="0">
              <a:buNone/>
            </a:pPr>
            <a:r>
              <a:rPr lang="en-US" sz="1800" b="1" dirty="0">
                <a:solidFill>
                  <a:schemeClr val="tx2"/>
                </a:solidFill>
              </a:rPr>
              <a:t>In your weekly report</a:t>
            </a:r>
            <a:endParaRPr lang="en-US" sz="1800" dirty="0"/>
          </a:p>
        </p:txBody>
      </p:sp>
      <p:sp>
        <p:nvSpPr>
          <p:cNvPr id="14" name="Text 12"/>
          <p:cNvSpPr txBox="1"/>
          <p:nvPr/>
        </p:nvSpPr>
        <p:spPr>
          <a:xfrm>
            <a:off x="9281160" y="2423160"/>
            <a:ext cx="214884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Where leads came from</a:t>
            </a:r>
            <a:endParaRPr lang="en-US" sz="1400" dirty="0"/>
          </a:p>
          <a:p>
            <a:pPr marL="342900" indent="-342900">
              <a:spcAft>
                <a:spcPts val="800"/>
              </a:spcAft>
              <a:buSzPct val="100000"/>
              <a:buChar char="•"/>
            </a:pPr>
            <a:r>
              <a:rPr lang="en-US" sz="1400" dirty="0">
                <a:solidFill>
                  <a:schemeClr val="tx1"/>
                </a:solidFill>
              </a:rPr>
              <a:t>Reply speed</a:t>
            </a:r>
            <a:endParaRPr lang="en-US" sz="1400" dirty="0"/>
          </a:p>
          <a:p>
            <a:pPr marL="342900" indent="-342900">
              <a:spcAft>
                <a:spcPts val="800"/>
              </a:spcAft>
              <a:buSzPct val="100000"/>
              <a:buChar char="•"/>
            </a:pPr>
            <a:r>
              <a:rPr lang="en-US" sz="1400" dirty="0">
                <a:solidFill>
                  <a:schemeClr val="tx1"/>
                </a:solidFill>
              </a:rPr>
              <a:t>Show-up rate</a:t>
            </a:r>
            <a:endParaRPr lang="en-US" sz="1400" dirty="0"/>
          </a:p>
          <a:p>
            <a:pPr marL="342900" indent="-342900">
              <a:spcAft>
                <a:spcPts val="800"/>
              </a:spcAft>
              <a:buSzPct val="100000"/>
              <a:buChar char="•"/>
            </a:pPr>
            <a:r>
              <a:rPr lang="en-US" sz="1400" dirty="0">
                <a:solidFill>
                  <a:schemeClr val="tx1"/>
                </a:solidFill>
              </a:rPr>
              <a:t>Patients treated</a:t>
            </a:r>
            <a:endParaRPr lang="en-US" sz="1400" dirty="0"/>
          </a:p>
          <a:p>
            <a:pPr marL="342900" indent="-342900">
              <a:spcAft>
                <a:spcPts val="800"/>
              </a:spcAft>
              <a:buSzPct val="100000"/>
              <a:buChar char="•"/>
            </a:pPr>
            <a:r>
              <a:rPr lang="en-US" sz="1400" dirty="0">
                <a:solidFill>
                  <a:schemeClr val="tx1"/>
                </a:solidFill>
              </a:rPr>
              <a:t>What to fix next</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bg1"/>
                </a:solidFill>
              </a:rPr>
              <a:t>We agree your number in writing. If we miss it, we keep working for free</a:t>
            </a:r>
            <a:endParaRPr lang="en-US" sz="3400" dirty="0"/>
          </a:p>
        </p:txBody>
      </p:sp>
      <p:sp>
        <p:nvSpPr>
          <p:cNvPr id="3" name="Guarantee panel"/>
          <p:cNvSpPr/>
          <p:nvPr/>
        </p:nvSpPr>
        <p:spPr>
          <a:xfrm>
            <a:off x="548640" y="1645920"/>
            <a:ext cx="6400800" cy="4389120"/>
          </a:xfrm>
          <a:prstGeom prst="roundRect">
            <a:avLst>
              <a:gd name="adj" fmla="val 2500"/>
            </a:avLst>
          </a:prstGeom>
          <a:solidFill>
            <a:schemeClr val="accent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4" name="Text 2"/>
          <p:cNvSpPr txBox="1"/>
          <p:nvPr/>
        </p:nvSpPr>
        <p:spPr>
          <a:xfrm>
            <a:off x="914400" y="1874520"/>
            <a:ext cx="5669280" cy="457200"/>
          </a:xfrm>
          <a:prstGeom prst="rect">
            <a:avLst/>
          </a:prstGeom>
          <a:noFill/>
          <a:ln/>
        </p:spPr>
        <p:txBody>
          <a:bodyPr wrap="square" lIns="0" tIns="0" rIns="0" bIns="0" rtlCol="0" anchor="ctr"/>
          <a:lstStyle/>
          <a:p>
            <a:pPr indent="0" marL="0">
              <a:buNone/>
            </a:pPr>
            <a:r>
              <a:rPr lang="en-US" sz="2200" b="1" dirty="0">
                <a:solidFill>
                  <a:schemeClr val="accent4"/>
                </a:solidFill>
                <a:latin typeface="Cambria" pitchFamily="34" charset="0"/>
                <a:ea typeface="Cambria" pitchFamily="34" charset="-122"/>
                <a:cs typeface="Cambria" pitchFamily="34" charset="-120"/>
              </a:rPr>
              <a:t>How it works</a:t>
            </a:r>
            <a:endParaRPr lang="en-US" sz="2200" dirty="0"/>
          </a:p>
        </p:txBody>
      </p:sp>
      <p:sp>
        <p:nvSpPr>
          <p:cNvPr id="5" name="Text 3"/>
          <p:cNvSpPr txBox="1"/>
          <p:nvPr/>
        </p:nvSpPr>
        <p:spPr>
          <a:xfrm>
            <a:off x="914400" y="2468880"/>
            <a:ext cx="5669280" cy="338328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chemeClr val="bg1"/>
                </a:solidFill>
              </a:rPr>
              <a:t>First 30 days: we run your campaigns and set a baseline.</a:t>
            </a:r>
            <a:endParaRPr lang="en-US" sz="1900" dirty="0"/>
          </a:p>
          <a:p>
            <a:pPr marL="342900" indent="-342900">
              <a:spcAft>
                <a:spcPts val="1000"/>
              </a:spcAft>
              <a:buSzPct val="100000"/>
              <a:buChar char="•"/>
            </a:pPr>
            <a:r>
              <a:rPr lang="en-US" sz="1900" dirty="0">
                <a:solidFill>
                  <a:schemeClr val="bg1"/>
                </a:solidFill>
              </a:rPr>
              <a:t>At day 30: we agree your number of attended appointments in writing, so you know it before committing to the rest.</a:t>
            </a:r>
            <a:endParaRPr lang="en-US" sz="1900" dirty="0"/>
          </a:p>
          <a:p>
            <a:pPr marL="342900" indent="-342900">
              <a:spcAft>
                <a:spcPts val="1000"/>
              </a:spcAft>
              <a:buSzPct val="100000"/>
              <a:buChar char="•"/>
            </a:pPr>
            <a:r>
              <a:rPr lang="en-US" sz="1900" dirty="0">
                <a:solidFill>
                  <a:schemeClr val="bg1"/>
                </a:solidFill>
              </a:rPr>
              <a:t>By day 90: if we haven't delivered it, we keep managing your campaigns at no charge until we do.</a:t>
            </a:r>
            <a:endParaRPr lang="en-US" sz="1900" dirty="0"/>
          </a:p>
          <a:p>
            <a:pPr marL="342900" indent="-342900">
              <a:spcAft>
                <a:spcPts val="1000"/>
              </a:spcAft>
              <a:buSzPct val="100000"/>
              <a:buChar char="•"/>
            </a:pPr>
            <a:r>
              <a:rPr lang="en-US" sz="1900" dirty="0">
                <a:solidFill>
                  <a:schemeClr val="bg1"/>
                </a:solidFill>
              </a:rPr>
              <a:t>You keep paying ad spend directly to Google and Meta.</a:t>
            </a:r>
            <a:endParaRPr lang="en-US" sz="1900" dirty="0"/>
          </a:p>
        </p:txBody>
      </p:sp>
      <p:sp>
        <p:nvSpPr>
          <p:cNvPr id="6" name="Definition panel"/>
          <p:cNvSpPr/>
          <p:nvPr/>
        </p:nvSpPr>
        <p:spPr>
          <a:xfrm>
            <a:off x="7223760" y="1645920"/>
            <a:ext cx="4389120" cy="2103120"/>
          </a:xfrm>
          <a:prstGeom prst="roundRect">
            <a:avLst>
              <a:gd name="adj" fmla="val 5217"/>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7" name="Text 5"/>
          <p:cNvSpPr txBox="1"/>
          <p:nvPr/>
        </p:nvSpPr>
        <p:spPr>
          <a:xfrm>
            <a:off x="7498080" y="1828800"/>
            <a:ext cx="3840480" cy="457200"/>
          </a:xfrm>
          <a:prstGeom prst="rect">
            <a:avLst/>
          </a:prstGeom>
          <a:noFill/>
          <a:ln/>
        </p:spPr>
        <p:txBody>
          <a:bodyPr wrap="square" lIns="0" tIns="0" rIns="0" bIns="0" rtlCol="0" anchor="ctr"/>
          <a:lstStyle/>
          <a:p>
            <a:pPr indent="0" marL="0">
              <a:buNone/>
            </a:pPr>
            <a:r>
              <a:rPr lang="en-US" sz="1800" b="1" dirty="0">
                <a:solidFill>
                  <a:schemeClr val="tx2"/>
                </a:solidFill>
              </a:rPr>
              <a:t>What counts as an appointment</a:t>
            </a:r>
            <a:endParaRPr lang="en-US" sz="1800" dirty="0"/>
          </a:p>
        </p:txBody>
      </p:sp>
      <p:sp>
        <p:nvSpPr>
          <p:cNvPr id="8" name="Text 6"/>
          <p:cNvSpPr txBox="1"/>
          <p:nvPr/>
        </p:nvSpPr>
        <p:spPr>
          <a:xfrm>
            <a:off x="7498080" y="2331720"/>
            <a:ext cx="3840480" cy="1280160"/>
          </a:xfrm>
          <a:prstGeom prst="rect">
            <a:avLst/>
          </a:prstGeom>
          <a:noFill/>
          <a:ln/>
        </p:spPr>
        <p:txBody>
          <a:bodyPr wrap="square" lIns="0" tIns="0" rIns="0" bIns="0" rtlCol="0" anchor="t"/>
          <a:lstStyle/>
          <a:p>
            <a:pPr indent="0" marL="0">
              <a:buNone/>
            </a:pPr>
            <a:r>
              <a:rPr lang="en-US" sz="1400" dirty="0">
                <a:solidFill>
                  <a:schemeClr val="tx1"/>
                </a:solidFill>
              </a:rPr>
              <a:t>A new patient who fits your agreed profile, is ready for treatment, books and attends. No-shows and existing patients don't count.</a:t>
            </a:r>
            <a:endParaRPr lang="en-US" sz="1400" dirty="0"/>
          </a:p>
        </p:txBody>
      </p:sp>
      <p:sp>
        <p:nvSpPr>
          <p:cNvPr id="9" name="Not promised panel"/>
          <p:cNvSpPr/>
          <p:nvPr/>
        </p:nvSpPr>
        <p:spPr>
          <a:xfrm>
            <a:off x="7223760" y="3931920"/>
            <a:ext cx="4389120" cy="2103120"/>
          </a:xfrm>
          <a:prstGeom prst="roundRect">
            <a:avLst>
              <a:gd name="adj" fmla="val 5217"/>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0" name="Text 8"/>
          <p:cNvSpPr txBox="1"/>
          <p:nvPr/>
        </p:nvSpPr>
        <p:spPr>
          <a:xfrm>
            <a:off x="7498080" y="4114800"/>
            <a:ext cx="3840480" cy="457200"/>
          </a:xfrm>
          <a:prstGeom prst="rect">
            <a:avLst/>
          </a:prstGeom>
          <a:noFill/>
          <a:ln/>
        </p:spPr>
        <p:txBody>
          <a:bodyPr wrap="square" lIns="0" tIns="0" rIns="0" bIns="0" rtlCol="0" anchor="ctr"/>
          <a:lstStyle/>
          <a:p>
            <a:pPr indent="0" marL="0">
              <a:buNone/>
            </a:pPr>
            <a:r>
              <a:rPr lang="en-US" sz="1800" b="1" dirty="0">
                <a:solidFill>
                  <a:schemeClr val="tx2"/>
                </a:solidFill>
              </a:rPr>
              <a:t>What it is not</a:t>
            </a:r>
            <a:endParaRPr lang="en-US" sz="1800" dirty="0"/>
          </a:p>
        </p:txBody>
      </p:sp>
      <p:sp>
        <p:nvSpPr>
          <p:cNvPr id="11" name="Text 9"/>
          <p:cNvSpPr txBox="1"/>
          <p:nvPr/>
        </p:nvSpPr>
        <p:spPr>
          <a:xfrm>
            <a:off x="7498080" y="4617720"/>
            <a:ext cx="3840480" cy="1280160"/>
          </a:xfrm>
          <a:prstGeom prst="rect">
            <a:avLst/>
          </a:prstGeom>
          <a:noFill/>
          <a:ln/>
        </p:spPr>
        <p:txBody>
          <a:bodyPr wrap="square" lIns="0" tIns="0" rIns="0" bIns="0" rtlCol="0" anchor="t"/>
          <a:lstStyle/>
          <a:p>
            <a:pPr indent="0" marL="0">
              <a:buNone/>
            </a:pPr>
            <a:r>
              <a:rPr lang="en-US" sz="1400" dirty="0">
                <a:solidFill>
                  <a:schemeClr val="tx1"/>
                </a:solidFill>
              </a:rPr>
              <a:t>Not a promise of revenue, treatments sold or return on ad spend. Full terms are in writing before we start.</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tx2"/>
                </a:solidFill>
              </a:rPr>
              <a:t>We're selective, because the guarantee only works for the right fit</a:t>
            </a:r>
            <a:endParaRPr lang="en-US" sz="3400" dirty="0"/>
          </a:p>
        </p:txBody>
      </p:sp>
      <p:sp>
        <p:nvSpPr>
          <p:cNvPr id="3" name="Great fit card"/>
          <p:cNvSpPr/>
          <p:nvPr/>
        </p:nvSpPr>
        <p:spPr>
          <a:xfrm>
            <a:off x="548640" y="1645920"/>
            <a:ext cx="5440680" cy="4297680"/>
          </a:xfrm>
          <a:prstGeom prst="roundRect">
            <a:avLst>
              <a:gd name="adj" fmla="val 2553"/>
            </a:avLst>
          </a:prstGeom>
          <a:solidFill>
            <a:schemeClr val="bg2"/>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4" name="Text 2"/>
          <p:cNvSpPr txBox="1"/>
          <p:nvPr/>
        </p:nvSpPr>
        <p:spPr>
          <a:xfrm>
            <a:off x="868680" y="1828800"/>
            <a:ext cx="475488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A great fit if</a:t>
            </a:r>
            <a:endParaRPr lang="en-US" sz="2200" dirty="0"/>
          </a:p>
        </p:txBody>
      </p:sp>
      <p:sp>
        <p:nvSpPr>
          <p:cNvPr id="5" name="Text 3"/>
          <p:cNvSpPr txBox="1"/>
          <p:nvPr/>
        </p:nvSpPr>
        <p:spPr>
          <a:xfrm>
            <a:off x="868680" y="2423160"/>
            <a:ext cx="4846320" cy="338328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chemeClr val="tx1"/>
                </a:solidFill>
              </a:rPr>
              <a:t>You run a private clinic with high-value treatments</a:t>
            </a:r>
            <a:endParaRPr lang="en-US" sz="1900" dirty="0"/>
          </a:p>
          <a:p>
            <a:pPr marL="342900" indent="-342900">
              <a:spcAft>
                <a:spcPts val="1000"/>
              </a:spcAft>
              <a:buSzPct val="100000"/>
              <a:buChar char="•"/>
            </a:pPr>
            <a:r>
              <a:rPr lang="en-US" sz="1900" dirty="0">
                <a:solidFill>
                  <a:schemeClr val="tx1"/>
                </a:solidFill>
              </a:rPr>
              <a:t>You already advertise, or are ready to invest seriously</a:t>
            </a:r>
            <a:endParaRPr lang="en-US" sz="1900" dirty="0"/>
          </a:p>
          <a:p>
            <a:pPr marL="342900" indent="-342900">
              <a:spcAft>
                <a:spcPts val="1000"/>
              </a:spcAft>
              <a:buSzPct val="100000"/>
              <a:buChar char="•"/>
            </a:pPr>
            <a:r>
              <a:rPr lang="en-US" sz="1900" dirty="0">
                <a:solidFill>
                  <a:schemeClr val="tx1"/>
                </a:solidFill>
              </a:rPr>
              <a:t>You want more new patients, not just more leads</a:t>
            </a:r>
            <a:endParaRPr lang="en-US" sz="1900" dirty="0"/>
          </a:p>
          <a:p>
            <a:pPr marL="342900" indent="-342900">
              <a:spcAft>
                <a:spcPts val="1000"/>
              </a:spcAft>
              <a:buSzPct val="100000"/>
              <a:buChar char="•"/>
            </a:pPr>
            <a:r>
              <a:rPr lang="en-US" sz="1900" dirty="0">
                <a:solidFill>
                  <a:schemeClr val="tx1"/>
                </a:solidFill>
              </a:rPr>
              <a:t>Your team can handle more appointments and follows up fast</a:t>
            </a:r>
            <a:endParaRPr lang="en-US" sz="1900" dirty="0"/>
          </a:p>
          <a:p>
            <a:pPr marL="342900" indent="-342900">
              <a:spcAft>
                <a:spcPts val="1000"/>
              </a:spcAft>
              <a:buSzPct val="100000"/>
              <a:buChar char="•"/>
            </a:pPr>
            <a:r>
              <a:rPr lang="en-US" sz="1900" dirty="0">
                <a:solidFill>
                  <a:schemeClr val="tx1"/>
                </a:solidFill>
              </a:rPr>
              <a:t>You'll share booking and lead data</a:t>
            </a:r>
            <a:endParaRPr lang="en-US" sz="1900" dirty="0"/>
          </a:p>
        </p:txBody>
      </p:sp>
      <p:sp>
        <p:nvSpPr>
          <p:cNvPr id="6" name="Not a fit card"/>
          <p:cNvSpPr/>
          <p:nvPr/>
        </p:nvSpPr>
        <p:spPr>
          <a:xfrm>
            <a:off x="6172200" y="1645920"/>
            <a:ext cx="5440680" cy="4297680"/>
          </a:xfrm>
          <a:prstGeom prst="roundRect">
            <a:avLst>
              <a:gd name="adj" fmla="val 2553"/>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7" name="Text 5"/>
          <p:cNvSpPr txBox="1"/>
          <p:nvPr/>
        </p:nvSpPr>
        <p:spPr>
          <a:xfrm>
            <a:off x="6492240" y="1828800"/>
            <a:ext cx="4754880" cy="457200"/>
          </a:xfrm>
          <a:prstGeom prst="rect">
            <a:avLst/>
          </a:prstGeom>
          <a:noFill/>
          <a:ln/>
        </p:spPr>
        <p:txBody>
          <a:bodyPr wrap="square" lIns="0" tIns="0" rIns="0" bIns="0" rtlCol="0" anchor="ctr"/>
          <a:lstStyle/>
          <a:p>
            <a:pPr indent="0" marL="0">
              <a:buNone/>
            </a:pPr>
            <a:r>
              <a:rPr lang="en-US" sz="2200" b="1" dirty="0">
                <a:solidFill>
                  <a:schemeClr val="accent3"/>
                </a:solidFill>
                <a:latin typeface="Cambria" pitchFamily="34" charset="0"/>
                <a:ea typeface="Cambria" pitchFamily="34" charset="-122"/>
                <a:cs typeface="Cambria" pitchFamily="34" charset="-120"/>
              </a:rPr>
              <a:t>Not a fit if</a:t>
            </a:r>
            <a:endParaRPr lang="en-US" sz="2200" dirty="0"/>
          </a:p>
        </p:txBody>
      </p:sp>
      <p:sp>
        <p:nvSpPr>
          <p:cNvPr id="8" name="Text 6"/>
          <p:cNvSpPr txBox="1"/>
          <p:nvPr/>
        </p:nvSpPr>
        <p:spPr>
          <a:xfrm>
            <a:off x="6492240" y="2423160"/>
            <a:ext cx="4846320" cy="338328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chemeClr val="tx1"/>
                </a:solidFill>
              </a:rPr>
              <a:t>You want results with no ad budget</a:t>
            </a:r>
            <a:endParaRPr lang="en-US" sz="1900" dirty="0"/>
          </a:p>
          <a:p>
            <a:pPr marL="342900" indent="-342900">
              <a:spcAft>
                <a:spcPts val="1000"/>
              </a:spcAft>
              <a:buSzPct val="100000"/>
              <a:buChar char="•"/>
            </a:pPr>
            <a:r>
              <a:rPr lang="en-US" sz="1900" dirty="0">
                <a:solidFill>
                  <a:schemeClr val="tx1"/>
                </a:solidFill>
              </a:rPr>
              <a:t>You can't share booking or lead data</a:t>
            </a:r>
            <a:endParaRPr lang="en-US" sz="1900" dirty="0"/>
          </a:p>
          <a:p>
            <a:pPr marL="342900" indent="-342900">
              <a:spcAft>
                <a:spcPts val="1000"/>
              </a:spcAft>
              <a:buSzPct val="100000"/>
              <a:buChar char="•"/>
            </a:pPr>
            <a:r>
              <a:rPr lang="en-US" sz="1900" dirty="0">
                <a:solidFill>
                  <a:schemeClr val="tx1"/>
                </a:solidFill>
              </a:rPr>
              <a:t>You want leads handed over with no follow-up from your team</a:t>
            </a:r>
            <a:endParaRPr lang="en-US" sz="1900" dirty="0"/>
          </a:p>
          <a:p>
            <a:pPr marL="342900" indent="-342900">
              <a:spcAft>
                <a:spcPts val="1000"/>
              </a:spcAft>
              <a:buSzPct val="100000"/>
              <a:buChar char="•"/>
            </a:pPr>
            <a:r>
              <a:rPr lang="en-US" sz="1900" dirty="0">
                <a:solidFill>
                  <a:schemeClr val="tx1"/>
                </a:solidFill>
              </a:rPr>
              <a:t>Another clinic near you already works with us</a:t>
            </a:r>
            <a:endParaRPr lang="en-US" sz="19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tx2"/>
                </a:solidFill>
              </a:rPr>
              <a:t>Four bonuses so you see results sooner</a:t>
            </a:r>
            <a:endParaRPr lang="en-US" sz="3400" dirty="0"/>
          </a:p>
        </p:txBody>
      </p:sp>
      <p:sp>
        <p:nvSpPr>
          <p:cNvPr id="3" name="Bonus card 1"/>
          <p:cNvSpPr/>
          <p:nvPr/>
        </p:nvSpPr>
        <p:spPr>
          <a:xfrm>
            <a:off x="548640" y="1554480"/>
            <a:ext cx="5440680"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4" name="Lead Leak Audit icon circle"/>
          <p:cNvSpPr/>
          <p:nvPr/>
        </p:nvSpPr>
        <p:spPr>
          <a:xfrm>
            <a:off x="822960" y="1828800"/>
            <a:ext cx="685800" cy="685800"/>
          </a:xfrm>
          <a:prstGeom prst="ellipse">
            <a:avLst/>
          </a:prstGeom>
          <a:solidFill>
            <a:schemeClr val="bg2"/>
          </a:solidFill>
          <a:ln w="12700">
            <a:solidFill>
              <a:schemeClr val="bg2"/>
            </a:solidFill>
            <a:prstDash val="solid"/>
          </a:ln>
        </p:spPr>
      </p:sp>
      <p:pic>
        <p:nvPicPr>
          <p:cNvPr id="5" name="Lead Leak Audit icon" descr="Lead Leak Audit icon">    </p:cNvPr>
          <p:cNvPicPr>
            <a:picLocks noChangeAspect="1"/>
          </p:cNvPicPr>
          <p:nvPr/>
        </p:nvPicPr>
        <p:blipFill>
          <a:blip r:embed="rId1"/>
          <a:stretch>
            <a:fillRect/>
          </a:stretch>
        </p:blipFill>
        <p:spPr>
          <a:xfrm>
            <a:off x="1008126" y="2013966"/>
            <a:ext cx="315468" cy="315468"/>
          </a:xfrm>
          <a:prstGeom prst="rect">
            <a:avLst/>
          </a:prstGeom>
        </p:spPr>
      </p:pic>
      <p:sp>
        <p:nvSpPr>
          <p:cNvPr id="6" name="Text 3"/>
          <p:cNvSpPr txBox="1"/>
          <p:nvPr/>
        </p:nvSpPr>
        <p:spPr>
          <a:xfrm>
            <a:off x="1691640" y="1828800"/>
            <a:ext cx="2834640" cy="685800"/>
          </a:xfrm>
          <a:prstGeom prst="rect">
            <a:avLst/>
          </a:prstGeom>
          <a:noFill/>
          <a:ln/>
        </p:spPr>
        <p:txBody>
          <a:bodyPr wrap="square" lIns="0" tIns="0" rIns="0" bIns="0" rtlCol="0" anchor="ctr"/>
          <a:lstStyle/>
          <a:p>
            <a:pPr indent="0" marL="0">
              <a:buNone/>
            </a:pPr>
            <a:r>
              <a:rPr lang="en-US" sz="1800" b="1" dirty="0">
                <a:solidFill>
                  <a:schemeClr val="tx2"/>
                </a:solidFill>
              </a:rPr>
              <a:t>Lead Leak Audit</a:t>
            </a:r>
            <a:endParaRPr lang="en-US" sz="1800" dirty="0"/>
          </a:p>
        </p:txBody>
      </p:sp>
      <p:sp>
        <p:nvSpPr>
          <p:cNvPr id="7" name="Text 4"/>
          <p:cNvSpPr txBox="1"/>
          <p:nvPr/>
        </p:nvSpPr>
        <p:spPr>
          <a:xfrm>
            <a:off x="4572000" y="1828800"/>
            <a:ext cx="1188720" cy="685800"/>
          </a:xfrm>
          <a:prstGeom prst="rect">
            <a:avLst/>
          </a:prstGeom>
          <a:noFill/>
          <a:ln/>
        </p:spPr>
        <p:txBody>
          <a:bodyPr wrap="square" lIns="0" tIns="0" rIns="0" bIns="0" rtlCol="0" anchor="ctr"/>
          <a:lstStyle/>
          <a:p>
            <a:pPr algn="r" indent="0" marL="0">
              <a:buNone/>
            </a:pPr>
            <a:r>
              <a:rPr lang="en-US" sz="1600" b="1" dirty="0">
                <a:solidFill>
                  <a:schemeClr val="accent2"/>
                </a:solidFill>
              </a:rPr>
              <a:t>Value $750</a:t>
            </a:r>
            <a:endParaRPr lang="en-US" sz="1600" dirty="0"/>
          </a:p>
        </p:txBody>
      </p:sp>
      <p:sp>
        <p:nvSpPr>
          <p:cNvPr id="8" name="Text 5"/>
          <p:cNvSpPr txBox="1"/>
          <p:nvPr/>
        </p:nvSpPr>
        <p:spPr>
          <a:xfrm>
            <a:off x="822960" y="2651760"/>
            <a:ext cx="4892040" cy="914400"/>
          </a:xfrm>
          <a:prstGeom prst="rect">
            <a:avLst/>
          </a:prstGeom>
          <a:noFill/>
          <a:ln/>
        </p:spPr>
        <p:txBody>
          <a:bodyPr wrap="square" lIns="0" tIns="0" rIns="0" bIns="0" rtlCol="0" anchor="t"/>
          <a:lstStyle/>
          <a:p>
            <a:pPr indent="0" marL="0">
              <a:buNone/>
            </a:pPr>
            <a:r>
              <a:rPr lang="en-US" sz="1400" dirty="0">
                <a:solidFill>
                  <a:schemeClr val="accent5"/>
                </a:solidFill>
              </a:rPr>
              <a:t>We check how fast and how well you handle new leads today and hand you a clear list of fixes.</a:t>
            </a:r>
            <a:endParaRPr lang="en-US" sz="1400" dirty="0"/>
          </a:p>
        </p:txBody>
      </p:sp>
      <p:sp>
        <p:nvSpPr>
          <p:cNvPr id="9" name="Bonus card 2"/>
          <p:cNvSpPr/>
          <p:nvPr/>
        </p:nvSpPr>
        <p:spPr>
          <a:xfrm>
            <a:off x="6172200" y="1554480"/>
            <a:ext cx="5440680"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0" name="Dormant Patient Win-Back icon circle"/>
          <p:cNvSpPr/>
          <p:nvPr/>
        </p:nvSpPr>
        <p:spPr>
          <a:xfrm>
            <a:off x="6446520" y="1828800"/>
            <a:ext cx="685800" cy="685800"/>
          </a:xfrm>
          <a:prstGeom prst="ellipse">
            <a:avLst/>
          </a:prstGeom>
          <a:solidFill>
            <a:schemeClr val="bg2"/>
          </a:solidFill>
          <a:ln w="12700">
            <a:solidFill>
              <a:schemeClr val="bg2"/>
            </a:solidFill>
            <a:prstDash val="solid"/>
          </a:ln>
        </p:spPr>
      </p:sp>
      <p:pic>
        <p:nvPicPr>
          <p:cNvPr id="11" name="Dormant Patient Win-Back icon" descr="Dormant Patient Win-Back icon">    </p:cNvPr>
          <p:cNvPicPr>
            <a:picLocks noChangeAspect="1"/>
          </p:cNvPicPr>
          <p:nvPr/>
        </p:nvPicPr>
        <p:blipFill>
          <a:blip r:embed="rId2"/>
          <a:stretch>
            <a:fillRect/>
          </a:stretch>
        </p:blipFill>
        <p:spPr>
          <a:xfrm>
            <a:off x="6631686" y="2013966"/>
            <a:ext cx="315468" cy="315468"/>
          </a:xfrm>
          <a:prstGeom prst="rect">
            <a:avLst/>
          </a:prstGeom>
        </p:spPr>
      </p:pic>
      <p:sp>
        <p:nvSpPr>
          <p:cNvPr id="12" name="Text 8"/>
          <p:cNvSpPr txBox="1"/>
          <p:nvPr/>
        </p:nvSpPr>
        <p:spPr>
          <a:xfrm>
            <a:off x="7315200" y="1828800"/>
            <a:ext cx="2834640" cy="685800"/>
          </a:xfrm>
          <a:prstGeom prst="rect">
            <a:avLst/>
          </a:prstGeom>
          <a:noFill/>
          <a:ln/>
        </p:spPr>
        <p:txBody>
          <a:bodyPr wrap="square" lIns="0" tIns="0" rIns="0" bIns="0" rtlCol="0" anchor="ctr"/>
          <a:lstStyle/>
          <a:p>
            <a:pPr indent="0" marL="0">
              <a:buNone/>
            </a:pPr>
            <a:r>
              <a:rPr lang="en-US" sz="1800" b="1" dirty="0">
                <a:solidFill>
                  <a:schemeClr val="tx2"/>
                </a:solidFill>
              </a:rPr>
              <a:t>Dormant Patient Win-Back</a:t>
            </a:r>
            <a:endParaRPr lang="en-US" sz="1800" dirty="0"/>
          </a:p>
        </p:txBody>
      </p:sp>
      <p:sp>
        <p:nvSpPr>
          <p:cNvPr id="13" name="Text 9"/>
          <p:cNvSpPr txBox="1"/>
          <p:nvPr/>
        </p:nvSpPr>
        <p:spPr>
          <a:xfrm>
            <a:off x="10195560" y="1828800"/>
            <a:ext cx="1188720" cy="685800"/>
          </a:xfrm>
          <a:prstGeom prst="rect">
            <a:avLst/>
          </a:prstGeom>
          <a:noFill/>
          <a:ln/>
        </p:spPr>
        <p:txBody>
          <a:bodyPr wrap="square" lIns="0" tIns="0" rIns="0" bIns="0" rtlCol="0" anchor="ctr"/>
          <a:lstStyle/>
          <a:p>
            <a:pPr algn="r" indent="0" marL="0">
              <a:buNone/>
            </a:pPr>
            <a:r>
              <a:rPr lang="en-US" sz="1600" b="1" dirty="0">
                <a:solidFill>
                  <a:schemeClr val="accent2"/>
                </a:solidFill>
              </a:rPr>
              <a:t>Value $1,500</a:t>
            </a:r>
            <a:endParaRPr lang="en-US" sz="1600" dirty="0"/>
          </a:p>
        </p:txBody>
      </p:sp>
      <p:sp>
        <p:nvSpPr>
          <p:cNvPr id="14" name="Text 10"/>
          <p:cNvSpPr txBox="1"/>
          <p:nvPr/>
        </p:nvSpPr>
        <p:spPr>
          <a:xfrm>
            <a:off x="6446520" y="2651760"/>
            <a:ext cx="4892040" cy="914400"/>
          </a:xfrm>
          <a:prstGeom prst="rect">
            <a:avLst/>
          </a:prstGeom>
          <a:noFill/>
          <a:ln/>
        </p:spPr>
        <p:txBody>
          <a:bodyPr wrap="square" lIns="0" tIns="0" rIns="0" bIns="0" rtlCol="0" anchor="t"/>
          <a:lstStyle/>
          <a:p>
            <a:pPr indent="0" marL="0">
              <a:buNone/>
            </a:pPr>
            <a:r>
              <a:rPr lang="en-US" sz="1400" dirty="0">
                <a:solidFill>
                  <a:schemeClr val="accent5"/>
                </a:solidFill>
              </a:rPr>
              <a:t>A one-time campaign to bring back old leads and past patients who never booked again.</a:t>
            </a:r>
            <a:endParaRPr lang="en-US" sz="1400" dirty="0"/>
          </a:p>
        </p:txBody>
      </p:sp>
      <p:sp>
        <p:nvSpPr>
          <p:cNvPr id="15" name="Bonus card 3"/>
          <p:cNvSpPr/>
          <p:nvPr/>
        </p:nvSpPr>
        <p:spPr>
          <a:xfrm>
            <a:off x="548640" y="3886200"/>
            <a:ext cx="5440680"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6" name="Appointment-to-Treatment Playbook icon circle"/>
          <p:cNvSpPr/>
          <p:nvPr/>
        </p:nvSpPr>
        <p:spPr>
          <a:xfrm>
            <a:off x="822960" y="4160520"/>
            <a:ext cx="685800" cy="685800"/>
          </a:xfrm>
          <a:prstGeom prst="ellipse">
            <a:avLst/>
          </a:prstGeom>
          <a:solidFill>
            <a:schemeClr val="bg2"/>
          </a:solidFill>
          <a:ln w="12700">
            <a:solidFill>
              <a:schemeClr val="bg2"/>
            </a:solidFill>
            <a:prstDash val="solid"/>
          </a:ln>
        </p:spPr>
      </p:sp>
      <p:pic>
        <p:nvPicPr>
          <p:cNvPr id="17" name="Appointment-to-Treatment Playbook icon" descr="Appointment-to-Treatment Playbook icon">    </p:cNvPr>
          <p:cNvPicPr>
            <a:picLocks noChangeAspect="1"/>
          </p:cNvPicPr>
          <p:nvPr/>
        </p:nvPicPr>
        <p:blipFill>
          <a:blip r:embed="rId3"/>
          <a:stretch>
            <a:fillRect/>
          </a:stretch>
        </p:blipFill>
        <p:spPr>
          <a:xfrm>
            <a:off x="1008126" y="4345686"/>
            <a:ext cx="315468" cy="315468"/>
          </a:xfrm>
          <a:prstGeom prst="rect">
            <a:avLst/>
          </a:prstGeom>
        </p:spPr>
      </p:pic>
      <p:sp>
        <p:nvSpPr>
          <p:cNvPr id="18" name="Text 13"/>
          <p:cNvSpPr txBox="1"/>
          <p:nvPr/>
        </p:nvSpPr>
        <p:spPr>
          <a:xfrm>
            <a:off x="1691640" y="4160520"/>
            <a:ext cx="2834640" cy="685800"/>
          </a:xfrm>
          <a:prstGeom prst="rect">
            <a:avLst/>
          </a:prstGeom>
          <a:noFill/>
          <a:ln/>
        </p:spPr>
        <p:txBody>
          <a:bodyPr wrap="square" lIns="0" tIns="0" rIns="0" bIns="0" rtlCol="0" anchor="ctr"/>
          <a:lstStyle/>
          <a:p>
            <a:pPr indent="0" marL="0">
              <a:buNone/>
            </a:pPr>
            <a:r>
              <a:rPr lang="en-US" sz="1800" b="1" dirty="0">
                <a:solidFill>
                  <a:schemeClr val="tx2"/>
                </a:solidFill>
              </a:rPr>
              <a:t>Appointment-to-Treatment Playbook</a:t>
            </a:r>
            <a:endParaRPr lang="en-US" sz="1800" dirty="0"/>
          </a:p>
        </p:txBody>
      </p:sp>
      <p:sp>
        <p:nvSpPr>
          <p:cNvPr id="19" name="Text 14"/>
          <p:cNvSpPr txBox="1"/>
          <p:nvPr/>
        </p:nvSpPr>
        <p:spPr>
          <a:xfrm>
            <a:off x="4572000" y="4160520"/>
            <a:ext cx="1188720" cy="685800"/>
          </a:xfrm>
          <a:prstGeom prst="rect">
            <a:avLst/>
          </a:prstGeom>
          <a:noFill/>
          <a:ln/>
        </p:spPr>
        <p:txBody>
          <a:bodyPr wrap="square" lIns="0" tIns="0" rIns="0" bIns="0" rtlCol="0" anchor="ctr"/>
          <a:lstStyle/>
          <a:p>
            <a:pPr algn="r" indent="0" marL="0">
              <a:buNone/>
            </a:pPr>
            <a:r>
              <a:rPr lang="en-US" sz="1600" b="1" dirty="0">
                <a:solidFill>
                  <a:schemeClr val="accent2"/>
                </a:solidFill>
              </a:rPr>
              <a:t>Value $1,000</a:t>
            </a:r>
            <a:endParaRPr lang="en-US" sz="1600" dirty="0"/>
          </a:p>
        </p:txBody>
      </p:sp>
      <p:sp>
        <p:nvSpPr>
          <p:cNvPr id="20" name="Text 15"/>
          <p:cNvSpPr txBox="1"/>
          <p:nvPr/>
        </p:nvSpPr>
        <p:spPr>
          <a:xfrm>
            <a:off x="822960" y="4983480"/>
            <a:ext cx="4892040" cy="914400"/>
          </a:xfrm>
          <a:prstGeom prst="rect">
            <a:avLst/>
          </a:prstGeom>
          <a:noFill/>
          <a:ln/>
        </p:spPr>
        <p:txBody>
          <a:bodyPr wrap="square" lIns="0" tIns="0" rIns="0" bIns="0" rtlCol="0" anchor="t"/>
          <a:lstStyle/>
          <a:p>
            <a:pPr indent="0" marL="0">
              <a:buNone/>
            </a:pPr>
            <a:r>
              <a:rPr lang="en-US" sz="1400" dirty="0">
                <a:solidFill>
                  <a:schemeClr val="accent5"/>
                </a:solidFill>
              </a:rPr>
              <a:t>A script, objection answers, recorded training and one live session for your team.</a:t>
            </a:r>
            <a:endParaRPr lang="en-US" sz="1400" dirty="0"/>
          </a:p>
        </p:txBody>
      </p:sp>
      <p:sp>
        <p:nvSpPr>
          <p:cNvPr id="21" name="Bonus card 4"/>
          <p:cNvSpPr/>
          <p:nvPr/>
        </p:nvSpPr>
        <p:spPr>
          <a:xfrm>
            <a:off x="6172200" y="3886200"/>
            <a:ext cx="5440680"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22" name="Review Booster icon circle"/>
          <p:cNvSpPr/>
          <p:nvPr/>
        </p:nvSpPr>
        <p:spPr>
          <a:xfrm>
            <a:off x="6446520" y="4160520"/>
            <a:ext cx="685800" cy="685800"/>
          </a:xfrm>
          <a:prstGeom prst="ellipse">
            <a:avLst/>
          </a:prstGeom>
          <a:solidFill>
            <a:schemeClr val="bg2"/>
          </a:solidFill>
          <a:ln w="12700">
            <a:solidFill>
              <a:schemeClr val="bg2"/>
            </a:solidFill>
            <a:prstDash val="solid"/>
          </a:ln>
        </p:spPr>
      </p:sp>
      <p:pic>
        <p:nvPicPr>
          <p:cNvPr id="23" name="Review Booster icon" descr="Review Booster icon">    </p:cNvPr>
          <p:cNvPicPr>
            <a:picLocks noChangeAspect="1"/>
          </p:cNvPicPr>
          <p:nvPr/>
        </p:nvPicPr>
        <p:blipFill>
          <a:blip r:embed="rId4"/>
          <a:stretch>
            <a:fillRect/>
          </a:stretch>
        </p:blipFill>
        <p:spPr>
          <a:xfrm>
            <a:off x="6631686" y="4345686"/>
            <a:ext cx="315468" cy="315468"/>
          </a:xfrm>
          <a:prstGeom prst="rect">
            <a:avLst/>
          </a:prstGeom>
        </p:spPr>
      </p:pic>
      <p:sp>
        <p:nvSpPr>
          <p:cNvPr id="24" name="Text 18"/>
          <p:cNvSpPr txBox="1"/>
          <p:nvPr/>
        </p:nvSpPr>
        <p:spPr>
          <a:xfrm>
            <a:off x="7315200" y="4160520"/>
            <a:ext cx="2834640" cy="685800"/>
          </a:xfrm>
          <a:prstGeom prst="rect">
            <a:avLst/>
          </a:prstGeom>
          <a:noFill/>
          <a:ln/>
        </p:spPr>
        <p:txBody>
          <a:bodyPr wrap="square" lIns="0" tIns="0" rIns="0" bIns="0" rtlCol="0" anchor="ctr"/>
          <a:lstStyle/>
          <a:p>
            <a:pPr indent="0" marL="0">
              <a:buNone/>
            </a:pPr>
            <a:r>
              <a:rPr lang="en-US" sz="1800" b="1" dirty="0">
                <a:solidFill>
                  <a:schemeClr val="tx2"/>
                </a:solidFill>
              </a:rPr>
              <a:t>Review Booster</a:t>
            </a:r>
            <a:endParaRPr lang="en-US" sz="1800" dirty="0"/>
          </a:p>
        </p:txBody>
      </p:sp>
      <p:sp>
        <p:nvSpPr>
          <p:cNvPr id="25" name="Text 19"/>
          <p:cNvSpPr txBox="1"/>
          <p:nvPr/>
        </p:nvSpPr>
        <p:spPr>
          <a:xfrm>
            <a:off x="10195560" y="4160520"/>
            <a:ext cx="1188720" cy="685800"/>
          </a:xfrm>
          <a:prstGeom prst="rect">
            <a:avLst/>
          </a:prstGeom>
          <a:noFill/>
          <a:ln/>
        </p:spPr>
        <p:txBody>
          <a:bodyPr wrap="square" lIns="0" tIns="0" rIns="0" bIns="0" rtlCol="0" anchor="ctr"/>
          <a:lstStyle/>
          <a:p>
            <a:pPr algn="r" indent="0" marL="0">
              <a:buNone/>
            </a:pPr>
            <a:r>
              <a:rPr lang="en-US" sz="1600" b="1" dirty="0">
                <a:solidFill>
                  <a:schemeClr val="accent2"/>
                </a:solidFill>
              </a:rPr>
              <a:t>Value $500</a:t>
            </a:r>
            <a:endParaRPr lang="en-US" sz="1600" dirty="0"/>
          </a:p>
        </p:txBody>
      </p:sp>
      <p:sp>
        <p:nvSpPr>
          <p:cNvPr id="26" name="Text 20"/>
          <p:cNvSpPr txBox="1"/>
          <p:nvPr/>
        </p:nvSpPr>
        <p:spPr>
          <a:xfrm>
            <a:off x="6446520" y="4983480"/>
            <a:ext cx="4892040" cy="914400"/>
          </a:xfrm>
          <a:prstGeom prst="rect">
            <a:avLst/>
          </a:prstGeom>
          <a:noFill/>
          <a:ln/>
        </p:spPr>
        <p:txBody>
          <a:bodyPr wrap="square" lIns="0" tIns="0" rIns="0" bIns="0" rtlCol="0" anchor="t"/>
          <a:lstStyle/>
          <a:p>
            <a:pPr indent="0" marL="0">
              <a:buNone/>
            </a:pPr>
            <a:r>
              <a:rPr lang="en-US" sz="1400" dirty="0">
                <a:solidFill>
                  <a:schemeClr val="accent5"/>
                </a:solidFill>
              </a:rPr>
              <a:t>Automatic review requests after visits, so your reputation grows while you work.</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tx2"/>
                </a:solidFill>
              </a:rPr>
              <a:t>You'll see movement in your first two weeks</a:t>
            </a:r>
            <a:endParaRPr lang="en-US" sz="3400" dirty="0"/>
          </a:p>
        </p:txBody>
      </p:sp>
      <p:sp>
        <p:nvSpPr>
          <p:cNvPr id="3" name="Timeline line"/>
          <p:cNvSpPr/>
          <p:nvPr/>
        </p:nvSpPr>
        <p:spPr>
          <a:xfrm>
            <a:off x="1463040" y="2697480"/>
            <a:ext cx="9235440" cy="0"/>
          </a:xfrm>
          <a:prstGeom prst="line">
            <a:avLst/>
          </a:prstGeom>
          <a:noFill/>
          <a:ln w="38100">
            <a:solidFill>
              <a:schemeClr val="accent6"/>
            </a:solidFill>
            <a:prstDash val="solid"/>
          </a:ln>
        </p:spPr>
      </p:sp>
      <p:sp>
        <p:nvSpPr>
          <p:cNvPr id="4" name="Timeline dot 1"/>
          <p:cNvSpPr/>
          <p:nvPr/>
        </p:nvSpPr>
        <p:spPr>
          <a:xfrm>
            <a:off x="1965960" y="2423160"/>
            <a:ext cx="548640" cy="548640"/>
          </a:xfrm>
          <a:prstGeom prst="ellipse">
            <a:avLst/>
          </a:prstGeom>
          <a:solidFill>
            <a:schemeClr val="accent1"/>
          </a:solidFill>
          <a:ln w="38100">
            <a:solidFill>
              <a:schemeClr val="bg1"/>
            </a:solidFill>
            <a:prstDash val="solid"/>
          </a:ln>
        </p:spPr>
      </p:sp>
      <p:sp>
        <p:nvSpPr>
          <p:cNvPr id="5" name="Text 3"/>
          <p:cNvSpPr txBox="1"/>
          <p:nvPr/>
        </p:nvSpPr>
        <p:spPr>
          <a:xfrm>
            <a:off x="1965960" y="24231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548640" y="3291840"/>
            <a:ext cx="3383280" cy="365760"/>
          </a:xfrm>
          <a:prstGeom prst="rect">
            <a:avLst/>
          </a:prstGeom>
          <a:noFill/>
          <a:ln/>
        </p:spPr>
        <p:txBody>
          <a:bodyPr wrap="square" lIns="0" tIns="0" rIns="0" bIns="0" rtlCol="0" anchor="ctr"/>
          <a:lstStyle/>
          <a:p>
            <a:pPr algn="ctr" indent="0" marL="0">
              <a:buNone/>
            </a:pPr>
            <a:r>
              <a:rPr lang="en-US" sz="1600" b="1" dirty="0">
                <a:solidFill>
                  <a:schemeClr val="accent2"/>
                </a:solidFill>
              </a:rPr>
              <a:t>Within 5 business days</a:t>
            </a:r>
            <a:endParaRPr lang="en-US" sz="1600" dirty="0"/>
          </a:p>
        </p:txBody>
      </p:sp>
      <p:sp>
        <p:nvSpPr>
          <p:cNvPr id="7" name="Text 5"/>
          <p:cNvSpPr txBox="1"/>
          <p:nvPr/>
        </p:nvSpPr>
        <p:spPr>
          <a:xfrm>
            <a:off x="548640" y="3749040"/>
            <a:ext cx="3383280" cy="731520"/>
          </a:xfrm>
          <a:prstGeom prst="rect">
            <a:avLst/>
          </a:prstGeom>
          <a:noFill/>
          <a:ln/>
        </p:spPr>
        <p:txBody>
          <a:bodyPr wrap="square" lIns="0" tIns="0" rIns="0" bIns="0" rtlCol="0" anchor="t"/>
          <a:lstStyle/>
          <a:p>
            <a:pPr algn="ctr" indent="0" marL="0">
              <a:buNone/>
            </a:pPr>
            <a:r>
              <a:rPr lang="en-US" sz="2200" b="1" dirty="0">
                <a:solidFill>
                  <a:schemeClr val="tx2"/>
                </a:solidFill>
                <a:latin typeface="Cambria" pitchFamily="34" charset="0"/>
                <a:ea typeface="Cambria" pitchFamily="34" charset="-122"/>
                <a:cs typeface="Cambria" pitchFamily="34" charset="-120"/>
              </a:rPr>
              <a:t>Lead Leak Audit delivered</a:t>
            </a:r>
            <a:endParaRPr lang="en-US" sz="2200" dirty="0"/>
          </a:p>
        </p:txBody>
      </p:sp>
      <p:sp>
        <p:nvSpPr>
          <p:cNvPr id="8" name="Text 6"/>
          <p:cNvSpPr txBox="1"/>
          <p:nvPr/>
        </p:nvSpPr>
        <p:spPr>
          <a:xfrm>
            <a:off x="685800" y="4572000"/>
            <a:ext cx="3108960" cy="1280160"/>
          </a:xfrm>
          <a:prstGeom prst="rect">
            <a:avLst/>
          </a:prstGeom>
          <a:noFill/>
          <a:ln/>
        </p:spPr>
        <p:txBody>
          <a:bodyPr wrap="square" lIns="0" tIns="0" rIns="0" bIns="0" rtlCol="0" anchor="t"/>
          <a:lstStyle/>
          <a:p>
            <a:pPr algn="ctr" indent="0" marL="0">
              <a:buNone/>
            </a:pPr>
            <a:r>
              <a:rPr lang="en-US" sz="1600" dirty="0">
                <a:solidFill>
                  <a:schemeClr val="accent5"/>
                </a:solidFill>
              </a:rPr>
              <a:t>You see exactly where new patients leak out of your clinic today.</a:t>
            </a:r>
            <a:endParaRPr lang="en-US" sz="1600" dirty="0"/>
          </a:p>
        </p:txBody>
      </p:sp>
      <p:sp>
        <p:nvSpPr>
          <p:cNvPr id="9" name="Timeline dot 2"/>
          <p:cNvSpPr/>
          <p:nvPr/>
        </p:nvSpPr>
        <p:spPr>
          <a:xfrm>
            <a:off x="5715000" y="2423160"/>
            <a:ext cx="548640" cy="548640"/>
          </a:xfrm>
          <a:prstGeom prst="ellipse">
            <a:avLst/>
          </a:prstGeom>
          <a:solidFill>
            <a:schemeClr val="accent1"/>
          </a:solidFill>
          <a:ln w="38100">
            <a:solidFill>
              <a:schemeClr val="bg1"/>
            </a:solidFill>
            <a:prstDash val="solid"/>
          </a:ln>
        </p:spPr>
      </p:sp>
      <p:sp>
        <p:nvSpPr>
          <p:cNvPr id="10" name="Text 8"/>
          <p:cNvSpPr txBox="1"/>
          <p:nvPr/>
        </p:nvSpPr>
        <p:spPr>
          <a:xfrm>
            <a:off x="5715000" y="24231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4297680" y="3291840"/>
            <a:ext cx="3383280" cy="365760"/>
          </a:xfrm>
          <a:prstGeom prst="rect">
            <a:avLst/>
          </a:prstGeom>
          <a:noFill/>
          <a:ln/>
        </p:spPr>
        <p:txBody>
          <a:bodyPr wrap="square" lIns="0" tIns="0" rIns="0" bIns="0" rtlCol="0" anchor="ctr"/>
          <a:lstStyle/>
          <a:p>
            <a:pPr algn="ctr" indent="0" marL="0">
              <a:buNone/>
            </a:pPr>
            <a:r>
              <a:rPr lang="en-US" sz="1600" b="1" dirty="0">
                <a:solidFill>
                  <a:schemeClr val="accent2"/>
                </a:solidFill>
              </a:rPr>
              <a:t>Within 7 days</a:t>
            </a:r>
            <a:endParaRPr lang="en-US" sz="1600" dirty="0"/>
          </a:p>
        </p:txBody>
      </p:sp>
      <p:sp>
        <p:nvSpPr>
          <p:cNvPr id="12" name="Text 10"/>
          <p:cNvSpPr txBox="1"/>
          <p:nvPr/>
        </p:nvSpPr>
        <p:spPr>
          <a:xfrm>
            <a:off x="4297680" y="3749040"/>
            <a:ext cx="3383280" cy="731520"/>
          </a:xfrm>
          <a:prstGeom prst="rect">
            <a:avLst/>
          </a:prstGeom>
          <a:noFill/>
          <a:ln/>
        </p:spPr>
        <p:txBody>
          <a:bodyPr wrap="square" lIns="0" tIns="0" rIns="0" bIns="0" rtlCol="0" anchor="t"/>
          <a:lstStyle/>
          <a:p>
            <a:pPr algn="ctr" indent="0" marL="0">
              <a:buNone/>
            </a:pPr>
            <a:r>
              <a:rPr lang="en-US" sz="2200" b="1" dirty="0">
                <a:solidFill>
                  <a:schemeClr val="tx2"/>
                </a:solidFill>
                <a:latin typeface="Cambria" pitchFamily="34" charset="0"/>
                <a:ea typeface="Cambria" pitchFamily="34" charset="-122"/>
                <a:cs typeface="Cambria" pitchFamily="34" charset="-120"/>
              </a:rPr>
              <a:t>Instant response system live</a:t>
            </a:r>
            <a:endParaRPr lang="en-US" sz="2200" dirty="0"/>
          </a:p>
        </p:txBody>
      </p:sp>
      <p:sp>
        <p:nvSpPr>
          <p:cNvPr id="13" name="Text 11"/>
          <p:cNvSpPr txBox="1"/>
          <p:nvPr/>
        </p:nvSpPr>
        <p:spPr>
          <a:xfrm>
            <a:off x="4434840" y="4572000"/>
            <a:ext cx="3108960" cy="1280160"/>
          </a:xfrm>
          <a:prstGeom prst="rect">
            <a:avLst/>
          </a:prstGeom>
          <a:noFill/>
          <a:ln/>
        </p:spPr>
        <p:txBody>
          <a:bodyPr wrap="square" lIns="0" tIns="0" rIns="0" bIns="0" rtlCol="0" anchor="t"/>
          <a:lstStyle/>
          <a:p>
            <a:pPr algn="ctr" indent="0" marL="0">
              <a:buNone/>
            </a:pPr>
            <a:r>
              <a:rPr lang="en-US" sz="1600" dirty="0">
                <a:solidFill>
                  <a:schemeClr val="accent5"/>
                </a:solidFill>
              </a:rPr>
              <a:t>Every lead gets a reply within minutes from this point on.</a:t>
            </a:r>
            <a:endParaRPr lang="en-US" sz="1600" dirty="0"/>
          </a:p>
        </p:txBody>
      </p:sp>
      <p:sp>
        <p:nvSpPr>
          <p:cNvPr id="14" name="Timeline dot 3"/>
          <p:cNvSpPr/>
          <p:nvPr/>
        </p:nvSpPr>
        <p:spPr>
          <a:xfrm>
            <a:off x="9464040" y="2423160"/>
            <a:ext cx="548640" cy="548640"/>
          </a:xfrm>
          <a:prstGeom prst="ellipse">
            <a:avLst/>
          </a:prstGeom>
          <a:solidFill>
            <a:schemeClr val="accent1"/>
          </a:solidFill>
          <a:ln w="38100">
            <a:solidFill>
              <a:schemeClr val="bg1"/>
            </a:solidFill>
            <a:prstDash val="solid"/>
          </a:ln>
        </p:spPr>
      </p:sp>
      <p:sp>
        <p:nvSpPr>
          <p:cNvPr id="15" name="Text 13"/>
          <p:cNvSpPr txBox="1"/>
          <p:nvPr/>
        </p:nvSpPr>
        <p:spPr>
          <a:xfrm>
            <a:off x="9464040" y="24231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8046720" y="3291840"/>
            <a:ext cx="3383280" cy="365760"/>
          </a:xfrm>
          <a:prstGeom prst="rect">
            <a:avLst/>
          </a:prstGeom>
          <a:noFill/>
          <a:ln/>
        </p:spPr>
        <p:txBody>
          <a:bodyPr wrap="square" lIns="0" tIns="0" rIns="0" bIns="0" rtlCol="0" anchor="ctr"/>
          <a:lstStyle/>
          <a:p>
            <a:pPr algn="ctr" indent="0" marL="0">
              <a:buNone/>
            </a:pPr>
            <a:r>
              <a:rPr lang="en-US" sz="1600" b="1" dirty="0">
                <a:solidFill>
                  <a:schemeClr val="accent2"/>
                </a:solidFill>
              </a:rPr>
              <a:t>Within 14 days</a:t>
            </a:r>
            <a:endParaRPr lang="en-US" sz="1600" dirty="0"/>
          </a:p>
        </p:txBody>
      </p:sp>
      <p:sp>
        <p:nvSpPr>
          <p:cNvPr id="17" name="Text 15"/>
          <p:cNvSpPr txBox="1"/>
          <p:nvPr/>
        </p:nvSpPr>
        <p:spPr>
          <a:xfrm>
            <a:off x="8046720" y="3749040"/>
            <a:ext cx="3383280" cy="731520"/>
          </a:xfrm>
          <a:prstGeom prst="rect">
            <a:avLst/>
          </a:prstGeom>
          <a:noFill/>
          <a:ln/>
        </p:spPr>
        <p:txBody>
          <a:bodyPr wrap="square" lIns="0" tIns="0" rIns="0" bIns="0" rtlCol="0" anchor="t"/>
          <a:lstStyle/>
          <a:p>
            <a:pPr algn="ctr" indent="0" marL="0">
              <a:buNone/>
            </a:pPr>
            <a:r>
              <a:rPr lang="en-US" sz="2200" b="1" dirty="0">
                <a:solidFill>
                  <a:schemeClr val="tx2"/>
                </a:solidFill>
                <a:latin typeface="Cambria" pitchFamily="34" charset="0"/>
                <a:ea typeface="Cambria" pitchFamily="34" charset="-122"/>
                <a:cs typeface="Cambria" pitchFamily="34" charset="-120"/>
              </a:rPr>
              <a:t>First campaigns running</a:t>
            </a:r>
            <a:endParaRPr lang="en-US" sz="2200" dirty="0"/>
          </a:p>
        </p:txBody>
      </p:sp>
      <p:sp>
        <p:nvSpPr>
          <p:cNvPr id="18" name="Text 16"/>
          <p:cNvSpPr txBox="1"/>
          <p:nvPr/>
        </p:nvSpPr>
        <p:spPr>
          <a:xfrm>
            <a:off x="8183880" y="4572000"/>
            <a:ext cx="3108960" cy="1280160"/>
          </a:xfrm>
          <a:prstGeom prst="rect">
            <a:avLst/>
          </a:prstGeom>
          <a:noFill/>
          <a:ln/>
        </p:spPr>
        <p:txBody>
          <a:bodyPr wrap="square" lIns="0" tIns="0" rIns="0" bIns="0" rtlCol="0" anchor="t"/>
          <a:lstStyle/>
          <a:p>
            <a:pPr algn="ctr" indent="0" marL="0">
              <a:buNone/>
            </a:pPr>
            <a:r>
              <a:rPr lang="en-US" sz="1600" dirty="0">
                <a:solidFill>
                  <a:schemeClr val="accent5"/>
                </a:solidFill>
              </a:rPr>
              <a:t>Ads and your booking page go live. At day 30 we agree your number in writing.</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tx2"/>
                </a:solidFill>
              </a:rPr>
              <a:t>Who you'll work with</a:t>
            </a:r>
            <a:endParaRPr lang="en-US" sz="3400" dirty="0"/>
          </a:p>
        </p:txBody>
      </p:sp>
      <p:pic>
        <p:nvPicPr>
          <p:cNvPr id="3" name="Founder photo" descr="Nitesh Jaiswal, Founder of Dreamline Labs">    </p:cNvPr>
          <p:cNvPicPr>
            <a:picLocks noChangeAspect="1"/>
          </p:cNvPicPr>
          <p:nvPr/>
        </p:nvPicPr>
        <p:blipFill>
          <a:blip r:embed="rId1"/>
          <a:srcRect l="0" r="0" t="0" b="0"/>
          <a:stretch/>
        </p:blipFill>
        <p:spPr>
          <a:xfrm>
            <a:off x="548640" y="1645920"/>
            <a:ext cx="3108960" cy="3108960"/>
          </a:xfrm>
          <a:prstGeom prst="ellipse">
            <a:avLst/>
          </a:prstGeom>
        </p:spPr>
      </p:pic>
      <p:sp>
        <p:nvSpPr>
          <p:cNvPr id="4" name="Text 1"/>
          <p:cNvSpPr txBox="1"/>
          <p:nvPr/>
        </p:nvSpPr>
        <p:spPr>
          <a:xfrm>
            <a:off x="548640" y="4892040"/>
            <a:ext cx="3108960" cy="365760"/>
          </a:xfrm>
          <a:prstGeom prst="rect">
            <a:avLst/>
          </a:prstGeom>
          <a:noFill/>
          <a:ln/>
        </p:spPr>
        <p:txBody>
          <a:bodyPr wrap="square" lIns="0" tIns="0" rIns="0" bIns="0" rtlCol="0" anchor="ctr"/>
          <a:lstStyle/>
          <a:p>
            <a:pPr algn="ctr" indent="0" marL="0">
              <a:buNone/>
            </a:pPr>
            <a:r>
              <a:rPr lang="en-US" sz="1800" b="1" dirty="0">
                <a:solidFill>
                  <a:schemeClr val="tx2"/>
                </a:solidFill>
              </a:rPr>
              <a:t>Nitesh Jaiswal</a:t>
            </a:r>
            <a:endParaRPr lang="en-US" sz="1800" dirty="0"/>
          </a:p>
        </p:txBody>
      </p:sp>
      <p:sp>
        <p:nvSpPr>
          <p:cNvPr id="5" name="Text 2"/>
          <p:cNvSpPr txBox="1"/>
          <p:nvPr/>
        </p:nvSpPr>
        <p:spPr>
          <a:xfrm>
            <a:off x="548640" y="5257800"/>
            <a:ext cx="3108960" cy="320040"/>
          </a:xfrm>
          <a:prstGeom prst="rect">
            <a:avLst/>
          </a:prstGeom>
          <a:noFill/>
          <a:ln/>
        </p:spPr>
        <p:txBody>
          <a:bodyPr wrap="square" lIns="0" tIns="0" rIns="0" bIns="0" rtlCol="0" anchor="ctr"/>
          <a:lstStyle/>
          <a:p>
            <a:pPr algn="ctr" indent="0" marL="0">
              <a:buNone/>
            </a:pPr>
            <a:r>
              <a:rPr lang="en-US" sz="1400" dirty="0">
                <a:solidFill>
                  <a:schemeClr val="accent5"/>
                </a:solidFill>
              </a:rPr>
              <a:t>Founder, Dreamline Labs</a:t>
            </a:r>
            <a:endParaRPr lang="en-US" sz="1400" dirty="0"/>
          </a:p>
        </p:txBody>
      </p:sp>
      <p:sp>
        <p:nvSpPr>
          <p:cNvPr id="6" name="Stat card 1"/>
          <p:cNvSpPr/>
          <p:nvPr/>
        </p:nvSpPr>
        <p:spPr>
          <a:xfrm>
            <a:off x="4114800" y="1645920"/>
            <a:ext cx="2377440" cy="1737360"/>
          </a:xfrm>
          <a:prstGeom prst="roundRect">
            <a:avLst>
              <a:gd name="adj" fmla="val 6316"/>
            </a:avLst>
          </a:prstGeom>
          <a:solidFill>
            <a:schemeClr val="bg2"/>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7" name="Text 4"/>
          <p:cNvSpPr txBox="1"/>
          <p:nvPr/>
        </p:nvSpPr>
        <p:spPr>
          <a:xfrm>
            <a:off x="4114800" y="1783080"/>
            <a:ext cx="2377440" cy="73152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$2M+</a:t>
            </a:r>
            <a:endParaRPr lang="en-US" sz="3600" dirty="0"/>
          </a:p>
        </p:txBody>
      </p:sp>
      <p:sp>
        <p:nvSpPr>
          <p:cNvPr id="8" name="Text 5"/>
          <p:cNvSpPr txBox="1"/>
          <p:nvPr/>
        </p:nvSpPr>
        <p:spPr>
          <a:xfrm>
            <a:off x="4251960" y="2560320"/>
            <a:ext cx="2103120" cy="640080"/>
          </a:xfrm>
          <a:prstGeom prst="rect">
            <a:avLst/>
          </a:prstGeom>
          <a:noFill/>
          <a:ln/>
        </p:spPr>
        <p:txBody>
          <a:bodyPr wrap="square" lIns="0" tIns="0" rIns="0" bIns="0" rtlCol="0" anchor="t"/>
          <a:lstStyle/>
          <a:p>
            <a:pPr algn="ctr" indent="0" marL="0">
              <a:buNone/>
            </a:pPr>
            <a:r>
              <a:rPr lang="en-US" sz="1400" dirty="0">
                <a:solidFill>
                  <a:schemeClr val="tx1"/>
                </a:solidFill>
              </a:rPr>
              <a:t>ad spend managed</a:t>
            </a:r>
            <a:endParaRPr lang="en-US" sz="1400" dirty="0"/>
          </a:p>
        </p:txBody>
      </p:sp>
      <p:sp>
        <p:nvSpPr>
          <p:cNvPr id="9" name="Stat card 2"/>
          <p:cNvSpPr/>
          <p:nvPr/>
        </p:nvSpPr>
        <p:spPr>
          <a:xfrm>
            <a:off x="6656832" y="1645920"/>
            <a:ext cx="2377440" cy="1737360"/>
          </a:xfrm>
          <a:prstGeom prst="roundRect">
            <a:avLst>
              <a:gd name="adj" fmla="val 6316"/>
            </a:avLst>
          </a:prstGeom>
          <a:solidFill>
            <a:schemeClr val="bg2"/>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0" name="Text 7"/>
          <p:cNvSpPr txBox="1"/>
          <p:nvPr/>
        </p:nvSpPr>
        <p:spPr>
          <a:xfrm>
            <a:off x="6656832" y="1783080"/>
            <a:ext cx="2377440" cy="73152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30,000+</a:t>
            </a:r>
            <a:endParaRPr lang="en-US" sz="3600" dirty="0"/>
          </a:p>
        </p:txBody>
      </p:sp>
      <p:sp>
        <p:nvSpPr>
          <p:cNvPr id="11" name="Text 8"/>
          <p:cNvSpPr txBox="1"/>
          <p:nvPr/>
        </p:nvSpPr>
        <p:spPr>
          <a:xfrm>
            <a:off x="6793992" y="2560320"/>
            <a:ext cx="2103120" cy="640080"/>
          </a:xfrm>
          <a:prstGeom prst="rect">
            <a:avLst/>
          </a:prstGeom>
          <a:noFill/>
          <a:ln/>
        </p:spPr>
        <p:txBody>
          <a:bodyPr wrap="square" lIns="0" tIns="0" rIns="0" bIns="0" rtlCol="0" anchor="t"/>
          <a:lstStyle/>
          <a:p>
            <a:pPr algn="ctr" indent="0" marL="0">
              <a:buNone/>
            </a:pPr>
            <a:r>
              <a:rPr lang="en-US" sz="1400" dirty="0">
                <a:solidFill>
                  <a:schemeClr val="tx1"/>
                </a:solidFill>
              </a:rPr>
              <a:t>appointments generated</a:t>
            </a:r>
            <a:endParaRPr lang="en-US" sz="1400" dirty="0"/>
          </a:p>
        </p:txBody>
      </p:sp>
      <p:sp>
        <p:nvSpPr>
          <p:cNvPr id="12" name="Stat card 3"/>
          <p:cNvSpPr/>
          <p:nvPr/>
        </p:nvSpPr>
        <p:spPr>
          <a:xfrm>
            <a:off x="9198864" y="1645920"/>
            <a:ext cx="2377440" cy="1737360"/>
          </a:xfrm>
          <a:prstGeom prst="roundRect">
            <a:avLst>
              <a:gd name="adj" fmla="val 6316"/>
            </a:avLst>
          </a:prstGeom>
          <a:solidFill>
            <a:schemeClr val="bg2"/>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3" name="Text 10"/>
          <p:cNvSpPr txBox="1"/>
          <p:nvPr/>
        </p:nvSpPr>
        <p:spPr>
          <a:xfrm>
            <a:off x="9198864" y="1783080"/>
            <a:ext cx="2377440" cy="73152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8+</a:t>
            </a:r>
            <a:endParaRPr lang="en-US" sz="3600" dirty="0"/>
          </a:p>
        </p:txBody>
      </p:sp>
      <p:sp>
        <p:nvSpPr>
          <p:cNvPr id="14" name="Text 11"/>
          <p:cNvSpPr txBox="1"/>
          <p:nvPr/>
        </p:nvSpPr>
        <p:spPr>
          <a:xfrm>
            <a:off x="9336024" y="2560320"/>
            <a:ext cx="2103120" cy="640080"/>
          </a:xfrm>
          <a:prstGeom prst="rect">
            <a:avLst/>
          </a:prstGeom>
          <a:noFill/>
          <a:ln/>
        </p:spPr>
        <p:txBody>
          <a:bodyPr wrap="square" lIns="0" tIns="0" rIns="0" bIns="0" rtlCol="0" anchor="t"/>
          <a:lstStyle/>
          <a:p>
            <a:pPr algn="ctr" indent="0" marL="0">
              <a:buNone/>
            </a:pPr>
            <a:r>
              <a:rPr lang="en-US" sz="1400" dirty="0">
                <a:solidFill>
                  <a:schemeClr val="tx1"/>
                </a:solidFill>
              </a:rPr>
              <a:t>years in performance marketing</a:t>
            </a:r>
            <a:endParaRPr lang="en-US" sz="1400" dirty="0"/>
          </a:p>
        </p:txBody>
      </p:sp>
      <p:sp>
        <p:nvSpPr>
          <p:cNvPr id="15" name="Text 12"/>
          <p:cNvSpPr txBox="1"/>
          <p:nvPr/>
        </p:nvSpPr>
        <p:spPr>
          <a:xfrm>
            <a:off x="4114800" y="3657600"/>
            <a:ext cx="7498080" cy="1005840"/>
          </a:xfrm>
          <a:prstGeom prst="rect">
            <a:avLst/>
          </a:prstGeom>
          <a:noFill/>
          <a:ln/>
        </p:spPr>
        <p:txBody>
          <a:bodyPr wrap="square" lIns="0" tIns="0" rIns="0" bIns="0" rtlCol="0" anchor="t"/>
          <a:lstStyle/>
          <a:p>
            <a:pPr indent="0" marL="0">
              <a:buNone/>
            </a:pPr>
            <a:r>
              <a:rPr lang="en-US" sz="1600" dirty="0">
                <a:solidFill>
                  <a:schemeClr val="tx1"/>
                </a:solidFill>
              </a:rPr>
              <a:t>8+ years in performance marketing across finance, travel, edtech and e-commerce, plus hands-on growth work with 30+ fashion brands. Every campaign is planned and watched by someone who has run paid ads at scale.</a:t>
            </a:r>
            <a:endParaRPr lang="en-US" sz="1600" dirty="0"/>
          </a:p>
        </p:txBody>
      </p:sp>
      <p:sp>
        <p:nvSpPr>
          <p:cNvPr id="16" name="Honesty panel"/>
          <p:cNvSpPr/>
          <p:nvPr/>
        </p:nvSpPr>
        <p:spPr>
          <a:xfrm>
            <a:off x="4114800" y="4846320"/>
            <a:ext cx="7498080" cy="1188720"/>
          </a:xfrm>
          <a:prstGeom prst="roundRect">
            <a:avLst>
              <a:gd name="adj" fmla="val 9231"/>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7" name="Text 14"/>
          <p:cNvSpPr txBox="1"/>
          <p:nvPr/>
        </p:nvSpPr>
        <p:spPr>
          <a:xfrm>
            <a:off x="4389120" y="4937760"/>
            <a:ext cx="6949440" cy="1005840"/>
          </a:xfrm>
          <a:prstGeom prst="rect">
            <a:avLst/>
          </a:prstGeom>
          <a:noFill/>
          <a:ln/>
        </p:spPr>
        <p:txBody>
          <a:bodyPr wrap="square" lIns="0" tIns="0" rIns="0" bIns="0" rtlCol="0" anchor="ctr"/>
          <a:lstStyle/>
          <a:p>
            <a:pPr indent="0" marL="0">
              <a:buNone/>
            </a:pPr>
            <a:r>
              <a:rPr lang="en-US" sz="1600" b="1" dirty="0">
                <a:solidFill>
                  <a:schemeClr val="tx2"/>
                </a:solidFill>
              </a:rPr>
              <a:t>This is our first programme built for clinics. We don't show clinic case studies yet and we won't make any up. You'll see every number in your own weekly report.</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tx2"/>
                </a:solidFill>
              </a:rPr>
              <a:t>Questions to ask before we start</a:t>
            </a:r>
            <a:endParaRPr lang="en-US" sz="3400" dirty="0"/>
          </a:p>
        </p:txBody>
      </p:sp>
      <p:sp>
        <p:nvSpPr>
          <p:cNvPr id="3" name="FAQ card 1"/>
          <p:cNvSpPr/>
          <p:nvPr/>
        </p:nvSpPr>
        <p:spPr>
          <a:xfrm>
            <a:off x="548640" y="1554480"/>
            <a:ext cx="5440680"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4" name="Text 2"/>
          <p:cNvSpPr txBox="1"/>
          <p:nvPr/>
        </p:nvSpPr>
        <p:spPr>
          <a:xfrm>
            <a:off x="868680" y="1828800"/>
            <a:ext cx="4800600" cy="5486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Who pays for the ads?</a:t>
            </a:r>
            <a:endParaRPr lang="en-US" sz="2000" dirty="0"/>
          </a:p>
        </p:txBody>
      </p:sp>
      <p:sp>
        <p:nvSpPr>
          <p:cNvPr id="5" name="Text 3"/>
          <p:cNvSpPr txBox="1"/>
          <p:nvPr/>
        </p:nvSpPr>
        <p:spPr>
          <a:xfrm>
            <a:off x="868680" y="2468880"/>
            <a:ext cx="4800600" cy="1097280"/>
          </a:xfrm>
          <a:prstGeom prst="rect">
            <a:avLst/>
          </a:prstGeom>
          <a:noFill/>
          <a:ln/>
        </p:spPr>
        <p:txBody>
          <a:bodyPr wrap="square" lIns="0" tIns="0" rIns="0" bIns="0" rtlCol="0" anchor="t"/>
          <a:lstStyle/>
          <a:p>
            <a:pPr indent="0" marL="0">
              <a:buNone/>
            </a:pPr>
            <a:r>
              <a:rPr lang="en-US" sz="1600" dirty="0">
                <a:solidFill>
                  <a:schemeClr val="accent5"/>
                </a:solidFill>
              </a:rPr>
              <a:t>You do, directly to Google and Meta, so you see every dollar. Our fee is separate.</a:t>
            </a:r>
            <a:endParaRPr lang="en-US" sz="1600" dirty="0"/>
          </a:p>
        </p:txBody>
      </p:sp>
      <p:sp>
        <p:nvSpPr>
          <p:cNvPr id="6" name="FAQ card 2"/>
          <p:cNvSpPr/>
          <p:nvPr/>
        </p:nvSpPr>
        <p:spPr>
          <a:xfrm>
            <a:off x="6172200" y="1554480"/>
            <a:ext cx="5440680"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7" name="Text 5"/>
          <p:cNvSpPr txBox="1"/>
          <p:nvPr/>
        </p:nvSpPr>
        <p:spPr>
          <a:xfrm>
            <a:off x="6492240" y="1828800"/>
            <a:ext cx="4800600" cy="5486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How long is the agreement?</a:t>
            </a:r>
            <a:endParaRPr lang="en-US" sz="2000" dirty="0"/>
          </a:p>
        </p:txBody>
      </p:sp>
      <p:sp>
        <p:nvSpPr>
          <p:cNvPr id="8" name="Text 6"/>
          <p:cNvSpPr txBox="1"/>
          <p:nvPr/>
        </p:nvSpPr>
        <p:spPr>
          <a:xfrm>
            <a:off x="6492240" y="2468880"/>
            <a:ext cx="4800600" cy="1097280"/>
          </a:xfrm>
          <a:prstGeom prst="rect">
            <a:avLst/>
          </a:prstGeom>
          <a:noFill/>
          <a:ln/>
        </p:spPr>
        <p:txBody>
          <a:bodyPr wrap="square" lIns="0" tIns="0" rIns="0" bIns="0" rtlCol="0" anchor="t"/>
          <a:lstStyle/>
          <a:p>
            <a:pPr indent="0" marL="0">
              <a:buNone/>
            </a:pPr>
            <a:r>
              <a:rPr lang="en-US" sz="1600" dirty="0">
                <a:solidFill>
                  <a:schemeClr val="accent5"/>
                </a:solidFill>
              </a:rPr>
              <a:t>The first 90 days. After that, month to month, so you stay because it's working.</a:t>
            </a:r>
            <a:endParaRPr lang="en-US" sz="1600" dirty="0"/>
          </a:p>
        </p:txBody>
      </p:sp>
      <p:sp>
        <p:nvSpPr>
          <p:cNvPr id="9" name="FAQ card 3"/>
          <p:cNvSpPr/>
          <p:nvPr/>
        </p:nvSpPr>
        <p:spPr>
          <a:xfrm>
            <a:off x="548640" y="3886200"/>
            <a:ext cx="5440680"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0" name="Text 8"/>
          <p:cNvSpPr txBox="1"/>
          <p:nvPr/>
        </p:nvSpPr>
        <p:spPr>
          <a:xfrm>
            <a:off x="868680" y="4160520"/>
            <a:ext cx="4800600" cy="5486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Do you work with competing clinics?</a:t>
            </a:r>
            <a:endParaRPr lang="en-US" sz="2000" dirty="0"/>
          </a:p>
        </p:txBody>
      </p:sp>
      <p:sp>
        <p:nvSpPr>
          <p:cNvPr id="11" name="Text 9"/>
          <p:cNvSpPr txBox="1"/>
          <p:nvPr/>
        </p:nvSpPr>
        <p:spPr>
          <a:xfrm>
            <a:off x="868680" y="4800600"/>
            <a:ext cx="4800600" cy="1097280"/>
          </a:xfrm>
          <a:prstGeom prst="rect">
            <a:avLst/>
          </a:prstGeom>
          <a:noFill/>
          <a:ln/>
        </p:spPr>
        <p:txBody>
          <a:bodyPr wrap="square" lIns="0" tIns="0" rIns="0" bIns="0" rtlCol="0" anchor="t"/>
          <a:lstStyle/>
          <a:p>
            <a:pPr indent="0" marL="0">
              <a:buNone/>
            </a:pPr>
            <a:r>
              <a:rPr lang="en-US" sz="1600" dirty="0">
                <a:solidFill>
                  <a:schemeClr val="accent5"/>
                </a:solidFill>
              </a:rPr>
              <a:t>No. One clinic per area, so we never run ads for two clinics competing for the same patients.</a:t>
            </a:r>
            <a:endParaRPr lang="en-US" sz="1600" dirty="0"/>
          </a:p>
        </p:txBody>
      </p:sp>
      <p:sp>
        <p:nvSpPr>
          <p:cNvPr id="12" name="FAQ card 4"/>
          <p:cNvSpPr/>
          <p:nvPr/>
        </p:nvSpPr>
        <p:spPr>
          <a:xfrm>
            <a:off x="6172200" y="3886200"/>
            <a:ext cx="5440680"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3" name="Text 11"/>
          <p:cNvSpPr txBox="1"/>
          <p:nvPr/>
        </p:nvSpPr>
        <p:spPr>
          <a:xfrm>
            <a:off x="6492240" y="4160520"/>
            <a:ext cx="4800600" cy="5486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How is my number decided?</a:t>
            </a:r>
            <a:endParaRPr lang="en-US" sz="2000" dirty="0"/>
          </a:p>
        </p:txBody>
      </p:sp>
      <p:sp>
        <p:nvSpPr>
          <p:cNvPr id="14" name="Text 12"/>
          <p:cNvSpPr txBox="1"/>
          <p:nvPr/>
        </p:nvSpPr>
        <p:spPr>
          <a:xfrm>
            <a:off x="6492240" y="4800600"/>
            <a:ext cx="4800600" cy="1097280"/>
          </a:xfrm>
          <a:prstGeom prst="rect">
            <a:avLst/>
          </a:prstGeom>
          <a:noFill/>
          <a:ln/>
        </p:spPr>
        <p:txBody>
          <a:bodyPr wrap="square" lIns="0" tIns="0" rIns="0" bIns="0" rtlCol="0" anchor="t"/>
          <a:lstStyle/>
          <a:p>
            <a:pPr indent="0" marL="0">
              <a:buNone/>
            </a:pPr>
            <a:r>
              <a:rPr lang="en-US" sz="1600" dirty="0">
                <a:solidFill>
                  <a:schemeClr val="accent5"/>
                </a:solidFill>
              </a:rPr>
              <a:t>From your budget, treatments and area. We look at 30 days of real data and agree it in writing.</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ph idx="100" type="title" hasCustomPrompt="1"/>
          </p:nvPr>
        </p:nvSpPr>
        <p:spPr>
          <a:xfrm>
            <a:off x="548640" y="365760"/>
            <a:ext cx="11064240" cy="1005840"/>
          </a:xfrm>
          <a:prstGeom prst="rect">
            <a:avLst/>
          </a:prstGeom>
          <a:noFill/>
          <a:ln/>
        </p:spPr>
        <p:txBody>
          <a:bodyPr wrap="square" lIns="0" tIns="0" rIns="0" bIns="0" rtlCol="0" anchor="ctr"/>
          <a:lstStyle/>
          <a:p>
            <a:pPr algn="l" indent="0" marL="0">
              <a:buNone/>
            </a:pPr>
            <a:r>
              <a:rPr lang="en-US" sz="3400" b="1" dirty="0">
                <a:solidFill>
                  <a:schemeClr val="tx2"/>
                </a:solidFill>
              </a:rPr>
              <a:t>How the investment works</a:t>
            </a:r>
            <a:endParaRPr lang="en-US" sz="3400" dirty="0"/>
          </a:p>
        </p:txBody>
      </p:sp>
      <p:sp>
        <p:nvSpPr>
          <p:cNvPr id="3" name="Investment card 1"/>
          <p:cNvSpPr/>
          <p:nvPr/>
        </p:nvSpPr>
        <p:spPr>
          <a:xfrm>
            <a:off x="548640" y="1645920"/>
            <a:ext cx="3566160" cy="3657600"/>
          </a:xfrm>
          <a:prstGeom prst="roundRect">
            <a:avLst>
              <a:gd name="adj" fmla="val 3077"/>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4" name="Ad spend icon circle"/>
          <p:cNvSpPr/>
          <p:nvPr/>
        </p:nvSpPr>
        <p:spPr>
          <a:xfrm>
            <a:off x="822960" y="1920240"/>
            <a:ext cx="777240" cy="777240"/>
          </a:xfrm>
          <a:prstGeom prst="ellipse">
            <a:avLst/>
          </a:prstGeom>
          <a:solidFill>
            <a:schemeClr val="accent1"/>
          </a:solidFill>
          <a:ln w="12700">
            <a:solidFill>
              <a:schemeClr val="accent1"/>
            </a:solidFill>
            <a:prstDash val="solid"/>
          </a:ln>
        </p:spPr>
      </p:sp>
      <p:pic>
        <p:nvPicPr>
          <p:cNvPr id="5" name="Ad spend icon" descr="Ad spend icon">    </p:cNvPr>
          <p:cNvPicPr>
            <a:picLocks noChangeAspect="1"/>
          </p:cNvPicPr>
          <p:nvPr/>
        </p:nvPicPr>
        <p:blipFill>
          <a:blip r:embed="rId1"/>
          <a:stretch>
            <a:fillRect/>
          </a:stretch>
        </p:blipFill>
        <p:spPr>
          <a:xfrm>
            <a:off x="1032815" y="2130095"/>
            <a:ext cx="357530" cy="357530"/>
          </a:xfrm>
          <a:prstGeom prst="rect">
            <a:avLst/>
          </a:prstGeom>
        </p:spPr>
      </p:pic>
      <p:sp>
        <p:nvSpPr>
          <p:cNvPr id="6" name="Text 3"/>
          <p:cNvSpPr txBox="1"/>
          <p:nvPr/>
        </p:nvSpPr>
        <p:spPr>
          <a:xfrm>
            <a:off x="822960" y="2926080"/>
            <a:ext cx="301752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Ad spend</a:t>
            </a:r>
            <a:endParaRPr lang="en-US" sz="2200" dirty="0"/>
          </a:p>
        </p:txBody>
      </p:sp>
      <p:sp>
        <p:nvSpPr>
          <p:cNvPr id="7" name="Text 4"/>
          <p:cNvSpPr txBox="1"/>
          <p:nvPr/>
        </p:nvSpPr>
        <p:spPr>
          <a:xfrm>
            <a:off x="822960" y="3566160"/>
            <a:ext cx="3017520" cy="1645920"/>
          </a:xfrm>
          <a:prstGeom prst="rect">
            <a:avLst/>
          </a:prstGeom>
          <a:noFill/>
          <a:ln/>
        </p:spPr>
        <p:txBody>
          <a:bodyPr wrap="square" lIns="0" tIns="0" rIns="0" bIns="0" rtlCol="0" anchor="t"/>
          <a:lstStyle/>
          <a:p>
            <a:pPr indent="0" marL="0">
              <a:buNone/>
            </a:pPr>
            <a:r>
              <a:rPr lang="en-US" sz="1600" dirty="0">
                <a:solidFill>
                  <a:schemeClr val="accent5"/>
                </a:solidFill>
              </a:rPr>
              <a:t>Paid by you directly to Google and Meta, at the monthly budget we agree for your clinic.</a:t>
            </a:r>
            <a:endParaRPr lang="en-US" sz="1600" dirty="0"/>
          </a:p>
        </p:txBody>
      </p:sp>
      <p:sp>
        <p:nvSpPr>
          <p:cNvPr id="8" name="Investment card 2"/>
          <p:cNvSpPr/>
          <p:nvPr/>
        </p:nvSpPr>
        <p:spPr>
          <a:xfrm>
            <a:off x="4297680" y="1645920"/>
            <a:ext cx="3566160" cy="3657600"/>
          </a:xfrm>
          <a:prstGeom prst="roundRect">
            <a:avLst>
              <a:gd name="adj" fmla="val 3077"/>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9" name="Our fee icon circle"/>
          <p:cNvSpPr/>
          <p:nvPr/>
        </p:nvSpPr>
        <p:spPr>
          <a:xfrm>
            <a:off x="4572000" y="1920240"/>
            <a:ext cx="777240" cy="777240"/>
          </a:xfrm>
          <a:prstGeom prst="ellipse">
            <a:avLst/>
          </a:prstGeom>
          <a:solidFill>
            <a:schemeClr val="accent1"/>
          </a:solidFill>
          <a:ln w="12700">
            <a:solidFill>
              <a:schemeClr val="accent1"/>
            </a:solidFill>
            <a:prstDash val="solid"/>
          </a:ln>
        </p:spPr>
      </p:sp>
      <p:pic>
        <p:nvPicPr>
          <p:cNvPr id="10" name="Our fee icon" descr="Our fee icon">    </p:cNvPr>
          <p:cNvPicPr>
            <a:picLocks noChangeAspect="1"/>
          </p:cNvPicPr>
          <p:nvPr/>
        </p:nvPicPr>
        <p:blipFill>
          <a:blip r:embed="rId2"/>
          <a:stretch>
            <a:fillRect/>
          </a:stretch>
        </p:blipFill>
        <p:spPr>
          <a:xfrm>
            <a:off x="4781855" y="2130095"/>
            <a:ext cx="357530" cy="357530"/>
          </a:xfrm>
          <a:prstGeom prst="rect">
            <a:avLst/>
          </a:prstGeom>
        </p:spPr>
      </p:pic>
      <p:sp>
        <p:nvSpPr>
          <p:cNvPr id="11" name="Text 7"/>
          <p:cNvSpPr txBox="1"/>
          <p:nvPr/>
        </p:nvSpPr>
        <p:spPr>
          <a:xfrm>
            <a:off x="4572000" y="2926080"/>
            <a:ext cx="301752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Our fee</a:t>
            </a:r>
            <a:endParaRPr lang="en-US" sz="2200" dirty="0"/>
          </a:p>
        </p:txBody>
      </p:sp>
      <p:sp>
        <p:nvSpPr>
          <p:cNvPr id="12" name="Text 8"/>
          <p:cNvSpPr txBox="1"/>
          <p:nvPr/>
        </p:nvSpPr>
        <p:spPr>
          <a:xfrm>
            <a:off x="4572000" y="3566160"/>
            <a:ext cx="3017520" cy="1645920"/>
          </a:xfrm>
          <a:prstGeom prst="rect">
            <a:avLst/>
          </a:prstGeom>
          <a:noFill/>
          <a:ln/>
        </p:spPr>
        <p:txBody>
          <a:bodyPr wrap="square" lIns="0" tIns="0" rIns="0" bIns="0" rtlCol="0" anchor="t"/>
          <a:lstStyle/>
          <a:p>
            <a:pPr indent="0" marL="0">
              <a:buNone/>
            </a:pPr>
            <a:r>
              <a:rPr lang="en-US" sz="1600" dirty="0">
                <a:solidFill>
                  <a:schemeClr val="accent5"/>
                </a:solidFill>
              </a:rPr>
              <a:t>A clear monthly fee quoted on this call, based on your clinic and your ad budget. No surprises later.</a:t>
            </a:r>
            <a:endParaRPr lang="en-US" sz="1600" dirty="0"/>
          </a:p>
        </p:txBody>
      </p:sp>
      <p:sp>
        <p:nvSpPr>
          <p:cNvPr id="13" name="Investment card 3"/>
          <p:cNvSpPr/>
          <p:nvPr/>
        </p:nvSpPr>
        <p:spPr>
          <a:xfrm>
            <a:off x="8046720" y="1645920"/>
            <a:ext cx="3566160" cy="3657600"/>
          </a:xfrm>
          <a:prstGeom prst="roundRect">
            <a:avLst>
              <a:gd name="adj" fmla="val 3077"/>
            </a:avLst>
          </a:prstGeom>
          <a:solidFill>
            <a:schemeClr val="bg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4" name="Your protection icon circle"/>
          <p:cNvSpPr/>
          <p:nvPr/>
        </p:nvSpPr>
        <p:spPr>
          <a:xfrm>
            <a:off x="8321040" y="1920240"/>
            <a:ext cx="777240" cy="777240"/>
          </a:xfrm>
          <a:prstGeom prst="ellipse">
            <a:avLst/>
          </a:prstGeom>
          <a:solidFill>
            <a:schemeClr val="accent1"/>
          </a:solidFill>
          <a:ln w="12700">
            <a:solidFill>
              <a:schemeClr val="accent1"/>
            </a:solidFill>
            <a:prstDash val="solid"/>
          </a:ln>
        </p:spPr>
      </p:sp>
      <p:pic>
        <p:nvPicPr>
          <p:cNvPr id="15" name="Your protection icon" descr="Your protection icon">    </p:cNvPr>
          <p:cNvPicPr>
            <a:picLocks noChangeAspect="1"/>
          </p:cNvPicPr>
          <p:nvPr/>
        </p:nvPicPr>
        <p:blipFill>
          <a:blip r:embed="rId3"/>
          <a:stretch>
            <a:fillRect/>
          </a:stretch>
        </p:blipFill>
        <p:spPr>
          <a:xfrm>
            <a:off x="8530895" y="2130095"/>
            <a:ext cx="357530" cy="357530"/>
          </a:xfrm>
          <a:prstGeom prst="rect">
            <a:avLst/>
          </a:prstGeom>
        </p:spPr>
      </p:pic>
      <p:sp>
        <p:nvSpPr>
          <p:cNvPr id="16" name="Text 11"/>
          <p:cNvSpPr txBox="1"/>
          <p:nvPr/>
        </p:nvSpPr>
        <p:spPr>
          <a:xfrm>
            <a:off x="8321040" y="2926080"/>
            <a:ext cx="301752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Your protection</a:t>
            </a:r>
            <a:endParaRPr lang="en-US" sz="2200" dirty="0"/>
          </a:p>
        </p:txBody>
      </p:sp>
      <p:sp>
        <p:nvSpPr>
          <p:cNvPr id="17" name="Text 12"/>
          <p:cNvSpPr txBox="1"/>
          <p:nvPr/>
        </p:nvSpPr>
        <p:spPr>
          <a:xfrm>
            <a:off x="8321040" y="3566160"/>
            <a:ext cx="3017520" cy="1645920"/>
          </a:xfrm>
          <a:prstGeom prst="rect">
            <a:avLst/>
          </a:prstGeom>
          <a:noFill/>
          <a:ln/>
        </p:spPr>
        <p:txBody>
          <a:bodyPr wrap="square" lIns="0" tIns="0" rIns="0" bIns="0" rtlCol="0" anchor="t"/>
          <a:lstStyle/>
          <a:p>
            <a:pPr indent="0" marL="0">
              <a:buNone/>
            </a:pPr>
            <a:r>
              <a:rPr lang="en-US" sz="1600" dirty="0">
                <a:solidFill>
                  <a:schemeClr val="accent5"/>
                </a:solidFill>
              </a:rPr>
              <a:t>Your number is agreed in writing at day 30. If we miss it by day 90, we work for free until we hit it.</a:t>
            </a:r>
            <a:endParaRPr lang="en-US" sz="1600" dirty="0"/>
          </a:p>
        </p:txBody>
      </p:sp>
      <p:sp>
        <p:nvSpPr>
          <p:cNvPr id="18" name="Text 13"/>
          <p:cNvSpPr txBox="1"/>
          <p:nvPr/>
        </p:nvSpPr>
        <p:spPr>
          <a:xfrm>
            <a:off x="548640" y="5577840"/>
            <a:ext cx="11064240" cy="365760"/>
          </a:xfrm>
          <a:prstGeom prst="rect">
            <a:avLst/>
          </a:prstGeom>
          <a:noFill/>
          <a:ln/>
        </p:spPr>
        <p:txBody>
          <a:bodyPr wrap="square" lIns="0" tIns="0" rIns="0" bIns="0" rtlCol="0" anchor="ctr"/>
          <a:lstStyle/>
          <a:p>
            <a:pPr indent="0" marL="0">
              <a:buNone/>
            </a:pPr>
            <a:r>
              <a:rPr lang="en-US" sz="1800" b="1" dirty="0">
                <a:solidFill>
                  <a:schemeClr val="accent1"/>
                </a:solidFill>
              </a:rPr>
              <a:t>90-day start, then month to month. One clinic per area.</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914400"/>
            <a:ext cx="5486400" cy="365760"/>
          </a:xfrm>
          <a:prstGeom prst="rect">
            <a:avLst/>
          </a:prstGeom>
          <a:noFill/>
          <a:ln/>
        </p:spPr>
        <p:txBody>
          <a:bodyPr wrap="square" lIns="0" tIns="0" rIns="0" bIns="0" rtlCol="0" anchor="ctr"/>
          <a:lstStyle/>
          <a:p>
            <a:pPr indent="0" marL="0">
              <a:buNone/>
            </a:pPr>
            <a:r>
              <a:rPr lang="en-US" sz="1600" b="1" spc="400" kern="0" dirty="0">
                <a:solidFill>
                  <a:schemeClr val="accent4"/>
                </a:solidFill>
              </a:rPr>
              <a:t>NEXT STEP</a:t>
            </a:r>
            <a:endParaRPr lang="en-US" sz="1600" dirty="0"/>
          </a:p>
        </p:txBody>
      </p:sp>
      <p:sp>
        <p:nvSpPr>
          <p:cNvPr id="3" name="Text 1"/>
          <p:cNvSpPr txBox="1"/>
          <p:nvPr/>
        </p:nvSpPr>
        <p:spPr>
          <a:xfrm>
            <a:off x="731520" y="1463040"/>
            <a:ext cx="7315200" cy="1097280"/>
          </a:xfrm>
          <a:prstGeom prst="rect">
            <a:avLst/>
          </a:prstGeom>
          <a:noFill/>
          <a:ln/>
        </p:spPr>
        <p:txBody>
          <a:bodyPr wrap="square" lIns="0" tIns="0" rIns="0" bIns="0" rtlCol="0" anchor="ctr"/>
          <a:lstStyle/>
          <a:p>
            <a:pPr indent="0" marL="0">
              <a:buNone/>
            </a:pPr>
            <a:r>
              <a:rPr lang="en-US" sz="4800" b="1" dirty="0">
                <a:solidFill>
                  <a:schemeClr val="bg1"/>
                </a:solidFill>
                <a:latin typeface="Cambria" pitchFamily="34" charset="0"/>
                <a:ea typeface="Cambria" pitchFamily="34" charset="-122"/>
                <a:cs typeface="Cambria" pitchFamily="34" charset="-120"/>
              </a:rPr>
              <a:t>Let's fill your calendar</a:t>
            </a:r>
            <a:endParaRPr lang="en-US" sz="4800" dirty="0"/>
          </a:p>
        </p:txBody>
      </p:sp>
      <p:sp>
        <p:nvSpPr>
          <p:cNvPr id="4" name="Next step dot 1"/>
          <p:cNvSpPr/>
          <p:nvPr/>
        </p:nvSpPr>
        <p:spPr>
          <a:xfrm>
            <a:off x="731520" y="2834640"/>
            <a:ext cx="594360" cy="594360"/>
          </a:xfrm>
          <a:prstGeom prst="ellipse">
            <a:avLst/>
          </a:prstGeom>
          <a:solidFill>
            <a:schemeClr val="accent4"/>
          </a:solidFill>
          <a:ln w="12700">
            <a:solidFill>
              <a:schemeClr val="accent4"/>
            </a:solidFill>
            <a:prstDash val="solid"/>
          </a:ln>
        </p:spPr>
      </p:sp>
      <p:sp>
        <p:nvSpPr>
          <p:cNvPr id="5" name="Text 3"/>
          <p:cNvSpPr txBox="1"/>
          <p:nvPr/>
        </p:nvSpPr>
        <p:spPr>
          <a:xfrm>
            <a:off x="731520" y="2834640"/>
            <a:ext cx="594360" cy="59436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6" name="Text 4"/>
          <p:cNvSpPr txBox="1"/>
          <p:nvPr/>
        </p:nvSpPr>
        <p:spPr>
          <a:xfrm>
            <a:off x="1554480" y="2834640"/>
            <a:ext cx="6583680" cy="594360"/>
          </a:xfrm>
          <a:prstGeom prst="rect">
            <a:avLst/>
          </a:prstGeom>
          <a:noFill/>
          <a:ln/>
        </p:spPr>
        <p:txBody>
          <a:bodyPr wrap="square" lIns="0" tIns="0" rIns="0" bIns="0" rtlCol="0" anchor="ctr"/>
          <a:lstStyle/>
          <a:p>
            <a:pPr indent="0" marL="0">
              <a:buNone/>
            </a:pPr>
            <a:r>
              <a:rPr lang="en-US" sz="2000" dirty="0">
                <a:solidFill>
                  <a:schemeClr val="bg1"/>
                </a:solidFill>
              </a:rPr>
              <a:t>Agree your ad budget and your fee.</a:t>
            </a:r>
            <a:endParaRPr lang="en-US" sz="2000" dirty="0"/>
          </a:p>
        </p:txBody>
      </p:sp>
      <p:sp>
        <p:nvSpPr>
          <p:cNvPr id="7" name="Next step dot 2"/>
          <p:cNvSpPr/>
          <p:nvPr/>
        </p:nvSpPr>
        <p:spPr>
          <a:xfrm>
            <a:off x="731520" y="3749040"/>
            <a:ext cx="594360" cy="594360"/>
          </a:xfrm>
          <a:prstGeom prst="ellipse">
            <a:avLst/>
          </a:prstGeom>
          <a:solidFill>
            <a:schemeClr val="accent4"/>
          </a:solidFill>
          <a:ln w="12700">
            <a:solidFill>
              <a:schemeClr val="accent4"/>
            </a:solidFill>
            <a:prstDash val="solid"/>
          </a:ln>
        </p:spPr>
      </p:sp>
      <p:sp>
        <p:nvSpPr>
          <p:cNvPr id="8" name="Text 6"/>
          <p:cNvSpPr txBox="1"/>
          <p:nvPr/>
        </p:nvSpPr>
        <p:spPr>
          <a:xfrm>
            <a:off x="731520" y="3749040"/>
            <a:ext cx="594360" cy="59436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9" name="Text 7"/>
          <p:cNvSpPr txBox="1"/>
          <p:nvPr/>
        </p:nvSpPr>
        <p:spPr>
          <a:xfrm>
            <a:off x="1554480" y="3749040"/>
            <a:ext cx="6583680" cy="594360"/>
          </a:xfrm>
          <a:prstGeom prst="rect">
            <a:avLst/>
          </a:prstGeom>
          <a:noFill/>
          <a:ln/>
        </p:spPr>
        <p:txBody>
          <a:bodyPr wrap="square" lIns="0" tIns="0" rIns="0" bIns="0" rtlCol="0" anchor="ctr"/>
          <a:lstStyle/>
          <a:p>
            <a:pPr indent="0" marL="0">
              <a:buNone/>
            </a:pPr>
            <a:r>
              <a:rPr lang="en-US" sz="2000" dirty="0">
                <a:solidFill>
                  <a:schemeClr val="bg1"/>
                </a:solidFill>
              </a:rPr>
              <a:t>Sign the agreement and share ad, booking and lead access.</a:t>
            </a:r>
            <a:endParaRPr lang="en-US" sz="2000" dirty="0"/>
          </a:p>
        </p:txBody>
      </p:sp>
      <p:sp>
        <p:nvSpPr>
          <p:cNvPr id="10" name="Next step dot 3"/>
          <p:cNvSpPr/>
          <p:nvPr/>
        </p:nvSpPr>
        <p:spPr>
          <a:xfrm>
            <a:off x="731520" y="4663440"/>
            <a:ext cx="594360" cy="594360"/>
          </a:xfrm>
          <a:prstGeom prst="ellipse">
            <a:avLst/>
          </a:prstGeom>
          <a:solidFill>
            <a:schemeClr val="accent4"/>
          </a:solidFill>
          <a:ln w="12700">
            <a:solidFill>
              <a:schemeClr val="accent4"/>
            </a:solidFill>
            <a:prstDash val="solid"/>
          </a:ln>
        </p:spPr>
      </p:sp>
      <p:sp>
        <p:nvSpPr>
          <p:cNvPr id="11" name="Text 9"/>
          <p:cNvSpPr txBox="1"/>
          <p:nvPr/>
        </p:nvSpPr>
        <p:spPr>
          <a:xfrm>
            <a:off x="731520" y="4663440"/>
            <a:ext cx="594360" cy="59436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2" name="Text 10"/>
          <p:cNvSpPr txBox="1"/>
          <p:nvPr/>
        </p:nvSpPr>
        <p:spPr>
          <a:xfrm>
            <a:off x="1554480" y="4663440"/>
            <a:ext cx="6583680" cy="594360"/>
          </a:xfrm>
          <a:prstGeom prst="rect">
            <a:avLst/>
          </a:prstGeom>
          <a:noFill/>
          <a:ln/>
        </p:spPr>
        <p:txBody>
          <a:bodyPr wrap="square" lIns="0" tIns="0" rIns="0" bIns="0" rtlCol="0" anchor="ctr"/>
          <a:lstStyle/>
          <a:p>
            <a:pPr indent="0" marL="0">
              <a:buNone/>
            </a:pPr>
            <a:r>
              <a:rPr lang="en-US" sz="2000" dirty="0">
                <a:solidFill>
                  <a:schemeClr val="bg1"/>
                </a:solidFill>
              </a:rPr>
              <a:t>Lead Leak Audit lands within 5 business days.</a:t>
            </a:r>
            <a:endParaRPr lang="en-US" sz="2000" dirty="0"/>
          </a:p>
        </p:txBody>
      </p:sp>
      <p:sp>
        <p:nvSpPr>
          <p:cNvPr id="13" name="Contact panel"/>
          <p:cNvSpPr/>
          <p:nvPr/>
        </p:nvSpPr>
        <p:spPr>
          <a:xfrm>
            <a:off x="8595360" y="1280160"/>
            <a:ext cx="3108960" cy="4206240"/>
          </a:xfrm>
          <a:prstGeom prst="roundRect">
            <a:avLst>
              <a:gd name="adj" fmla="val 3529"/>
            </a:avLst>
          </a:prstGeom>
          <a:solidFill>
            <a:schemeClr val="accent1"/>
          </a:solidFill>
          <a:ln w="9525">
            <a:solidFill>
              <a:schemeClr val="accent6"/>
            </a:solidFill>
            <a:prstDash val="solid"/>
          </a:ln>
          <a:effectLst>
            <a:outerShdw sx="100000" sy="100000" kx="0" ky="0" algn="bl" rotWithShape="0" blurRad="101600" dist="25400" dir="5400000">
              <a:srgbClr val="14203A">
                <a:alpha val="12000"/>
              </a:srgbClr>
            </a:outerShdw>
          </a:effectLst>
        </p:spPr>
      </p:sp>
      <p:sp>
        <p:nvSpPr>
          <p:cNvPr id="14" name="Text 12"/>
          <p:cNvSpPr txBox="1"/>
          <p:nvPr/>
        </p:nvSpPr>
        <p:spPr>
          <a:xfrm>
            <a:off x="8869680" y="1554480"/>
            <a:ext cx="2651760" cy="457200"/>
          </a:xfrm>
          <a:prstGeom prst="rect">
            <a:avLst/>
          </a:prstGeom>
          <a:noFill/>
          <a:ln/>
        </p:spPr>
        <p:txBody>
          <a:bodyPr wrap="square" lIns="0" tIns="0" rIns="0" bIns="0" rtlCol="0" anchor="ctr"/>
          <a:lstStyle/>
          <a:p>
            <a:pPr indent="0" marL="0">
              <a:buNone/>
            </a:pPr>
            <a:r>
              <a:rPr lang="en-US" sz="2000" b="1" dirty="0">
                <a:solidFill>
                  <a:schemeClr val="accent4"/>
                </a:solidFill>
                <a:latin typeface="Cambria" pitchFamily="34" charset="0"/>
                <a:ea typeface="Cambria" pitchFamily="34" charset="-122"/>
                <a:cs typeface="Cambria" pitchFamily="34" charset="-120"/>
              </a:rPr>
              <a:t>Dreamline Labs</a:t>
            </a:r>
            <a:endParaRPr lang="en-US" sz="2000" dirty="0"/>
          </a:p>
        </p:txBody>
      </p:sp>
      <p:sp>
        <p:nvSpPr>
          <p:cNvPr id="15" name="Text 13"/>
          <p:cNvSpPr txBox="1"/>
          <p:nvPr/>
        </p:nvSpPr>
        <p:spPr>
          <a:xfrm>
            <a:off x="8869680" y="2286000"/>
            <a:ext cx="2651760" cy="457200"/>
          </a:xfrm>
          <a:prstGeom prst="rect">
            <a:avLst/>
          </a:prstGeom>
          <a:noFill/>
          <a:ln/>
        </p:spPr>
        <p:txBody>
          <a:bodyPr wrap="square" lIns="0" tIns="0" rIns="0" bIns="0" rtlCol="0" anchor="t"/>
          <a:lstStyle/>
          <a:p>
            <a:pPr indent="0" marL="0">
              <a:buNone/>
            </a:pPr>
            <a:r>
              <a:rPr lang="en-US" sz="1400" dirty="0">
                <a:solidFill>
                  <a:schemeClr val="bg1"/>
                </a:solidFill>
              </a:rPr>
              <a:t>connect@dreamlinelabs.com</a:t>
            </a:r>
            <a:endParaRPr lang="en-US" sz="1400" dirty="0"/>
          </a:p>
        </p:txBody>
      </p:sp>
      <p:sp>
        <p:nvSpPr>
          <p:cNvPr id="16" name="Text 14"/>
          <p:cNvSpPr txBox="1"/>
          <p:nvPr/>
        </p:nvSpPr>
        <p:spPr>
          <a:xfrm>
            <a:off x="8869680" y="2926080"/>
            <a:ext cx="2651760" cy="365760"/>
          </a:xfrm>
          <a:prstGeom prst="rect">
            <a:avLst/>
          </a:prstGeom>
          <a:noFill/>
          <a:ln/>
        </p:spPr>
        <p:txBody>
          <a:bodyPr wrap="square" lIns="0" tIns="0" rIns="0" bIns="0" rtlCol="0" anchor="ctr"/>
          <a:lstStyle/>
          <a:p>
            <a:pPr indent="0" marL="0">
              <a:buNone/>
            </a:pPr>
            <a:r>
              <a:rPr lang="en-US" sz="1400" dirty="0">
                <a:solidFill>
                  <a:schemeClr val="bg1"/>
                </a:solidFill>
              </a:rPr>
              <a:t>+91 7977193104</a:t>
            </a:r>
            <a:endParaRPr lang="en-US" sz="1400" dirty="0"/>
          </a:p>
        </p:txBody>
      </p:sp>
      <p:sp>
        <p:nvSpPr>
          <p:cNvPr id="17" name="Text 15"/>
          <p:cNvSpPr txBox="1"/>
          <p:nvPr/>
        </p:nvSpPr>
        <p:spPr>
          <a:xfrm>
            <a:off x="8869680" y="3383280"/>
            <a:ext cx="2651760" cy="365760"/>
          </a:xfrm>
          <a:prstGeom prst="rect">
            <a:avLst/>
          </a:prstGeom>
          <a:noFill/>
          <a:ln/>
        </p:spPr>
        <p:txBody>
          <a:bodyPr wrap="square" lIns="0" tIns="0" rIns="0" bIns="0" rtlCol="0" anchor="ctr"/>
          <a:lstStyle/>
          <a:p>
            <a:pPr indent="0" marL="0">
              <a:buNone/>
            </a:pPr>
            <a:r>
              <a:rPr lang="en-US" sz="1400" dirty="0">
                <a:solidFill>
                  <a:schemeClr val="bg1"/>
                </a:solidFill>
              </a:rPr>
              <a:t>Mumbai, India</a:t>
            </a:r>
            <a:endParaRPr lang="en-US" sz="1400" dirty="0"/>
          </a:p>
        </p:txBody>
      </p:sp>
      <p:sp>
        <p:nvSpPr>
          <p:cNvPr id="18" name="Text 16"/>
          <p:cNvSpPr txBox="1"/>
          <p:nvPr/>
        </p:nvSpPr>
        <p:spPr>
          <a:xfrm>
            <a:off x="8869680" y="4023360"/>
            <a:ext cx="2651760" cy="365760"/>
          </a:xfrm>
          <a:prstGeom prst="rect">
            <a:avLst/>
          </a:prstGeom>
          <a:noFill/>
          <a:ln/>
        </p:spPr>
        <p:txBody>
          <a:bodyPr wrap="square" lIns="0" tIns="0" rIns="0" bIns="0" rtlCol="0" anchor="ctr"/>
          <a:lstStyle/>
          <a:p>
            <a:pPr indent="0" marL="0">
              <a:buNone/>
            </a:pPr>
            <a:r>
              <a:rPr lang="en-US" sz="1400" b="1" dirty="0">
                <a:solidFill>
                  <a:schemeClr val="bg1"/>
                </a:solidFill>
              </a:rPr>
              <a:t>dreamlinelabs.com</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Dreamline Clinics">
  <a:themeElements>
    <a:clrScheme name="Dreamline Clinics">
      <a:dk1>
        <a:srgbClr val="14203A"/>
      </a:dk1>
      <a:lt1>
        <a:srgbClr val="FFFFFF"/>
      </a:lt1>
      <a:dk2>
        <a:srgbClr val="0A2272"/>
      </a:dk2>
      <a:lt2>
        <a:srgbClr val="EDF2FB"/>
      </a:lt2>
      <a:accent1>
        <a:srgbClr val="0B2E9B"/>
      </a:accent1>
      <a:accent2>
        <a:srgbClr val="0E9F94"/>
      </a:accent2>
      <a:accent3>
        <a:srgbClr val="E0594D"/>
      </a:accent3>
      <a:accent4>
        <a:srgbClr val="F2B84B"/>
      </a:accent4>
      <a:accent5>
        <a:srgbClr val="55627A"/>
      </a:accent5>
      <a:accent6>
        <a:srgbClr val="DBE3F1"/>
      </a:accent6>
      <a:hlink>
        <a:srgbClr val="0B2E9B"/>
      </a:hlink>
      <a:folHlink>
        <a:srgbClr val="55627A"/>
      </a:folHlink>
    </a:clrScheme>
    <a:fontScheme name="Dreamline Clin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Dreamline 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 Flow System - Dreamline Labs</dc:title>
  <dc:subject>PptxGenJS Presentation</dc:subject>
  <dc:creator>Dreamline Labs</dc:creator>
  <cp:lastModifiedBy>Dreamline Labs</cp:lastModifiedBy>
  <cp:revision>1</cp:revision>
  <dcterms:created xsi:type="dcterms:W3CDTF">2026-10-22T12:43:01Z</dcterms:created>
  <dcterms:modified xsi:type="dcterms:W3CDTF">2026-10-22T12:43:01Z</dcterms:modified>
</cp:coreProperties>
</file>