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Monthly attended new-patient appointments (demo data)</a:t>
            </a:r>
          </a:p>
        </c:rich>
      </c:tx>
      <c:layout/>
      <c:overlay val="0"/>
    </c:title>
    <c:autoTitleDeleted val="0"/>
    <c:plotArea>
      <c:layout/>
      <c:barChart>
        <c:barDir val="col"/>
        <c:grouping val="clustered"/>
        <c:varyColors val="0"/>
        <c:ser>
          <c:idx val="0"/>
          <c:order val="0"/>
          <c:tx>
            <c:strRef>
              <c:f>Sheet1!$B$1</c:f>
              <c:strCache>
                <c:ptCount val="1"/>
                <c:pt idx="0">
                  <c:v>Attended</c:v>
                </c:pt>
              </c:strCache>
            </c:strRef>
          </c:tx>
          <c:spPr>
            <a:solidFill>
              <a:srgbClr val="9FB0D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9FB0D0"/>
              </a:solidFill>
              <a:effectLst/>
            </c:spPr>
          </c:dPt>
          <c:dPt>
            <c:idx val="1"/>
            <c:invertIfNegative val="0"/>
            <c:bubble3D val="0"/>
            <c:spPr>
              <a:solidFill>
                <a:srgbClr val="5FE0C0"/>
              </a:solidFill>
              <a:effectLst/>
            </c:spPr>
          </c:dPt>
          <c:dPt>
            <c:idx val="2"/>
            <c:invertIfNegative val="0"/>
            <c:bubble3D val="0"/>
            <c:spPr>
              <a:solidFill>
                <a:srgbClr val="5FE0C0"/>
              </a:solidFill>
              <a:effectLst/>
            </c:spPr>
          </c:dPt>
          <c:dPt>
            <c:idx val="3"/>
            <c:invertIfNegative val="0"/>
            <c:bubble3D val="0"/>
            <c:spPr>
              <a:solidFill>
                <a:srgbClr val="5FE0C0"/>
              </a:solidFill>
              <a:effectLst/>
            </c:spPr>
          </c:dPt>
          <c:dPt>
            <c:idx val="4"/>
            <c:invertIfNegative val="0"/>
            <c:bubble3D val="0"/>
            <c:spPr>
              <a:solidFill>
                <a:srgbClr val="5FE0C0"/>
              </a:solidFill>
              <a:effectLst/>
            </c:spPr>
          </c:dPt>
          <c:dPt>
            <c:idx val="5"/>
            <c:invertIfNegative val="0"/>
            <c:bubble3D val="0"/>
            <c:spPr>
              <a:solidFill>
                <a:srgbClr val="5FE0C0"/>
              </a:solidFill>
              <a:effectLst/>
            </c:spPr>
          </c:dPt>
          <c:dPt>
            <c:idx val="6"/>
            <c:invertIfNegative val="0"/>
            <c:bubble3D val="0"/>
            <c:spPr>
              <a:solidFill>
                <a:srgbClr val="5FE0C0"/>
              </a:solidFill>
              <a:effectLst/>
            </c:spPr>
          </c:dPt>
          <c:cat>
            <c:multiLvlStrRef>
              <c:f>Sheet1!$A$2:$A$8</c:f>
              <c:multiLvlStrCache>
                <c:ptCount val="7"/>
                <c:lvl>
                  <c:pt idx="0">
                    <c:v>Before</c:v>
                  </c:pt>
                  <c:pt idx="1">
                    <c:v>M1</c:v>
                  </c:pt>
                  <c:pt idx="2">
                    <c:v>M2</c:v>
                  </c:pt>
                  <c:pt idx="3">
                    <c:v>M3</c:v>
                  </c:pt>
                  <c:pt idx="4">
                    <c:v>M4</c:v>
                  </c:pt>
                  <c:pt idx="5">
                    <c:v>M5</c:v>
                  </c:pt>
                  <c:pt idx="6">
                    <c:v>M6</c:v>
                  </c:pt>
                </c:lvl>
              </c:multiLvlStrCache>
            </c:multiLvlStrRef>
          </c:cat>
          <c:val>
            <c:numRef>
              <c:f>Sheet1!$B$2:$B$8</c:f>
              <c:numCache>
                <c:formatCode>General</c:formatCode>
                <c:ptCount val="7"/>
                <c:pt idx="0">
                  <c:v>22</c:v>
                </c:pt>
                <c:pt idx="1">
                  <c:v>30</c:v>
                </c:pt>
                <c:pt idx="2">
                  <c:v>41</c:v>
                </c:pt>
                <c:pt idx="3">
                  <c:v>52</c:v>
                </c:pt>
                <c:pt idx="4">
                  <c:v>61</c:v>
                </c:pt>
                <c:pt idx="5">
                  <c:v>68</c:v>
                </c:pt>
                <c:pt idx="6">
                  <c:v>72</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9FB0D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Monthly attended consultations (demo data)</a:t>
            </a:r>
          </a:p>
        </c:rich>
      </c:tx>
      <c:layout/>
      <c:overlay val="0"/>
    </c:title>
    <c:autoTitleDeleted val="0"/>
    <c:plotArea>
      <c:layout/>
      <c:barChart>
        <c:barDir val="col"/>
        <c:grouping val="clustered"/>
        <c:varyColors val="0"/>
        <c:ser>
          <c:idx val="0"/>
          <c:order val="0"/>
          <c:tx>
            <c:strRef>
              <c:f>Sheet1!$B$1</c:f>
              <c:strCache>
                <c:ptCount val="1"/>
                <c:pt idx="0">
                  <c:v>Attended</c:v>
                </c:pt>
              </c:strCache>
            </c:strRef>
          </c:tx>
          <c:spPr>
            <a:solidFill>
              <a:srgbClr val="9FB0D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9FB0D0"/>
              </a:solidFill>
              <a:effectLst/>
            </c:spPr>
          </c:dPt>
          <c:dPt>
            <c:idx val="1"/>
            <c:invertIfNegative val="0"/>
            <c:bubble3D val="0"/>
            <c:spPr>
              <a:solidFill>
                <a:srgbClr val="5FE0C0"/>
              </a:solidFill>
              <a:effectLst/>
            </c:spPr>
          </c:dPt>
          <c:dPt>
            <c:idx val="2"/>
            <c:invertIfNegative val="0"/>
            <c:bubble3D val="0"/>
            <c:spPr>
              <a:solidFill>
                <a:srgbClr val="5FE0C0"/>
              </a:solidFill>
              <a:effectLst/>
            </c:spPr>
          </c:dPt>
          <c:dPt>
            <c:idx val="3"/>
            <c:invertIfNegative val="0"/>
            <c:bubble3D val="0"/>
            <c:spPr>
              <a:solidFill>
                <a:srgbClr val="5FE0C0"/>
              </a:solidFill>
              <a:effectLst/>
            </c:spPr>
          </c:dPt>
          <c:dPt>
            <c:idx val="4"/>
            <c:invertIfNegative val="0"/>
            <c:bubble3D val="0"/>
            <c:spPr>
              <a:solidFill>
                <a:srgbClr val="5FE0C0"/>
              </a:solidFill>
              <a:effectLst/>
            </c:spPr>
          </c:dPt>
          <c:dPt>
            <c:idx val="5"/>
            <c:invertIfNegative val="0"/>
            <c:bubble3D val="0"/>
            <c:spPr>
              <a:solidFill>
                <a:srgbClr val="5FE0C0"/>
              </a:solidFill>
              <a:effectLst/>
            </c:spPr>
          </c:dPt>
          <c:dPt>
            <c:idx val="6"/>
            <c:invertIfNegative val="0"/>
            <c:bubble3D val="0"/>
            <c:spPr>
              <a:solidFill>
                <a:srgbClr val="5FE0C0"/>
              </a:solidFill>
              <a:effectLst/>
            </c:spPr>
          </c:dPt>
          <c:cat>
            <c:multiLvlStrRef>
              <c:f>Sheet1!$A$2:$A$8</c:f>
              <c:multiLvlStrCache>
                <c:ptCount val="7"/>
                <c:lvl>
                  <c:pt idx="0">
                    <c:v>Before</c:v>
                  </c:pt>
                  <c:pt idx="1">
                    <c:v>M1</c:v>
                  </c:pt>
                  <c:pt idx="2">
                    <c:v>M2</c:v>
                  </c:pt>
                  <c:pt idx="3">
                    <c:v>M3</c:v>
                  </c:pt>
                  <c:pt idx="4">
                    <c:v>M4</c:v>
                  </c:pt>
                  <c:pt idx="5">
                    <c:v>M5</c:v>
                  </c:pt>
                  <c:pt idx="6">
                    <c:v>M6</c:v>
                  </c:pt>
                </c:lvl>
              </c:multiLvlStrCache>
            </c:multiLvlStrRef>
          </c:cat>
          <c:val>
            <c:numRef>
              <c:f>Sheet1!$B$2:$B$8</c:f>
              <c:numCache>
                <c:formatCode>General</c:formatCode>
                <c:ptCount val="7"/>
                <c:pt idx="0">
                  <c:v>11</c:v>
                </c:pt>
                <c:pt idx="1">
                  <c:v>15</c:v>
                </c:pt>
                <c:pt idx="2">
                  <c:v>20</c:v>
                </c:pt>
                <c:pt idx="3">
                  <c:v>26</c:v>
                </c:pt>
                <c:pt idx="4">
                  <c:v>31</c:v>
                </c:pt>
                <c:pt idx="5">
                  <c:v>35</c:v>
                </c:pt>
                <c:pt idx="6">
                  <c:v>38</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9FB0D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Monthly attended first consultations (demo data)</a:t>
            </a:r>
          </a:p>
        </c:rich>
      </c:tx>
      <c:layout/>
      <c:overlay val="0"/>
    </c:title>
    <c:autoTitleDeleted val="0"/>
    <c:plotArea>
      <c:layout/>
      <c:barChart>
        <c:barDir val="col"/>
        <c:grouping val="clustered"/>
        <c:varyColors val="0"/>
        <c:ser>
          <c:idx val="0"/>
          <c:order val="0"/>
          <c:tx>
            <c:strRef>
              <c:f>Sheet1!$B$1</c:f>
              <c:strCache>
                <c:ptCount val="1"/>
                <c:pt idx="0">
                  <c:v>Attended</c:v>
                </c:pt>
              </c:strCache>
            </c:strRef>
          </c:tx>
          <c:spPr>
            <a:solidFill>
              <a:srgbClr val="9FB0D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9FB0D0"/>
              </a:solidFill>
              <a:effectLst/>
            </c:spPr>
          </c:dPt>
          <c:dPt>
            <c:idx val="1"/>
            <c:invertIfNegative val="0"/>
            <c:bubble3D val="0"/>
            <c:spPr>
              <a:solidFill>
                <a:srgbClr val="5FE0C0"/>
              </a:solidFill>
              <a:effectLst/>
            </c:spPr>
          </c:dPt>
          <c:dPt>
            <c:idx val="2"/>
            <c:invertIfNegative val="0"/>
            <c:bubble3D val="0"/>
            <c:spPr>
              <a:solidFill>
                <a:srgbClr val="5FE0C0"/>
              </a:solidFill>
              <a:effectLst/>
            </c:spPr>
          </c:dPt>
          <c:dPt>
            <c:idx val="3"/>
            <c:invertIfNegative val="0"/>
            <c:bubble3D val="0"/>
            <c:spPr>
              <a:solidFill>
                <a:srgbClr val="5FE0C0"/>
              </a:solidFill>
              <a:effectLst/>
            </c:spPr>
          </c:dPt>
          <c:dPt>
            <c:idx val="4"/>
            <c:invertIfNegative val="0"/>
            <c:bubble3D val="0"/>
            <c:spPr>
              <a:solidFill>
                <a:srgbClr val="5FE0C0"/>
              </a:solidFill>
              <a:effectLst/>
            </c:spPr>
          </c:dPt>
          <c:dPt>
            <c:idx val="5"/>
            <c:invertIfNegative val="0"/>
            <c:bubble3D val="0"/>
            <c:spPr>
              <a:solidFill>
                <a:srgbClr val="5FE0C0"/>
              </a:solidFill>
              <a:effectLst/>
            </c:spPr>
          </c:dPt>
          <c:dPt>
            <c:idx val="6"/>
            <c:invertIfNegative val="0"/>
            <c:bubble3D val="0"/>
            <c:spPr>
              <a:solidFill>
                <a:srgbClr val="5FE0C0"/>
              </a:solidFill>
              <a:effectLst/>
            </c:spPr>
          </c:dPt>
          <c:cat>
            <c:multiLvlStrRef>
              <c:f>Sheet1!$A$2:$A$8</c:f>
              <c:multiLvlStrCache>
                <c:ptCount val="7"/>
                <c:lvl>
                  <c:pt idx="0">
                    <c:v>Before</c:v>
                  </c:pt>
                  <c:pt idx="1">
                    <c:v>M1</c:v>
                  </c:pt>
                  <c:pt idx="2">
                    <c:v>M2</c:v>
                  </c:pt>
                  <c:pt idx="3">
                    <c:v>M3</c:v>
                  </c:pt>
                  <c:pt idx="4">
                    <c:v>M4</c:v>
                  </c:pt>
                  <c:pt idx="5">
                    <c:v>M5</c:v>
                  </c:pt>
                  <c:pt idx="6">
                    <c:v>M6</c:v>
                  </c:pt>
                </c:lvl>
              </c:multiLvlStrCache>
            </c:multiLvlStrRef>
          </c:cat>
          <c:val>
            <c:numRef>
              <c:f>Sheet1!$B$2:$B$8</c:f>
              <c:numCache>
                <c:formatCode>General</c:formatCode>
                <c:ptCount val="7"/>
                <c:pt idx="0">
                  <c:v>18</c:v>
                </c:pt>
                <c:pt idx="1">
                  <c:v>24</c:v>
                </c:pt>
                <c:pt idx="2">
                  <c:v>31</c:v>
                </c:pt>
                <c:pt idx="3">
                  <c:v>38</c:v>
                </c:pt>
                <c:pt idx="4">
                  <c:v>45</c:v>
                </c:pt>
                <c:pt idx="5">
                  <c:v>50</c:v>
                </c:pt>
                <c:pt idx="6">
                  <c:v>54</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9FB0D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If you run a private clinic, give me two minutes. I'll show you how we bring in a steady flow of patients who are ready for treatment, and who actually show up. We agree the number in writing, and if we miss it, we work free until we deliver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[0:10-0:22] I'm Nitesh, founder of Dreamline Labs. I've spent 8 years running paid ads, over $2M in spend managed. For clinics we run the ads, the instant reply, the booking and the tracking, all under one roof.
CHECK BEFORE USING: confirm what '30,000+ appointments' on your site refers to before adding it. It isn't on this slide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sec per case] DEMO SLIDE. Every number, clinic name and chart value on this slide is made-up sample data. Do not present it as real.
TO TURN INTO A REAL CASE STUDY:
1. Change the title to the real clinic (or 'Anonymous Med Spa, Mumbai' if they prefer).
2. Right-click the chart &gt; Edit Data, replace the 7 values (Before = the 30-day baseline, M1-M6 = monthly attended appointments from the clinic's booking system).
3. Update the big number, the 'up from' number and the 3 chips (first reply time, show-up rate, cost per attended appointment).
4. Delete the red DEMO DATA badge and '(demo)' from the title and chart title.
5. Get the clinic's written OK. Healthcare clients often need to approve this. Never show patient names or data.
Only count appointments marked attended in the clinic's booking system, same as in the guarantee.
SPOKEN (once real): 'Here's what that looks like. A ' + clinic type + ' went from X to Y attended appointments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sec per case] DEMO SLIDE. Every number, clinic name and chart value on this slide is made-up sample data. Do not present it as real.
TO TURN INTO A REAL CASE STUDY:
1. Change the title to the real clinic (or 'Anonymous Med Spa, Mumbai' if they prefer).
2. Right-click the chart &gt; Edit Data, replace the 7 values (Before = the 30-day baseline, M1-M6 = monthly attended appointments from the clinic's booking system).
3. Update the big number, the 'up from' number and the 3 chips (first reply time, show-up rate, cost per attended appointment).
4. Delete the red DEMO DATA badge and '(demo)' from the title and chart title.
5. Get the clinic's written OK. Healthcare clients often need to approve this. Never show patient names or data.
Only count appointments marked attended in the clinic's booking system, same as in the guarantee.
SPOKEN (once real): 'Here's what that looks like. A ' + clinic type + ' went from X to Y attended appointments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sec per case] DEMO SLIDE. Every number, clinic name and chart value on this slide is made-up sample data. Do not present it as real.
TO TURN INTO A REAL CASE STUDY:
1. Change the title to the real clinic (or 'Anonymous Med Spa, Mumbai' if they prefer).
2. Right-click the chart &gt; Edit Data, replace the 7 values (Before = the 30-day baseline, M1-M6 = monthly attended appointments from the clinic's booking system).
3. Update the big number, the 'up from' number and the 3 chips (first reply time, show-up rate, cost per attended appointment).
4. Delete the red DEMO DATA badge and '(demo)' from the title and chart title.
5. Get the clinic's written OK. Healthcare clients often need to approve this. Never show patient names or data.
Only count appointments marked attended in the clinic's booking system, same as in the guarantee.
SPOKEN (once real): 'Here's what that looks like. A ' + clinic type + ' went from X to Y attended appointments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[0:44-0:58] Here's what we see again and again. A clinic spends more on ads and the calendar doesn't fill. The problem usually isn't the ads. Leads wait hours for a reply, bookings don't show up, and nobody can say how many patients the ads actually brought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[0:58-1:30] Three steps. One: we find where patients leak out, with an audit in 5 business days. Two: we run your ads and your booking page, and every lead gets a reply within minutes, even at 11pm on a Sunday. Three: reminders and a weekly report so patients show up, and you can see every lead tracked to a treated patient.
If the call is live, ask which of the three problems on the previous slide hurts most and spend your time on that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[1:30-1:48] So you get a plan built around your real leak, we do the ads, the reply and the booking for you, and the number is agreed in writing. If we miss it by day 90, we keep working at no charge until we hit it. Ad spend goes straight from you to Google and Meta.
SAY EXACTLY THIS. Don't say 'or you don't pay' or 'money back'. The guarantee terms say we keep working free until the number is hit, not a refund.
YOUR FEE IS NOT ON THIS SLIDE. Your fashion deck shows a number ('30,000 or 5%, whichever is higher'). If you have a fixed clinic fee, type it into the 'Our fee' line (for example: 'Our fee: Rs X a month + ad spend') so buyers see it. I did not make up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[1:48-2:00] If you run a clinic that already advertises, or is ready to, let's talk. On the call we'll find where your patients leak out and map a plan to your next milestone. Reply 'Yes' to whoever sent you this video and we'll send you some times.
LIVE CALL VERSION: end with 'Does it make sense to start?'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1188720"/>
            <a:ext cx="1106424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HERO">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2194560"/>
            <a:ext cx="9601200" cy="16459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ASE">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1554480"/>
            <a:ext cx="5394960"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1188720"/>
            <a:ext cx="11064240" cy="91440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737360"/>
            <a:ext cx="82296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CLINICS RELYING ON REFERRALS AND UNEVEN LEAD FLOW</a:t>
            </a:r>
            <a:endParaRPr lang="en-US" sz="1400" dirty="0"/>
          </a:p>
        </p:txBody>
      </p:sp>
      <p:sp>
        <p:nvSpPr>
          <p:cNvPr id="3" name="Text 1"/>
          <p:cNvSpPr txBox="1"/>
          <p:nvPr>
            <p:ph idx="101" type="title" hasCustomPrompt="1"/>
          </p:nvPr>
        </p:nvSpPr>
        <p:spPr>
          <a:xfrm>
            <a:off x="548640" y="2194560"/>
            <a:ext cx="9601200" cy="1645920"/>
          </a:xfrm>
          <a:prstGeom prst="rect">
            <a:avLst/>
          </a:prstGeom>
          <a:noFill/>
          <a:ln/>
        </p:spPr>
        <p:txBody>
          <a:bodyPr wrap="square" lIns="0" tIns="0" rIns="0" bIns="0" rtlCol="0" anchor="t"/>
          <a:lstStyle/>
          <a:p>
            <a:pPr algn="l" indent="0" marL="0">
              <a:buNone/>
            </a:pPr>
            <a:r>
              <a:rPr lang="en-US" sz="5400" b="1" dirty="0">
                <a:solidFill>
                  <a:schemeClr val="bg1"/>
                </a:solidFill>
              </a:rPr>
              <a:t>A Steady Flow of Treatment-Ready Patients</a:t>
            </a:r>
            <a:endParaRPr lang="en-US" sz="5400" dirty="0"/>
          </a:p>
        </p:txBody>
      </p:sp>
      <p:sp>
        <p:nvSpPr>
          <p:cNvPr id="4" name="Text 2"/>
          <p:cNvSpPr txBox="1"/>
          <p:nvPr/>
        </p:nvSpPr>
        <p:spPr>
          <a:xfrm>
            <a:off x="548640" y="4069080"/>
            <a:ext cx="9144000" cy="548640"/>
          </a:xfrm>
          <a:prstGeom prst="rect">
            <a:avLst/>
          </a:prstGeom>
          <a:noFill/>
          <a:ln/>
        </p:spPr>
        <p:txBody>
          <a:bodyPr wrap="square" lIns="0" tIns="0" rIns="0" bIns="0" rtlCol="0" anchor="ctr"/>
          <a:lstStyle/>
          <a:p>
            <a:pPr indent="0" marL="0">
              <a:buNone/>
            </a:pPr>
            <a:r>
              <a:rPr lang="en-US" sz="2800" b="1" dirty="0">
                <a:solidFill>
                  <a:schemeClr val="accent1"/>
                </a:solidFill>
              </a:rPr>
              <a:t>Done for you. Number agreed in writing.</a:t>
            </a:r>
            <a:endParaRPr lang="en-US" sz="2800" dirty="0"/>
          </a:p>
        </p:txBody>
      </p:sp>
      <p:sp>
        <p:nvSpPr>
          <p:cNvPr id="5" name="Text 3"/>
          <p:cNvSpPr txBox="1"/>
          <p:nvPr/>
        </p:nvSpPr>
        <p:spPr>
          <a:xfrm>
            <a:off x="548640" y="4709160"/>
            <a:ext cx="9144000" cy="457200"/>
          </a:xfrm>
          <a:prstGeom prst="rect">
            <a:avLst/>
          </a:prstGeom>
          <a:noFill/>
          <a:ln/>
        </p:spPr>
        <p:txBody>
          <a:bodyPr wrap="square" lIns="0" tIns="0" rIns="0" bIns="0" rtlCol="0" anchor="ctr"/>
          <a:lstStyle/>
          <a:p>
            <a:pPr indent="0" marL="0">
              <a:buNone/>
            </a:pPr>
            <a:r>
              <a:rPr lang="en-US" sz="2200" i="1" dirty="0">
                <a:solidFill>
                  <a:schemeClr val="bg1"/>
                </a:solidFill>
              </a:rPr>
              <a:t>Or we work free until we deliver</a:t>
            </a:r>
            <a:endParaRPr lang="en-US" sz="2200" dirty="0"/>
          </a:p>
        </p:txBody>
      </p:sp>
      <p:sp>
        <p:nvSpPr>
          <p:cNvPr id="6" name="Text 4"/>
          <p:cNvSpPr txBox="1"/>
          <p:nvPr/>
        </p:nvSpPr>
        <p:spPr>
          <a:xfrm>
            <a:off x="548640" y="5943600"/>
            <a:ext cx="9144000" cy="320040"/>
          </a:xfrm>
          <a:prstGeom prst="rect">
            <a:avLst/>
          </a:prstGeom>
          <a:noFill/>
          <a:ln/>
        </p:spPr>
        <p:txBody>
          <a:bodyPr wrap="square" lIns="0" tIns="0" rIns="0" bIns="0" rtlCol="0" anchor="ctr"/>
          <a:lstStyle/>
          <a:p>
            <a:pPr indent="0" marL="0">
              <a:buNone/>
            </a:pPr>
            <a:r>
              <a:rPr lang="en-US" sz="1400" dirty="0">
                <a:solidFill>
                  <a:schemeClr val="accent5"/>
                </a:solidFill>
              </a:rPr>
              <a:t>Med spa  |  Hair  |  Skin  |  IVF  |  Dental  |  Wellness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Who We Are</a:t>
            </a:r>
            <a:endParaRPr lang="en-US" sz="3800" dirty="0"/>
          </a:p>
        </p:txBody>
      </p:sp>
      <p:pic>
        <p:nvPicPr>
          <p:cNvPr id="3" name="Founder photo" descr="Nitesh Jaiswal, Founder of Dreamline Labs">    </p:cNvPr>
          <p:cNvPicPr>
            <a:picLocks noChangeAspect="1"/>
          </p:cNvPicPr>
          <p:nvPr/>
        </p:nvPicPr>
        <p:blipFill>
          <a:blip r:embed="rId1"/>
          <a:srcRect l="0" r="0" t="0" b="0"/>
          <a:stretch/>
        </p:blipFill>
        <p:spPr>
          <a:xfrm>
            <a:off x="8138160" y="914400"/>
            <a:ext cx="3474720" cy="3474720"/>
          </a:xfrm>
          <a:prstGeom prst="ellipse">
            <a:avLst/>
          </a:prstGeom>
        </p:spPr>
      </p:pic>
      <p:sp>
        <p:nvSpPr>
          <p:cNvPr id="4" name="Text 1"/>
          <p:cNvSpPr txBox="1"/>
          <p:nvPr/>
        </p:nvSpPr>
        <p:spPr>
          <a:xfrm>
            <a:off x="8138160" y="4572000"/>
            <a:ext cx="3474720" cy="365760"/>
          </a:xfrm>
          <a:prstGeom prst="rect">
            <a:avLst/>
          </a:prstGeom>
          <a:noFill/>
          <a:ln/>
        </p:spPr>
        <p:txBody>
          <a:bodyPr wrap="square" lIns="0" tIns="0" rIns="0" bIns="0" rtlCol="0" anchor="ctr"/>
          <a:lstStyle/>
          <a:p>
            <a:pPr algn="ctr" indent="0" marL="0">
              <a:buNone/>
            </a:pPr>
            <a:r>
              <a:rPr lang="en-US" sz="1800" b="1" dirty="0">
                <a:solidFill>
                  <a:schemeClr val="bg1"/>
                </a:solidFill>
              </a:rPr>
              <a:t>Nitesh Jaiswal, Founder</a:t>
            </a:r>
            <a:endParaRPr lang="en-US" sz="1800" dirty="0"/>
          </a:p>
        </p:txBody>
      </p:sp>
      <p:sp>
        <p:nvSpPr>
          <p:cNvPr id="5" name="Credential pill 1"/>
          <p:cNvSpPr/>
          <p:nvPr/>
        </p:nvSpPr>
        <p:spPr>
          <a:xfrm>
            <a:off x="548640" y="2011680"/>
            <a:ext cx="6949440" cy="777240"/>
          </a:xfrm>
          <a:prstGeom prst="roundRect">
            <a:avLst>
              <a:gd name="adj" fmla="val 49412"/>
            </a:avLst>
          </a:prstGeom>
          <a:solidFill>
            <a:schemeClr val="accent6"/>
          </a:solidFill>
          <a:ln w="12700">
            <a:solidFill>
              <a:schemeClr val="accent6"/>
            </a:solidFill>
            <a:prstDash val="solid"/>
          </a:ln>
        </p:spPr>
      </p:sp>
      <p:sp>
        <p:nvSpPr>
          <p:cNvPr id="6" name="Text 3"/>
          <p:cNvSpPr txBox="1"/>
          <p:nvPr/>
        </p:nvSpPr>
        <p:spPr>
          <a:xfrm>
            <a:off x="914400" y="2011680"/>
            <a:ext cx="6309360" cy="777240"/>
          </a:xfrm>
          <a:prstGeom prst="rect">
            <a:avLst/>
          </a:prstGeom>
          <a:noFill/>
          <a:ln/>
        </p:spPr>
        <p:txBody>
          <a:bodyPr wrap="square" lIns="0" tIns="0" rIns="0" bIns="0" rtlCol="0" anchor="ctr"/>
          <a:lstStyle/>
          <a:p>
            <a:pPr indent="0" marL="0">
              <a:buNone/>
            </a:pPr>
            <a:r>
              <a:rPr lang="en-US" sz="2000" dirty="0">
                <a:solidFill>
                  <a:schemeClr val="bg1"/>
                </a:solidFill>
              </a:rPr>
              <a:t>Growth partner for private clinics</a:t>
            </a:r>
            <a:endParaRPr lang="en-US" sz="2000" dirty="0"/>
          </a:p>
        </p:txBody>
      </p:sp>
      <p:sp>
        <p:nvSpPr>
          <p:cNvPr id="7" name="Credential pill 2"/>
          <p:cNvSpPr/>
          <p:nvPr/>
        </p:nvSpPr>
        <p:spPr>
          <a:xfrm>
            <a:off x="548640" y="2971800"/>
            <a:ext cx="6949440" cy="777240"/>
          </a:xfrm>
          <a:prstGeom prst="roundRect">
            <a:avLst>
              <a:gd name="adj" fmla="val 49412"/>
            </a:avLst>
          </a:prstGeom>
          <a:solidFill>
            <a:schemeClr val="accent6"/>
          </a:solidFill>
          <a:ln w="12700">
            <a:solidFill>
              <a:schemeClr val="accent6"/>
            </a:solidFill>
            <a:prstDash val="solid"/>
          </a:ln>
        </p:spPr>
      </p:sp>
      <p:sp>
        <p:nvSpPr>
          <p:cNvPr id="8" name="Text 5"/>
          <p:cNvSpPr txBox="1"/>
          <p:nvPr/>
        </p:nvSpPr>
        <p:spPr>
          <a:xfrm>
            <a:off x="914400" y="2971800"/>
            <a:ext cx="6309360" cy="777240"/>
          </a:xfrm>
          <a:prstGeom prst="rect">
            <a:avLst/>
          </a:prstGeom>
          <a:noFill/>
          <a:ln/>
        </p:spPr>
        <p:txBody>
          <a:bodyPr wrap="square" lIns="0" tIns="0" rIns="0" bIns="0" rtlCol="0" anchor="ctr"/>
          <a:lstStyle/>
          <a:p>
            <a:pPr indent="0" marL="0">
              <a:buNone/>
            </a:pPr>
            <a:r>
              <a:rPr lang="en-US" sz="2000" dirty="0">
                <a:solidFill>
                  <a:schemeClr val="bg1"/>
                </a:solidFill>
              </a:rPr>
              <a:t>8+ years running paid ads</a:t>
            </a:r>
            <a:endParaRPr lang="en-US" sz="2000" dirty="0"/>
          </a:p>
        </p:txBody>
      </p:sp>
      <p:sp>
        <p:nvSpPr>
          <p:cNvPr id="9" name="Credential pill 3"/>
          <p:cNvSpPr/>
          <p:nvPr/>
        </p:nvSpPr>
        <p:spPr>
          <a:xfrm>
            <a:off x="548640" y="3931920"/>
            <a:ext cx="6949440" cy="777240"/>
          </a:xfrm>
          <a:prstGeom prst="roundRect">
            <a:avLst>
              <a:gd name="adj" fmla="val 49412"/>
            </a:avLst>
          </a:prstGeom>
          <a:solidFill>
            <a:schemeClr val="accent6"/>
          </a:solidFill>
          <a:ln w="12700">
            <a:solidFill>
              <a:schemeClr val="accent6"/>
            </a:solidFill>
            <a:prstDash val="solid"/>
          </a:ln>
        </p:spPr>
      </p:sp>
      <p:sp>
        <p:nvSpPr>
          <p:cNvPr id="10" name="Text 7"/>
          <p:cNvSpPr txBox="1"/>
          <p:nvPr/>
        </p:nvSpPr>
        <p:spPr>
          <a:xfrm>
            <a:off x="914400" y="3931920"/>
            <a:ext cx="6309360" cy="777240"/>
          </a:xfrm>
          <a:prstGeom prst="rect">
            <a:avLst/>
          </a:prstGeom>
          <a:noFill/>
          <a:ln/>
        </p:spPr>
        <p:txBody>
          <a:bodyPr wrap="square" lIns="0" tIns="0" rIns="0" bIns="0" rtlCol="0" anchor="ctr"/>
          <a:lstStyle/>
          <a:p>
            <a:pPr indent="0" marL="0">
              <a:buNone/>
            </a:pPr>
            <a:r>
              <a:rPr lang="en-US" sz="2000" dirty="0">
                <a:solidFill>
                  <a:schemeClr val="bg1"/>
                </a:solidFill>
              </a:rPr>
              <a:t>$2M+ ad spend managed (₹20Cr+)</a:t>
            </a:r>
            <a:endParaRPr lang="en-US" sz="2000" dirty="0"/>
          </a:p>
        </p:txBody>
      </p:sp>
      <p:sp>
        <p:nvSpPr>
          <p:cNvPr id="11" name="Credential pill 4"/>
          <p:cNvSpPr/>
          <p:nvPr/>
        </p:nvSpPr>
        <p:spPr>
          <a:xfrm>
            <a:off x="548640" y="4892040"/>
            <a:ext cx="6949440" cy="777240"/>
          </a:xfrm>
          <a:prstGeom prst="roundRect">
            <a:avLst>
              <a:gd name="adj" fmla="val 49412"/>
            </a:avLst>
          </a:prstGeom>
          <a:solidFill>
            <a:schemeClr val="accent6"/>
          </a:solidFill>
          <a:ln w="12700">
            <a:solidFill>
              <a:schemeClr val="accent6"/>
            </a:solidFill>
            <a:prstDash val="solid"/>
          </a:ln>
        </p:spPr>
      </p:sp>
      <p:sp>
        <p:nvSpPr>
          <p:cNvPr id="12" name="Text 9"/>
          <p:cNvSpPr txBox="1"/>
          <p:nvPr/>
        </p:nvSpPr>
        <p:spPr>
          <a:xfrm>
            <a:off x="914400" y="4892040"/>
            <a:ext cx="6309360" cy="777240"/>
          </a:xfrm>
          <a:prstGeom prst="rect">
            <a:avLst/>
          </a:prstGeom>
          <a:noFill/>
          <a:ln/>
        </p:spPr>
        <p:txBody>
          <a:bodyPr wrap="square" lIns="0" tIns="0" rIns="0" bIns="0" rtlCol="0" anchor="ctr"/>
          <a:lstStyle/>
          <a:p>
            <a:pPr indent="0" marL="0">
              <a:buNone/>
            </a:pPr>
            <a:r>
              <a:rPr lang="en-US" sz="2000" dirty="0">
                <a:solidFill>
                  <a:schemeClr val="bg1"/>
                </a:solidFill>
              </a:rPr>
              <a:t>Ads, instant reply, booking and tracking under one roof</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Demo data badge"/>
          <p:cNvSpPr/>
          <p:nvPr/>
        </p:nvSpPr>
        <p:spPr>
          <a:xfrm>
            <a:off x="9418320" y="320040"/>
            <a:ext cx="2240280" cy="365760"/>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9418320" y="320040"/>
            <a:ext cx="2240280" cy="365760"/>
          </a:xfrm>
          <a:prstGeom prst="rect">
            <a:avLst/>
          </a:prstGeom>
          <a:noFill/>
          <a:ln/>
        </p:spPr>
        <p:txBody>
          <a:bodyPr wrap="square" lIns="0" tIns="0" rIns="0" bIns="0" rtlCol="0" anchor="ctr"/>
          <a:lstStyle/>
          <a:p>
            <a:pPr algn="ctr" indent="0" marL="0">
              <a:buNone/>
            </a:pPr>
            <a:r>
              <a:rPr lang="en-US" sz="1300" b="1" spc="200" kern="0" dirty="0">
                <a:solidFill>
                  <a:schemeClr val="bg1"/>
                </a:solidFill>
              </a:rPr>
              <a:t>DEMO DATA</a:t>
            </a:r>
            <a:endParaRPr lang="en-US" sz="1300" dirty="0"/>
          </a:p>
        </p:txBody>
      </p:sp>
      <p:sp>
        <p:nvSpPr>
          <p:cNvPr id="4" name="Text 2"/>
          <p:cNvSpPr txBox="1"/>
          <p:nvPr/>
        </p:nvSpPr>
        <p:spPr>
          <a:xfrm>
            <a:off x="548640" y="1143000"/>
            <a:ext cx="82296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CASE STUDY 01</a:t>
            </a:r>
            <a:endParaRPr lang="en-US" sz="1400" dirty="0"/>
          </a:p>
        </p:txBody>
      </p:sp>
      <p:sp>
        <p:nvSpPr>
          <p:cNvPr id="5" name="Text 1"/>
          <p:cNvSpPr txBox="1"/>
          <p:nvPr>
            <p:ph idx="101" type="title" hasCustomPrompt="1"/>
          </p:nvPr>
        </p:nvSpPr>
        <p:spPr>
          <a:xfrm>
            <a:off x="548640" y="1554480"/>
            <a:ext cx="5394960" cy="822960"/>
          </a:xfrm>
          <a:prstGeom prst="rect">
            <a:avLst/>
          </a:prstGeom>
          <a:noFill/>
          <a:ln/>
        </p:spPr>
        <p:txBody>
          <a:bodyPr wrap="square" lIns="0" tIns="0" rIns="0" bIns="0" rtlCol="0" anchor="t"/>
          <a:lstStyle/>
          <a:p>
            <a:pPr algn="l" indent="0" marL="0">
              <a:buNone/>
            </a:pPr>
            <a:r>
              <a:rPr lang="en-US" sz="3000" b="1" dirty="0">
                <a:solidFill>
                  <a:schemeClr val="bg1"/>
                </a:solidFill>
              </a:rPr>
              <a:t>Med Spa Clinic, Mumbai (demo)</a:t>
            </a:r>
            <a:endParaRPr lang="en-US" sz="3000" dirty="0"/>
          </a:p>
        </p:txBody>
      </p:sp>
      <p:sp>
        <p:nvSpPr>
          <p:cNvPr id="6" name="Text 4"/>
          <p:cNvSpPr txBox="1"/>
          <p:nvPr/>
        </p:nvSpPr>
        <p:spPr>
          <a:xfrm>
            <a:off x="548640" y="2468880"/>
            <a:ext cx="5394960" cy="1371600"/>
          </a:xfrm>
          <a:prstGeom prst="rect">
            <a:avLst/>
          </a:prstGeom>
          <a:noFill/>
          <a:ln/>
        </p:spPr>
        <p:txBody>
          <a:bodyPr wrap="square" lIns="0" tIns="0" rIns="0" bIns="0" rtlCol="0" anchor="ctr"/>
          <a:lstStyle/>
          <a:p>
            <a:pPr indent="0" marL="0">
              <a:buNone/>
            </a:pPr>
            <a:r>
              <a:rPr lang="en-US" sz="9600" b="1" dirty="0">
                <a:solidFill>
                  <a:schemeClr val="accent1"/>
                </a:solidFill>
              </a:rPr>
              <a:t>72</a:t>
            </a:r>
            <a:endParaRPr lang="en-US" sz="9600" dirty="0"/>
          </a:p>
        </p:txBody>
      </p:sp>
      <p:sp>
        <p:nvSpPr>
          <p:cNvPr id="7" name="Text 5"/>
          <p:cNvSpPr txBox="1"/>
          <p:nvPr/>
        </p:nvSpPr>
        <p:spPr>
          <a:xfrm>
            <a:off x="548640" y="3840480"/>
            <a:ext cx="5394960" cy="731520"/>
          </a:xfrm>
          <a:prstGeom prst="rect">
            <a:avLst/>
          </a:prstGeom>
          <a:noFill/>
          <a:ln/>
        </p:spPr>
        <p:txBody>
          <a:bodyPr wrap="square" lIns="0" tIns="0" rIns="0" bIns="0" rtlCol="0" anchor="t"/>
          <a:lstStyle/>
          <a:p>
            <a:pPr indent="0" marL="0">
              <a:buNone/>
            </a:pPr>
            <a:r>
              <a:rPr lang="en-US" sz="1800" dirty="0">
                <a:solidFill>
                  <a:schemeClr val="accent5"/>
                </a:solidFill>
              </a:rPr>
              <a:t>attended new-patient appointments a month, up from 22</a:t>
            </a:r>
            <a:endParaRPr lang="en-US" sz="1800" dirty="0"/>
          </a:p>
        </p:txBody>
      </p:sp>
      <p:sp>
        <p:nvSpPr>
          <p:cNvPr id="8" name="Metric chip 1"/>
          <p:cNvSpPr/>
          <p:nvPr/>
        </p:nvSpPr>
        <p:spPr>
          <a:xfrm>
            <a:off x="548640" y="4800600"/>
            <a:ext cx="1719072" cy="1280160"/>
          </a:xfrm>
          <a:prstGeom prst="roundRect">
            <a:avLst>
              <a:gd name="adj" fmla="val 7143"/>
            </a:avLst>
          </a:prstGeom>
          <a:solidFill>
            <a:schemeClr val="accent6"/>
          </a:solidFill>
          <a:ln w="12700">
            <a:solidFill>
              <a:schemeClr val="accent6"/>
            </a:solidFill>
            <a:prstDash val="solid"/>
          </a:ln>
        </p:spPr>
      </p:sp>
      <p:sp>
        <p:nvSpPr>
          <p:cNvPr id="9" name="Text 7"/>
          <p:cNvSpPr txBox="1"/>
          <p:nvPr/>
        </p:nvSpPr>
        <p:spPr>
          <a:xfrm>
            <a:off x="6400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4h → 2 min</a:t>
            </a:r>
            <a:endParaRPr lang="en-US" sz="2000" dirty="0"/>
          </a:p>
        </p:txBody>
      </p:sp>
      <p:sp>
        <p:nvSpPr>
          <p:cNvPr id="10" name="Text 8"/>
          <p:cNvSpPr txBox="1"/>
          <p:nvPr/>
        </p:nvSpPr>
        <p:spPr>
          <a:xfrm>
            <a:off x="6400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First reply</a:t>
            </a:r>
            <a:endParaRPr lang="en-US" sz="1400" dirty="0"/>
          </a:p>
        </p:txBody>
      </p:sp>
      <p:sp>
        <p:nvSpPr>
          <p:cNvPr id="11" name="Metric chip 2"/>
          <p:cNvSpPr/>
          <p:nvPr/>
        </p:nvSpPr>
        <p:spPr>
          <a:xfrm>
            <a:off x="2377440" y="4800600"/>
            <a:ext cx="1719072" cy="1280160"/>
          </a:xfrm>
          <a:prstGeom prst="roundRect">
            <a:avLst>
              <a:gd name="adj" fmla="val 7143"/>
            </a:avLst>
          </a:prstGeom>
          <a:solidFill>
            <a:schemeClr val="accent6"/>
          </a:solidFill>
          <a:ln w="12700">
            <a:solidFill>
              <a:schemeClr val="accent6"/>
            </a:solidFill>
            <a:prstDash val="solid"/>
          </a:ln>
        </p:spPr>
      </p:sp>
      <p:sp>
        <p:nvSpPr>
          <p:cNvPr id="12" name="Text 10"/>
          <p:cNvSpPr txBox="1"/>
          <p:nvPr/>
        </p:nvSpPr>
        <p:spPr>
          <a:xfrm>
            <a:off x="24688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58% → 81%</a:t>
            </a:r>
            <a:endParaRPr lang="en-US" sz="2000" dirty="0"/>
          </a:p>
        </p:txBody>
      </p:sp>
      <p:sp>
        <p:nvSpPr>
          <p:cNvPr id="13" name="Text 11"/>
          <p:cNvSpPr txBox="1"/>
          <p:nvPr/>
        </p:nvSpPr>
        <p:spPr>
          <a:xfrm>
            <a:off x="24688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Show-up rate</a:t>
            </a:r>
            <a:endParaRPr lang="en-US" sz="1400" dirty="0"/>
          </a:p>
        </p:txBody>
      </p:sp>
      <p:sp>
        <p:nvSpPr>
          <p:cNvPr id="14" name="Metric chip 3"/>
          <p:cNvSpPr/>
          <p:nvPr/>
        </p:nvSpPr>
        <p:spPr>
          <a:xfrm>
            <a:off x="4206240" y="4800600"/>
            <a:ext cx="1719072" cy="1280160"/>
          </a:xfrm>
          <a:prstGeom prst="roundRect">
            <a:avLst>
              <a:gd name="adj" fmla="val 7143"/>
            </a:avLst>
          </a:prstGeom>
          <a:solidFill>
            <a:schemeClr val="accent6"/>
          </a:solidFill>
          <a:ln w="12700">
            <a:solidFill>
              <a:schemeClr val="accent6"/>
            </a:solidFill>
            <a:prstDash val="solid"/>
          </a:ln>
        </p:spPr>
      </p:sp>
      <p:sp>
        <p:nvSpPr>
          <p:cNvPr id="15" name="Text 13"/>
          <p:cNvSpPr txBox="1"/>
          <p:nvPr/>
        </p:nvSpPr>
        <p:spPr>
          <a:xfrm>
            <a:off x="42976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₹2,400</a:t>
            </a:r>
            <a:endParaRPr lang="en-US" sz="2000" dirty="0"/>
          </a:p>
        </p:txBody>
      </p:sp>
      <p:sp>
        <p:nvSpPr>
          <p:cNvPr id="16" name="Text 14"/>
          <p:cNvSpPr txBox="1"/>
          <p:nvPr/>
        </p:nvSpPr>
        <p:spPr>
          <a:xfrm>
            <a:off x="42976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Cost per attended appt</a:t>
            </a:r>
            <a:endParaRPr lang="en-US" sz="1400" dirty="0"/>
          </a:p>
        </p:txBody>
      </p:sp>
      <p:sp>
        <p:nvSpPr>
          <p:cNvPr id="17" name="Chart panel"/>
          <p:cNvSpPr/>
          <p:nvPr/>
        </p:nvSpPr>
        <p:spPr>
          <a:xfrm>
            <a:off x="6309360" y="1143000"/>
            <a:ext cx="5349240" cy="4937760"/>
          </a:xfrm>
          <a:prstGeom prst="roundRect">
            <a:avLst>
              <a:gd name="adj" fmla="val 2222"/>
            </a:avLst>
          </a:prstGeom>
          <a:solidFill>
            <a:schemeClr val="accent6"/>
          </a:solidFill>
          <a:ln w="12700">
            <a:solidFill>
              <a:schemeClr val="accent6"/>
            </a:solidFill>
            <a:prstDash val="solid"/>
          </a:ln>
        </p:spPr>
      </p:sp>
      <p:graphicFrame>
        <p:nvGraphicFramePr>
          <p:cNvPr id="18" name="Chart 0" descr=""/>
          <p:cNvGraphicFramePr/>
          <p:nvPr/>
        </p:nvGraphicFramePr>
        <p:xfrm>
          <a:off x="6446520" y="1280160"/>
          <a:ext cx="5074920"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emo data badge"/>
          <p:cNvSpPr/>
          <p:nvPr/>
        </p:nvSpPr>
        <p:spPr>
          <a:xfrm>
            <a:off x="9418320" y="320040"/>
            <a:ext cx="2240280" cy="365760"/>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9418320" y="320040"/>
            <a:ext cx="2240280" cy="365760"/>
          </a:xfrm>
          <a:prstGeom prst="rect">
            <a:avLst/>
          </a:prstGeom>
          <a:noFill/>
          <a:ln/>
        </p:spPr>
        <p:txBody>
          <a:bodyPr wrap="square" lIns="0" tIns="0" rIns="0" bIns="0" rtlCol="0" anchor="ctr"/>
          <a:lstStyle/>
          <a:p>
            <a:pPr algn="ctr" indent="0" marL="0">
              <a:buNone/>
            </a:pPr>
            <a:r>
              <a:rPr lang="en-US" sz="1300" b="1" spc="200" kern="0" dirty="0">
                <a:solidFill>
                  <a:schemeClr val="bg1"/>
                </a:solidFill>
              </a:rPr>
              <a:t>DEMO DATA</a:t>
            </a:r>
            <a:endParaRPr lang="en-US" sz="1300" dirty="0"/>
          </a:p>
        </p:txBody>
      </p:sp>
      <p:sp>
        <p:nvSpPr>
          <p:cNvPr id="4" name="Text 2"/>
          <p:cNvSpPr txBox="1"/>
          <p:nvPr/>
        </p:nvSpPr>
        <p:spPr>
          <a:xfrm>
            <a:off x="548640" y="1143000"/>
            <a:ext cx="82296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CASE STUDY 02</a:t>
            </a:r>
            <a:endParaRPr lang="en-US" sz="1400" dirty="0"/>
          </a:p>
        </p:txBody>
      </p:sp>
      <p:sp>
        <p:nvSpPr>
          <p:cNvPr id="5" name="Text 1"/>
          <p:cNvSpPr txBox="1"/>
          <p:nvPr>
            <p:ph idx="101" type="title" hasCustomPrompt="1"/>
          </p:nvPr>
        </p:nvSpPr>
        <p:spPr>
          <a:xfrm>
            <a:off x="548640" y="1554480"/>
            <a:ext cx="5394960" cy="822960"/>
          </a:xfrm>
          <a:prstGeom prst="rect">
            <a:avLst/>
          </a:prstGeom>
          <a:noFill/>
          <a:ln/>
        </p:spPr>
        <p:txBody>
          <a:bodyPr wrap="square" lIns="0" tIns="0" rIns="0" bIns="0" rtlCol="0" anchor="t"/>
          <a:lstStyle/>
          <a:p>
            <a:pPr algn="l" indent="0" marL="0">
              <a:buNone/>
            </a:pPr>
            <a:r>
              <a:rPr lang="en-US" sz="3000" b="1" dirty="0">
                <a:solidFill>
                  <a:schemeClr val="bg1"/>
                </a:solidFill>
              </a:rPr>
              <a:t>Hair Restoration Clinic, Pune (demo)</a:t>
            </a:r>
            <a:endParaRPr lang="en-US" sz="3000" dirty="0"/>
          </a:p>
        </p:txBody>
      </p:sp>
      <p:sp>
        <p:nvSpPr>
          <p:cNvPr id="6" name="Text 4"/>
          <p:cNvSpPr txBox="1"/>
          <p:nvPr/>
        </p:nvSpPr>
        <p:spPr>
          <a:xfrm>
            <a:off x="548640" y="2468880"/>
            <a:ext cx="5394960" cy="1371600"/>
          </a:xfrm>
          <a:prstGeom prst="rect">
            <a:avLst/>
          </a:prstGeom>
          <a:noFill/>
          <a:ln/>
        </p:spPr>
        <p:txBody>
          <a:bodyPr wrap="square" lIns="0" tIns="0" rIns="0" bIns="0" rtlCol="0" anchor="ctr"/>
          <a:lstStyle/>
          <a:p>
            <a:pPr indent="0" marL="0">
              <a:buNone/>
            </a:pPr>
            <a:r>
              <a:rPr lang="en-US" sz="9600" b="1" dirty="0">
                <a:solidFill>
                  <a:schemeClr val="accent1"/>
                </a:solidFill>
              </a:rPr>
              <a:t>38</a:t>
            </a:r>
            <a:endParaRPr lang="en-US" sz="9600" dirty="0"/>
          </a:p>
        </p:txBody>
      </p:sp>
      <p:sp>
        <p:nvSpPr>
          <p:cNvPr id="7" name="Text 5"/>
          <p:cNvSpPr txBox="1"/>
          <p:nvPr/>
        </p:nvSpPr>
        <p:spPr>
          <a:xfrm>
            <a:off x="548640" y="3840480"/>
            <a:ext cx="5394960" cy="731520"/>
          </a:xfrm>
          <a:prstGeom prst="rect">
            <a:avLst/>
          </a:prstGeom>
          <a:noFill/>
          <a:ln/>
        </p:spPr>
        <p:txBody>
          <a:bodyPr wrap="square" lIns="0" tIns="0" rIns="0" bIns="0" rtlCol="0" anchor="t"/>
          <a:lstStyle/>
          <a:p>
            <a:pPr indent="0" marL="0">
              <a:buNone/>
            </a:pPr>
            <a:r>
              <a:rPr lang="en-US" sz="1800" dirty="0">
                <a:solidFill>
                  <a:schemeClr val="accent5"/>
                </a:solidFill>
              </a:rPr>
              <a:t>attended consultations a month, up from 11</a:t>
            </a:r>
            <a:endParaRPr lang="en-US" sz="1800" dirty="0"/>
          </a:p>
        </p:txBody>
      </p:sp>
      <p:sp>
        <p:nvSpPr>
          <p:cNvPr id="8" name="Metric chip 1"/>
          <p:cNvSpPr/>
          <p:nvPr/>
        </p:nvSpPr>
        <p:spPr>
          <a:xfrm>
            <a:off x="548640" y="4800600"/>
            <a:ext cx="1719072" cy="1280160"/>
          </a:xfrm>
          <a:prstGeom prst="roundRect">
            <a:avLst>
              <a:gd name="adj" fmla="val 7143"/>
            </a:avLst>
          </a:prstGeom>
          <a:solidFill>
            <a:schemeClr val="accent6"/>
          </a:solidFill>
          <a:ln w="12700">
            <a:solidFill>
              <a:schemeClr val="accent6"/>
            </a:solidFill>
            <a:prstDash val="solid"/>
          </a:ln>
        </p:spPr>
      </p:sp>
      <p:sp>
        <p:nvSpPr>
          <p:cNvPr id="9" name="Text 7"/>
          <p:cNvSpPr txBox="1"/>
          <p:nvPr/>
        </p:nvSpPr>
        <p:spPr>
          <a:xfrm>
            <a:off x="6400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6h → 3 min</a:t>
            </a:r>
            <a:endParaRPr lang="en-US" sz="2000" dirty="0"/>
          </a:p>
        </p:txBody>
      </p:sp>
      <p:sp>
        <p:nvSpPr>
          <p:cNvPr id="10" name="Text 8"/>
          <p:cNvSpPr txBox="1"/>
          <p:nvPr/>
        </p:nvSpPr>
        <p:spPr>
          <a:xfrm>
            <a:off x="6400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First reply</a:t>
            </a:r>
            <a:endParaRPr lang="en-US" sz="1400" dirty="0"/>
          </a:p>
        </p:txBody>
      </p:sp>
      <p:sp>
        <p:nvSpPr>
          <p:cNvPr id="11" name="Metric chip 2"/>
          <p:cNvSpPr/>
          <p:nvPr/>
        </p:nvSpPr>
        <p:spPr>
          <a:xfrm>
            <a:off x="2377440" y="4800600"/>
            <a:ext cx="1719072" cy="1280160"/>
          </a:xfrm>
          <a:prstGeom prst="roundRect">
            <a:avLst>
              <a:gd name="adj" fmla="val 7143"/>
            </a:avLst>
          </a:prstGeom>
          <a:solidFill>
            <a:schemeClr val="accent6"/>
          </a:solidFill>
          <a:ln w="12700">
            <a:solidFill>
              <a:schemeClr val="accent6"/>
            </a:solidFill>
            <a:prstDash val="solid"/>
          </a:ln>
        </p:spPr>
      </p:sp>
      <p:sp>
        <p:nvSpPr>
          <p:cNvPr id="12" name="Text 10"/>
          <p:cNvSpPr txBox="1"/>
          <p:nvPr/>
        </p:nvSpPr>
        <p:spPr>
          <a:xfrm>
            <a:off x="24688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49% → 74%</a:t>
            </a:r>
            <a:endParaRPr lang="en-US" sz="2000" dirty="0"/>
          </a:p>
        </p:txBody>
      </p:sp>
      <p:sp>
        <p:nvSpPr>
          <p:cNvPr id="13" name="Text 11"/>
          <p:cNvSpPr txBox="1"/>
          <p:nvPr/>
        </p:nvSpPr>
        <p:spPr>
          <a:xfrm>
            <a:off x="24688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Show-up rate</a:t>
            </a:r>
            <a:endParaRPr lang="en-US" sz="1400" dirty="0"/>
          </a:p>
        </p:txBody>
      </p:sp>
      <p:sp>
        <p:nvSpPr>
          <p:cNvPr id="14" name="Metric chip 3"/>
          <p:cNvSpPr/>
          <p:nvPr/>
        </p:nvSpPr>
        <p:spPr>
          <a:xfrm>
            <a:off x="4206240" y="4800600"/>
            <a:ext cx="1719072" cy="1280160"/>
          </a:xfrm>
          <a:prstGeom prst="roundRect">
            <a:avLst>
              <a:gd name="adj" fmla="val 7143"/>
            </a:avLst>
          </a:prstGeom>
          <a:solidFill>
            <a:schemeClr val="accent6"/>
          </a:solidFill>
          <a:ln w="12700">
            <a:solidFill>
              <a:schemeClr val="accent6"/>
            </a:solidFill>
            <a:prstDash val="solid"/>
          </a:ln>
        </p:spPr>
      </p:sp>
      <p:sp>
        <p:nvSpPr>
          <p:cNvPr id="15" name="Text 13"/>
          <p:cNvSpPr txBox="1"/>
          <p:nvPr/>
        </p:nvSpPr>
        <p:spPr>
          <a:xfrm>
            <a:off x="42976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₹4,100</a:t>
            </a:r>
            <a:endParaRPr lang="en-US" sz="2000" dirty="0"/>
          </a:p>
        </p:txBody>
      </p:sp>
      <p:sp>
        <p:nvSpPr>
          <p:cNvPr id="16" name="Text 14"/>
          <p:cNvSpPr txBox="1"/>
          <p:nvPr/>
        </p:nvSpPr>
        <p:spPr>
          <a:xfrm>
            <a:off x="42976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Cost per attended consult</a:t>
            </a:r>
            <a:endParaRPr lang="en-US" sz="1400" dirty="0"/>
          </a:p>
        </p:txBody>
      </p:sp>
      <p:sp>
        <p:nvSpPr>
          <p:cNvPr id="17" name="Chart panel"/>
          <p:cNvSpPr/>
          <p:nvPr/>
        </p:nvSpPr>
        <p:spPr>
          <a:xfrm>
            <a:off x="6309360" y="1143000"/>
            <a:ext cx="5349240" cy="4937760"/>
          </a:xfrm>
          <a:prstGeom prst="roundRect">
            <a:avLst>
              <a:gd name="adj" fmla="val 2222"/>
            </a:avLst>
          </a:prstGeom>
          <a:solidFill>
            <a:schemeClr val="accent6"/>
          </a:solidFill>
          <a:ln w="12700">
            <a:solidFill>
              <a:schemeClr val="accent6"/>
            </a:solidFill>
            <a:prstDash val="solid"/>
          </a:ln>
        </p:spPr>
      </p:sp>
      <p:graphicFrame>
        <p:nvGraphicFramePr>
          <p:cNvPr id="18" name="Chart 0" descr=""/>
          <p:cNvGraphicFramePr/>
          <p:nvPr/>
        </p:nvGraphicFramePr>
        <p:xfrm>
          <a:off x="6446520" y="1280160"/>
          <a:ext cx="5074920"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Demo data badge"/>
          <p:cNvSpPr/>
          <p:nvPr/>
        </p:nvSpPr>
        <p:spPr>
          <a:xfrm>
            <a:off x="9418320" y="320040"/>
            <a:ext cx="2240280" cy="365760"/>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9418320" y="320040"/>
            <a:ext cx="2240280" cy="365760"/>
          </a:xfrm>
          <a:prstGeom prst="rect">
            <a:avLst/>
          </a:prstGeom>
          <a:noFill/>
          <a:ln/>
        </p:spPr>
        <p:txBody>
          <a:bodyPr wrap="square" lIns="0" tIns="0" rIns="0" bIns="0" rtlCol="0" anchor="ctr"/>
          <a:lstStyle/>
          <a:p>
            <a:pPr algn="ctr" indent="0" marL="0">
              <a:buNone/>
            </a:pPr>
            <a:r>
              <a:rPr lang="en-US" sz="1300" b="1" spc="200" kern="0" dirty="0">
                <a:solidFill>
                  <a:schemeClr val="bg1"/>
                </a:solidFill>
              </a:rPr>
              <a:t>DEMO DATA</a:t>
            </a:r>
            <a:endParaRPr lang="en-US" sz="1300" dirty="0"/>
          </a:p>
        </p:txBody>
      </p:sp>
      <p:sp>
        <p:nvSpPr>
          <p:cNvPr id="4" name="Text 2"/>
          <p:cNvSpPr txBox="1"/>
          <p:nvPr/>
        </p:nvSpPr>
        <p:spPr>
          <a:xfrm>
            <a:off x="548640" y="1143000"/>
            <a:ext cx="82296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CASE STUDY 03</a:t>
            </a:r>
            <a:endParaRPr lang="en-US" sz="1400" dirty="0"/>
          </a:p>
        </p:txBody>
      </p:sp>
      <p:sp>
        <p:nvSpPr>
          <p:cNvPr id="5" name="Text 1"/>
          <p:cNvSpPr txBox="1"/>
          <p:nvPr>
            <p:ph idx="101" type="title" hasCustomPrompt="1"/>
          </p:nvPr>
        </p:nvSpPr>
        <p:spPr>
          <a:xfrm>
            <a:off x="548640" y="1554480"/>
            <a:ext cx="5394960" cy="822960"/>
          </a:xfrm>
          <a:prstGeom prst="rect">
            <a:avLst/>
          </a:prstGeom>
          <a:noFill/>
          <a:ln/>
        </p:spPr>
        <p:txBody>
          <a:bodyPr wrap="square" lIns="0" tIns="0" rIns="0" bIns="0" rtlCol="0" anchor="t"/>
          <a:lstStyle/>
          <a:p>
            <a:pPr algn="l" indent="0" marL="0">
              <a:buNone/>
            </a:pPr>
            <a:r>
              <a:rPr lang="en-US" sz="3000" b="1" dirty="0">
                <a:solidFill>
                  <a:schemeClr val="bg1"/>
                </a:solidFill>
              </a:rPr>
              <a:t>Fertility Clinic, Delhi (demo)</a:t>
            </a:r>
            <a:endParaRPr lang="en-US" sz="3000" dirty="0"/>
          </a:p>
        </p:txBody>
      </p:sp>
      <p:sp>
        <p:nvSpPr>
          <p:cNvPr id="6" name="Text 4"/>
          <p:cNvSpPr txBox="1"/>
          <p:nvPr/>
        </p:nvSpPr>
        <p:spPr>
          <a:xfrm>
            <a:off x="548640" y="2468880"/>
            <a:ext cx="5394960" cy="1371600"/>
          </a:xfrm>
          <a:prstGeom prst="rect">
            <a:avLst/>
          </a:prstGeom>
          <a:noFill/>
          <a:ln/>
        </p:spPr>
        <p:txBody>
          <a:bodyPr wrap="square" lIns="0" tIns="0" rIns="0" bIns="0" rtlCol="0" anchor="ctr"/>
          <a:lstStyle/>
          <a:p>
            <a:pPr indent="0" marL="0">
              <a:buNone/>
            </a:pPr>
            <a:r>
              <a:rPr lang="en-US" sz="9600" b="1" dirty="0">
                <a:solidFill>
                  <a:schemeClr val="accent1"/>
                </a:solidFill>
              </a:rPr>
              <a:t>54</a:t>
            </a:r>
            <a:endParaRPr lang="en-US" sz="9600" dirty="0"/>
          </a:p>
        </p:txBody>
      </p:sp>
      <p:sp>
        <p:nvSpPr>
          <p:cNvPr id="7" name="Text 5"/>
          <p:cNvSpPr txBox="1"/>
          <p:nvPr/>
        </p:nvSpPr>
        <p:spPr>
          <a:xfrm>
            <a:off x="548640" y="3840480"/>
            <a:ext cx="5394960" cy="731520"/>
          </a:xfrm>
          <a:prstGeom prst="rect">
            <a:avLst/>
          </a:prstGeom>
          <a:noFill/>
          <a:ln/>
        </p:spPr>
        <p:txBody>
          <a:bodyPr wrap="square" lIns="0" tIns="0" rIns="0" bIns="0" rtlCol="0" anchor="t"/>
          <a:lstStyle/>
          <a:p>
            <a:pPr indent="0" marL="0">
              <a:buNone/>
            </a:pPr>
            <a:r>
              <a:rPr lang="en-US" sz="1800" dirty="0">
                <a:solidFill>
                  <a:schemeClr val="accent5"/>
                </a:solidFill>
              </a:rPr>
              <a:t>attended first consultations a month, up from 18</a:t>
            </a:r>
            <a:endParaRPr lang="en-US" sz="1800" dirty="0"/>
          </a:p>
        </p:txBody>
      </p:sp>
      <p:sp>
        <p:nvSpPr>
          <p:cNvPr id="8" name="Metric chip 1"/>
          <p:cNvSpPr/>
          <p:nvPr/>
        </p:nvSpPr>
        <p:spPr>
          <a:xfrm>
            <a:off x="548640" y="4800600"/>
            <a:ext cx="1719072" cy="1280160"/>
          </a:xfrm>
          <a:prstGeom prst="roundRect">
            <a:avLst>
              <a:gd name="adj" fmla="val 7143"/>
            </a:avLst>
          </a:prstGeom>
          <a:solidFill>
            <a:schemeClr val="accent6"/>
          </a:solidFill>
          <a:ln w="12700">
            <a:solidFill>
              <a:schemeClr val="accent6"/>
            </a:solidFill>
            <a:prstDash val="solid"/>
          </a:ln>
        </p:spPr>
      </p:sp>
      <p:sp>
        <p:nvSpPr>
          <p:cNvPr id="9" name="Text 7"/>
          <p:cNvSpPr txBox="1"/>
          <p:nvPr/>
        </p:nvSpPr>
        <p:spPr>
          <a:xfrm>
            <a:off x="6400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5h → 4 min</a:t>
            </a:r>
            <a:endParaRPr lang="en-US" sz="2000" dirty="0"/>
          </a:p>
        </p:txBody>
      </p:sp>
      <p:sp>
        <p:nvSpPr>
          <p:cNvPr id="10" name="Text 8"/>
          <p:cNvSpPr txBox="1"/>
          <p:nvPr/>
        </p:nvSpPr>
        <p:spPr>
          <a:xfrm>
            <a:off x="6400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First reply</a:t>
            </a:r>
            <a:endParaRPr lang="en-US" sz="1400" dirty="0"/>
          </a:p>
        </p:txBody>
      </p:sp>
      <p:sp>
        <p:nvSpPr>
          <p:cNvPr id="11" name="Metric chip 2"/>
          <p:cNvSpPr/>
          <p:nvPr/>
        </p:nvSpPr>
        <p:spPr>
          <a:xfrm>
            <a:off x="2377440" y="4800600"/>
            <a:ext cx="1719072" cy="1280160"/>
          </a:xfrm>
          <a:prstGeom prst="roundRect">
            <a:avLst>
              <a:gd name="adj" fmla="val 7143"/>
            </a:avLst>
          </a:prstGeom>
          <a:solidFill>
            <a:schemeClr val="accent6"/>
          </a:solidFill>
          <a:ln w="12700">
            <a:solidFill>
              <a:schemeClr val="accent6"/>
            </a:solidFill>
            <a:prstDash val="solid"/>
          </a:ln>
        </p:spPr>
      </p:sp>
      <p:sp>
        <p:nvSpPr>
          <p:cNvPr id="12" name="Text 10"/>
          <p:cNvSpPr txBox="1"/>
          <p:nvPr/>
        </p:nvSpPr>
        <p:spPr>
          <a:xfrm>
            <a:off x="24688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62% → 85%</a:t>
            </a:r>
            <a:endParaRPr lang="en-US" sz="2000" dirty="0"/>
          </a:p>
        </p:txBody>
      </p:sp>
      <p:sp>
        <p:nvSpPr>
          <p:cNvPr id="13" name="Text 11"/>
          <p:cNvSpPr txBox="1"/>
          <p:nvPr/>
        </p:nvSpPr>
        <p:spPr>
          <a:xfrm>
            <a:off x="24688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Show-up rate</a:t>
            </a:r>
            <a:endParaRPr lang="en-US" sz="1400" dirty="0"/>
          </a:p>
        </p:txBody>
      </p:sp>
      <p:sp>
        <p:nvSpPr>
          <p:cNvPr id="14" name="Metric chip 3"/>
          <p:cNvSpPr/>
          <p:nvPr/>
        </p:nvSpPr>
        <p:spPr>
          <a:xfrm>
            <a:off x="4206240" y="4800600"/>
            <a:ext cx="1719072" cy="1280160"/>
          </a:xfrm>
          <a:prstGeom prst="roundRect">
            <a:avLst>
              <a:gd name="adj" fmla="val 7143"/>
            </a:avLst>
          </a:prstGeom>
          <a:solidFill>
            <a:schemeClr val="accent6"/>
          </a:solidFill>
          <a:ln w="12700">
            <a:solidFill>
              <a:schemeClr val="accent6"/>
            </a:solidFill>
            <a:prstDash val="solid"/>
          </a:ln>
        </p:spPr>
      </p:sp>
      <p:sp>
        <p:nvSpPr>
          <p:cNvPr id="15" name="Text 13"/>
          <p:cNvSpPr txBox="1"/>
          <p:nvPr/>
        </p:nvSpPr>
        <p:spPr>
          <a:xfrm>
            <a:off x="42976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₹3,300</a:t>
            </a:r>
            <a:endParaRPr lang="en-US" sz="2000" dirty="0"/>
          </a:p>
        </p:txBody>
      </p:sp>
      <p:sp>
        <p:nvSpPr>
          <p:cNvPr id="16" name="Text 14"/>
          <p:cNvSpPr txBox="1"/>
          <p:nvPr/>
        </p:nvSpPr>
        <p:spPr>
          <a:xfrm>
            <a:off x="42976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Cost per attended consult</a:t>
            </a:r>
            <a:endParaRPr lang="en-US" sz="1400" dirty="0"/>
          </a:p>
        </p:txBody>
      </p:sp>
      <p:sp>
        <p:nvSpPr>
          <p:cNvPr id="17" name="Chart panel"/>
          <p:cNvSpPr/>
          <p:nvPr/>
        </p:nvSpPr>
        <p:spPr>
          <a:xfrm>
            <a:off x="6309360" y="1143000"/>
            <a:ext cx="5349240" cy="4937760"/>
          </a:xfrm>
          <a:prstGeom prst="roundRect">
            <a:avLst>
              <a:gd name="adj" fmla="val 2222"/>
            </a:avLst>
          </a:prstGeom>
          <a:solidFill>
            <a:schemeClr val="accent6"/>
          </a:solidFill>
          <a:ln w="12700">
            <a:solidFill>
              <a:schemeClr val="accent6"/>
            </a:solidFill>
            <a:prstDash val="solid"/>
          </a:ln>
        </p:spPr>
      </p:sp>
      <p:graphicFrame>
        <p:nvGraphicFramePr>
          <p:cNvPr id="18" name="Chart 0" descr=""/>
          <p:cNvGraphicFramePr/>
          <p:nvPr/>
        </p:nvGraphicFramePr>
        <p:xfrm>
          <a:off x="6446520" y="1280160"/>
          <a:ext cx="5074920"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tx1"/>
                </a:solidFill>
              </a:rPr>
              <a:t>Why clinics stall when they spend more on ads</a:t>
            </a:r>
            <a:endParaRPr lang="en-US" sz="3800" dirty="0"/>
          </a:p>
        </p:txBody>
      </p:sp>
      <p:sp>
        <p:nvSpPr>
          <p:cNvPr id="3" name="Problem card 1"/>
          <p:cNvSpPr/>
          <p:nvPr/>
        </p:nvSpPr>
        <p:spPr>
          <a:xfrm>
            <a:off x="548640" y="2286000"/>
            <a:ext cx="3566160" cy="3291840"/>
          </a:xfrm>
          <a:prstGeom prst="roundRect">
            <a:avLst>
              <a:gd name="adj" fmla="val 3333"/>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4" name="Leads go cold. icon circle"/>
          <p:cNvSpPr/>
          <p:nvPr/>
        </p:nvSpPr>
        <p:spPr>
          <a:xfrm>
            <a:off x="868680" y="2606040"/>
            <a:ext cx="822960" cy="822960"/>
          </a:xfrm>
          <a:prstGeom prst="ellipse">
            <a:avLst/>
          </a:prstGeom>
          <a:solidFill>
            <a:srgbClr val="0B1636"/>
          </a:solidFill>
          <a:ln w="12700">
            <a:solidFill>
              <a:srgbClr val="0B1636"/>
            </a:solidFill>
            <a:prstDash val="solid"/>
          </a:ln>
        </p:spPr>
      </p:sp>
      <p:pic>
        <p:nvPicPr>
          <p:cNvPr id="5" name="Leads go cold. icon" descr="Leads go cold. icon">    </p:cNvPr>
          <p:cNvPicPr>
            <a:picLocks noChangeAspect="1"/>
          </p:cNvPicPr>
          <p:nvPr/>
        </p:nvPicPr>
        <p:blipFill>
          <a:blip r:embed="rId1"/>
          <a:stretch>
            <a:fillRect/>
          </a:stretch>
        </p:blipFill>
        <p:spPr>
          <a:xfrm>
            <a:off x="1090879" y="2828239"/>
            <a:ext cx="378562" cy="378562"/>
          </a:xfrm>
          <a:prstGeom prst="rect">
            <a:avLst/>
          </a:prstGeom>
        </p:spPr>
      </p:pic>
      <p:sp>
        <p:nvSpPr>
          <p:cNvPr id="6" name="Text 3"/>
          <p:cNvSpPr txBox="1"/>
          <p:nvPr/>
        </p:nvSpPr>
        <p:spPr>
          <a:xfrm>
            <a:off x="868680" y="3657600"/>
            <a:ext cx="2926080" cy="822960"/>
          </a:xfrm>
          <a:prstGeom prst="rect">
            <a:avLst/>
          </a:prstGeom>
          <a:noFill/>
          <a:ln/>
        </p:spPr>
        <p:txBody>
          <a:bodyPr wrap="square" lIns="0" tIns="0" rIns="0" bIns="0" rtlCol="0" anchor="t"/>
          <a:lstStyle/>
          <a:p>
            <a:pPr indent="0" marL="0">
              <a:buNone/>
            </a:pPr>
            <a:r>
              <a:rPr lang="en-US" sz="2200" b="1" dirty="0">
                <a:solidFill>
                  <a:schemeClr val="tx1"/>
                </a:solidFill>
              </a:rPr>
              <a:t>Leads go cold.</a:t>
            </a:r>
            <a:endParaRPr lang="en-US" sz="2200" dirty="0"/>
          </a:p>
        </p:txBody>
      </p:sp>
      <p:sp>
        <p:nvSpPr>
          <p:cNvPr id="7" name="Text 4"/>
          <p:cNvSpPr txBox="1"/>
          <p:nvPr/>
        </p:nvSpPr>
        <p:spPr>
          <a:xfrm>
            <a:off x="868680" y="4526280"/>
            <a:ext cx="2926080" cy="914400"/>
          </a:xfrm>
          <a:prstGeom prst="rect">
            <a:avLst/>
          </a:prstGeom>
          <a:noFill/>
          <a:ln/>
        </p:spPr>
        <p:txBody>
          <a:bodyPr wrap="square" lIns="0" tIns="0" rIns="0" bIns="0" rtlCol="0" anchor="t"/>
          <a:lstStyle/>
          <a:p>
            <a:pPr indent="0" marL="0">
              <a:buNone/>
            </a:pPr>
            <a:r>
              <a:rPr lang="en-US" sz="1600" dirty="0">
                <a:solidFill>
                  <a:schemeClr val="tx1"/>
                </a:solidFill>
              </a:rPr>
              <a:t>Nobody replies for hours, and the patient books somewhere else.</a:t>
            </a:r>
            <a:endParaRPr lang="en-US" sz="1600" dirty="0"/>
          </a:p>
        </p:txBody>
      </p:sp>
      <p:sp>
        <p:nvSpPr>
          <p:cNvPr id="8" name="Problem card 2"/>
          <p:cNvSpPr/>
          <p:nvPr/>
        </p:nvSpPr>
        <p:spPr>
          <a:xfrm>
            <a:off x="4297680" y="2286000"/>
            <a:ext cx="3566160" cy="3291840"/>
          </a:xfrm>
          <a:prstGeom prst="roundRect">
            <a:avLst>
              <a:gd name="adj" fmla="val 3333"/>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9" name="Bookings don't show. icon circle"/>
          <p:cNvSpPr/>
          <p:nvPr/>
        </p:nvSpPr>
        <p:spPr>
          <a:xfrm>
            <a:off x="4617720" y="2606040"/>
            <a:ext cx="822960" cy="822960"/>
          </a:xfrm>
          <a:prstGeom prst="ellipse">
            <a:avLst/>
          </a:prstGeom>
          <a:solidFill>
            <a:srgbClr val="0B1636"/>
          </a:solidFill>
          <a:ln w="12700">
            <a:solidFill>
              <a:srgbClr val="0B1636"/>
            </a:solidFill>
            <a:prstDash val="solid"/>
          </a:ln>
        </p:spPr>
      </p:sp>
      <p:pic>
        <p:nvPicPr>
          <p:cNvPr id="10" name="Bookings don't show. icon" descr="Bookings don't show. icon">    </p:cNvPr>
          <p:cNvPicPr>
            <a:picLocks noChangeAspect="1"/>
          </p:cNvPicPr>
          <p:nvPr/>
        </p:nvPicPr>
        <p:blipFill>
          <a:blip r:embed="rId2"/>
          <a:stretch>
            <a:fillRect/>
          </a:stretch>
        </p:blipFill>
        <p:spPr>
          <a:xfrm>
            <a:off x="4839919" y="2828239"/>
            <a:ext cx="378562" cy="378562"/>
          </a:xfrm>
          <a:prstGeom prst="rect">
            <a:avLst/>
          </a:prstGeom>
        </p:spPr>
      </p:pic>
      <p:sp>
        <p:nvSpPr>
          <p:cNvPr id="11" name="Text 7"/>
          <p:cNvSpPr txBox="1"/>
          <p:nvPr/>
        </p:nvSpPr>
        <p:spPr>
          <a:xfrm>
            <a:off x="4617720" y="3657600"/>
            <a:ext cx="2926080" cy="822960"/>
          </a:xfrm>
          <a:prstGeom prst="rect">
            <a:avLst/>
          </a:prstGeom>
          <a:noFill/>
          <a:ln/>
        </p:spPr>
        <p:txBody>
          <a:bodyPr wrap="square" lIns="0" tIns="0" rIns="0" bIns="0" rtlCol="0" anchor="t"/>
          <a:lstStyle/>
          <a:p>
            <a:pPr indent="0" marL="0">
              <a:buNone/>
            </a:pPr>
            <a:r>
              <a:rPr lang="en-US" sz="2200" b="1" dirty="0">
                <a:solidFill>
                  <a:schemeClr val="tx1"/>
                </a:solidFill>
              </a:rPr>
              <a:t>Bookings don't show.</a:t>
            </a:r>
            <a:endParaRPr lang="en-US" sz="2200" dirty="0"/>
          </a:p>
        </p:txBody>
      </p:sp>
      <p:sp>
        <p:nvSpPr>
          <p:cNvPr id="12" name="Text 8"/>
          <p:cNvSpPr txBox="1"/>
          <p:nvPr/>
        </p:nvSpPr>
        <p:spPr>
          <a:xfrm>
            <a:off x="4617720" y="4526280"/>
            <a:ext cx="2926080" cy="914400"/>
          </a:xfrm>
          <a:prstGeom prst="rect">
            <a:avLst/>
          </a:prstGeom>
          <a:noFill/>
          <a:ln/>
        </p:spPr>
        <p:txBody>
          <a:bodyPr wrap="square" lIns="0" tIns="0" rIns="0" bIns="0" rtlCol="0" anchor="t"/>
          <a:lstStyle/>
          <a:p>
            <a:pPr indent="0" marL="0">
              <a:buNone/>
            </a:pPr>
            <a:r>
              <a:rPr lang="en-US" sz="1600" dirty="0">
                <a:solidFill>
                  <a:schemeClr val="tx1"/>
                </a:solidFill>
              </a:rPr>
              <a:t>A full calendar on Monday, half empty by Friday.</a:t>
            </a:r>
            <a:endParaRPr lang="en-US" sz="1600" dirty="0"/>
          </a:p>
        </p:txBody>
      </p:sp>
      <p:sp>
        <p:nvSpPr>
          <p:cNvPr id="13" name="Problem card 3"/>
          <p:cNvSpPr/>
          <p:nvPr/>
        </p:nvSpPr>
        <p:spPr>
          <a:xfrm>
            <a:off x="8046720" y="2286000"/>
            <a:ext cx="3566160" cy="3291840"/>
          </a:xfrm>
          <a:prstGeom prst="roundRect">
            <a:avLst>
              <a:gd name="adj" fmla="val 3333"/>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14" name="Reports show clicks, not patients. icon circle"/>
          <p:cNvSpPr/>
          <p:nvPr/>
        </p:nvSpPr>
        <p:spPr>
          <a:xfrm>
            <a:off x="8366760" y="2606040"/>
            <a:ext cx="822960" cy="822960"/>
          </a:xfrm>
          <a:prstGeom prst="ellipse">
            <a:avLst/>
          </a:prstGeom>
          <a:solidFill>
            <a:srgbClr val="0B1636"/>
          </a:solidFill>
          <a:ln w="12700">
            <a:solidFill>
              <a:srgbClr val="0B1636"/>
            </a:solidFill>
            <a:prstDash val="solid"/>
          </a:ln>
        </p:spPr>
      </p:sp>
      <p:pic>
        <p:nvPicPr>
          <p:cNvPr id="15" name="Reports show clicks, not patients. icon" descr="Reports show clicks, not patients. icon">    </p:cNvPr>
          <p:cNvPicPr>
            <a:picLocks noChangeAspect="1"/>
          </p:cNvPicPr>
          <p:nvPr/>
        </p:nvPicPr>
        <p:blipFill>
          <a:blip r:embed="rId3"/>
          <a:stretch>
            <a:fillRect/>
          </a:stretch>
        </p:blipFill>
        <p:spPr>
          <a:xfrm>
            <a:off x="8588959" y="2828239"/>
            <a:ext cx="378562" cy="378562"/>
          </a:xfrm>
          <a:prstGeom prst="rect">
            <a:avLst/>
          </a:prstGeom>
        </p:spPr>
      </p:pic>
      <p:sp>
        <p:nvSpPr>
          <p:cNvPr id="16" name="Text 11"/>
          <p:cNvSpPr txBox="1"/>
          <p:nvPr/>
        </p:nvSpPr>
        <p:spPr>
          <a:xfrm>
            <a:off x="8366760" y="3657600"/>
            <a:ext cx="2926080" cy="822960"/>
          </a:xfrm>
          <a:prstGeom prst="rect">
            <a:avLst/>
          </a:prstGeom>
          <a:noFill/>
          <a:ln/>
        </p:spPr>
        <p:txBody>
          <a:bodyPr wrap="square" lIns="0" tIns="0" rIns="0" bIns="0" rtlCol="0" anchor="t"/>
          <a:lstStyle/>
          <a:p>
            <a:pPr indent="0" marL="0">
              <a:buNone/>
            </a:pPr>
            <a:r>
              <a:rPr lang="en-US" sz="2200" b="1" dirty="0">
                <a:solidFill>
                  <a:schemeClr val="tx1"/>
                </a:solidFill>
              </a:rPr>
              <a:t>Reports show clicks, not patients.</a:t>
            </a:r>
            <a:endParaRPr lang="en-US" sz="2200" dirty="0"/>
          </a:p>
        </p:txBody>
      </p:sp>
      <p:sp>
        <p:nvSpPr>
          <p:cNvPr id="17" name="Text 12"/>
          <p:cNvSpPr txBox="1"/>
          <p:nvPr/>
        </p:nvSpPr>
        <p:spPr>
          <a:xfrm>
            <a:off x="8366760" y="4526280"/>
            <a:ext cx="2926080" cy="914400"/>
          </a:xfrm>
          <a:prstGeom prst="rect">
            <a:avLst/>
          </a:prstGeom>
          <a:noFill/>
          <a:ln/>
        </p:spPr>
        <p:txBody>
          <a:bodyPr wrap="square" lIns="0" tIns="0" rIns="0" bIns="0" rtlCol="0" anchor="t"/>
          <a:lstStyle/>
          <a:p>
            <a:pPr indent="0" marL="0">
              <a:buNone/>
            </a:pPr>
            <a:r>
              <a:rPr lang="en-US" sz="1600" dirty="0">
                <a:solidFill>
                  <a:schemeClr val="tx1"/>
                </a:solidFill>
              </a:rPr>
              <a:t>Nobody can say what the ads brought in.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How We Fix It: 3 Steps</a:t>
            </a:r>
            <a:endParaRPr lang="en-US" sz="3800" dirty="0"/>
          </a:p>
        </p:txBody>
      </p:sp>
      <p:sp>
        <p:nvSpPr>
          <p:cNvPr id="3" name="Step card 1"/>
          <p:cNvSpPr/>
          <p:nvPr/>
        </p:nvSpPr>
        <p:spPr>
          <a:xfrm>
            <a:off x="548640" y="2103120"/>
            <a:ext cx="3566160" cy="3931920"/>
          </a:xfrm>
          <a:prstGeom prst="roundRect">
            <a:avLst>
              <a:gd name="adj" fmla="val 3077"/>
            </a:avLst>
          </a:prstGeom>
          <a:solidFill>
            <a:schemeClr val="accent6"/>
          </a:solidFill>
          <a:ln w="12700">
            <a:solidFill>
              <a:schemeClr val="accent6"/>
            </a:solidFill>
            <a:prstDash val="solid"/>
          </a:ln>
        </p:spPr>
      </p:sp>
      <p:sp>
        <p:nvSpPr>
          <p:cNvPr id="4" name="Step 1: Find the leak icon circle"/>
          <p:cNvSpPr/>
          <p:nvPr/>
        </p:nvSpPr>
        <p:spPr>
          <a:xfrm>
            <a:off x="868680" y="2423160"/>
            <a:ext cx="822960" cy="822960"/>
          </a:xfrm>
          <a:prstGeom prst="ellipse">
            <a:avLst/>
          </a:prstGeom>
          <a:solidFill>
            <a:srgbClr val="5FE0C0"/>
          </a:solidFill>
          <a:ln w="12700">
            <a:solidFill>
              <a:srgbClr val="5FE0C0"/>
            </a:solidFill>
            <a:prstDash val="solid"/>
          </a:ln>
        </p:spPr>
      </p:sp>
      <p:pic>
        <p:nvPicPr>
          <p:cNvPr id="5" name="Step 1: Find the leak icon" descr="Step 1: Find the leak icon">    </p:cNvPr>
          <p:cNvPicPr>
            <a:picLocks noChangeAspect="1"/>
          </p:cNvPicPr>
          <p:nvPr/>
        </p:nvPicPr>
        <p:blipFill>
          <a:blip r:embed="rId1"/>
          <a:stretch>
            <a:fillRect/>
          </a:stretch>
        </p:blipFill>
        <p:spPr>
          <a:xfrm>
            <a:off x="1090879" y="2645359"/>
            <a:ext cx="378562" cy="378562"/>
          </a:xfrm>
          <a:prstGeom prst="rect">
            <a:avLst/>
          </a:prstGeom>
        </p:spPr>
      </p:pic>
      <p:sp>
        <p:nvSpPr>
          <p:cNvPr id="6" name="Text 3"/>
          <p:cNvSpPr txBox="1"/>
          <p:nvPr/>
        </p:nvSpPr>
        <p:spPr>
          <a:xfrm>
            <a:off x="868680" y="3474720"/>
            <a:ext cx="2926080" cy="457200"/>
          </a:xfrm>
          <a:prstGeom prst="rect">
            <a:avLst/>
          </a:prstGeom>
          <a:noFill/>
          <a:ln/>
        </p:spPr>
        <p:txBody>
          <a:bodyPr wrap="square" lIns="0" tIns="0" rIns="0" bIns="0" rtlCol="0" anchor="t"/>
          <a:lstStyle/>
          <a:p>
            <a:pPr indent="0" marL="0">
              <a:buNone/>
            </a:pPr>
            <a:r>
              <a:rPr lang="en-US" sz="2200" b="1" dirty="0">
                <a:solidFill>
                  <a:schemeClr val="accent1"/>
                </a:solidFill>
              </a:rPr>
              <a:t>Step 1: Find the leak</a:t>
            </a:r>
            <a:endParaRPr lang="en-US" sz="2200" dirty="0"/>
          </a:p>
        </p:txBody>
      </p:sp>
      <p:sp>
        <p:nvSpPr>
          <p:cNvPr id="7" name="Text 4"/>
          <p:cNvSpPr txBox="1"/>
          <p:nvPr/>
        </p:nvSpPr>
        <p:spPr>
          <a:xfrm>
            <a:off x="868680" y="4069080"/>
            <a:ext cx="2926080" cy="1828800"/>
          </a:xfrm>
          <a:prstGeom prst="rect">
            <a:avLst/>
          </a:prstGeom>
          <a:noFill/>
          <a:ln/>
        </p:spPr>
        <p:txBody>
          <a:bodyPr wrap="square" lIns="0" tIns="0" rIns="0" bIns="0" rtlCol="0" anchor="t"/>
          <a:lstStyle/>
          <a:p>
            <a:pPr indent="0" marL="0">
              <a:buNone/>
            </a:pPr>
            <a:r>
              <a:rPr lang="en-US" sz="1600" dirty="0">
                <a:solidFill>
                  <a:schemeClr val="bg1"/>
                </a:solidFill>
              </a:rPr>
              <a:t>A Lead Leak Audit shows where new patients drop out today. You get a clear list of fixes in 5 business days.</a:t>
            </a:r>
            <a:endParaRPr lang="en-US" sz="1600" dirty="0"/>
          </a:p>
        </p:txBody>
      </p:sp>
      <p:sp>
        <p:nvSpPr>
          <p:cNvPr id="8" name="Step card 2"/>
          <p:cNvSpPr/>
          <p:nvPr/>
        </p:nvSpPr>
        <p:spPr>
          <a:xfrm>
            <a:off x="4297680" y="2103120"/>
            <a:ext cx="3566160" cy="3931920"/>
          </a:xfrm>
          <a:prstGeom prst="roundRect">
            <a:avLst>
              <a:gd name="adj" fmla="val 3077"/>
            </a:avLst>
          </a:prstGeom>
          <a:solidFill>
            <a:schemeClr val="accent6"/>
          </a:solidFill>
          <a:ln w="12700">
            <a:solidFill>
              <a:schemeClr val="accent6"/>
            </a:solidFill>
            <a:prstDash val="solid"/>
          </a:ln>
        </p:spPr>
      </p:sp>
      <p:sp>
        <p:nvSpPr>
          <p:cNvPr id="9" name="Step 2: Fill the calendar icon circle"/>
          <p:cNvSpPr/>
          <p:nvPr/>
        </p:nvSpPr>
        <p:spPr>
          <a:xfrm>
            <a:off x="4617720" y="2423160"/>
            <a:ext cx="822960" cy="822960"/>
          </a:xfrm>
          <a:prstGeom prst="ellipse">
            <a:avLst/>
          </a:prstGeom>
          <a:solidFill>
            <a:srgbClr val="5FE0C0"/>
          </a:solidFill>
          <a:ln w="12700">
            <a:solidFill>
              <a:srgbClr val="5FE0C0"/>
            </a:solidFill>
            <a:prstDash val="solid"/>
          </a:ln>
        </p:spPr>
      </p:sp>
      <p:pic>
        <p:nvPicPr>
          <p:cNvPr id="10" name="Step 2: Fill the calendar icon" descr="Step 2: Fill the calendar icon">    </p:cNvPr>
          <p:cNvPicPr>
            <a:picLocks noChangeAspect="1"/>
          </p:cNvPicPr>
          <p:nvPr/>
        </p:nvPicPr>
        <p:blipFill>
          <a:blip r:embed="rId2"/>
          <a:stretch>
            <a:fillRect/>
          </a:stretch>
        </p:blipFill>
        <p:spPr>
          <a:xfrm>
            <a:off x="4839919" y="2645359"/>
            <a:ext cx="378562" cy="378562"/>
          </a:xfrm>
          <a:prstGeom prst="rect">
            <a:avLst/>
          </a:prstGeom>
        </p:spPr>
      </p:pic>
      <p:sp>
        <p:nvSpPr>
          <p:cNvPr id="11" name="Text 7"/>
          <p:cNvSpPr txBox="1"/>
          <p:nvPr/>
        </p:nvSpPr>
        <p:spPr>
          <a:xfrm>
            <a:off x="4617720" y="3474720"/>
            <a:ext cx="2926080" cy="457200"/>
          </a:xfrm>
          <a:prstGeom prst="rect">
            <a:avLst/>
          </a:prstGeom>
          <a:noFill/>
          <a:ln/>
        </p:spPr>
        <p:txBody>
          <a:bodyPr wrap="square" lIns="0" tIns="0" rIns="0" bIns="0" rtlCol="0" anchor="t"/>
          <a:lstStyle/>
          <a:p>
            <a:pPr indent="0" marL="0">
              <a:buNone/>
            </a:pPr>
            <a:r>
              <a:rPr lang="en-US" sz="2200" b="1" dirty="0">
                <a:solidFill>
                  <a:schemeClr val="accent1"/>
                </a:solidFill>
              </a:rPr>
              <a:t>Step 2: Fill the calendar</a:t>
            </a:r>
            <a:endParaRPr lang="en-US" sz="2200" dirty="0"/>
          </a:p>
        </p:txBody>
      </p:sp>
      <p:sp>
        <p:nvSpPr>
          <p:cNvPr id="12" name="Text 8"/>
          <p:cNvSpPr txBox="1"/>
          <p:nvPr/>
        </p:nvSpPr>
        <p:spPr>
          <a:xfrm>
            <a:off x="4617720" y="4069080"/>
            <a:ext cx="2926080" cy="1828800"/>
          </a:xfrm>
          <a:prstGeom prst="rect">
            <a:avLst/>
          </a:prstGeom>
          <a:noFill/>
          <a:ln/>
        </p:spPr>
        <p:txBody>
          <a:bodyPr wrap="square" lIns="0" tIns="0" rIns="0" bIns="0" rtlCol="0" anchor="t"/>
          <a:lstStyle/>
          <a:p>
            <a:pPr indent="0" marL="0">
              <a:buNone/>
            </a:pPr>
            <a:r>
              <a:rPr lang="en-US" sz="1600" dirty="0">
                <a:solidFill>
                  <a:schemeClr val="bg1"/>
                </a:solidFill>
              </a:rPr>
              <a:t>We run your Google and Meta ads and booking page. Every lead gets a reply in minutes, day and night.</a:t>
            </a:r>
            <a:endParaRPr lang="en-US" sz="1600" dirty="0"/>
          </a:p>
        </p:txBody>
      </p:sp>
      <p:sp>
        <p:nvSpPr>
          <p:cNvPr id="13" name="Step card 3"/>
          <p:cNvSpPr/>
          <p:nvPr/>
        </p:nvSpPr>
        <p:spPr>
          <a:xfrm>
            <a:off x="8046720" y="2103120"/>
            <a:ext cx="3566160" cy="3931920"/>
          </a:xfrm>
          <a:prstGeom prst="roundRect">
            <a:avLst>
              <a:gd name="adj" fmla="val 3077"/>
            </a:avLst>
          </a:prstGeom>
          <a:solidFill>
            <a:schemeClr val="accent6"/>
          </a:solidFill>
          <a:ln w="12700">
            <a:solidFill>
              <a:schemeClr val="accent6"/>
            </a:solidFill>
            <a:prstDash val="solid"/>
          </a:ln>
        </p:spPr>
      </p:sp>
      <p:sp>
        <p:nvSpPr>
          <p:cNvPr id="14" name="Step 3: Cut no-shows icon circle"/>
          <p:cNvSpPr/>
          <p:nvPr/>
        </p:nvSpPr>
        <p:spPr>
          <a:xfrm>
            <a:off x="8366760" y="2423160"/>
            <a:ext cx="822960" cy="822960"/>
          </a:xfrm>
          <a:prstGeom prst="ellipse">
            <a:avLst/>
          </a:prstGeom>
          <a:solidFill>
            <a:srgbClr val="5FE0C0"/>
          </a:solidFill>
          <a:ln w="12700">
            <a:solidFill>
              <a:srgbClr val="5FE0C0"/>
            </a:solidFill>
            <a:prstDash val="solid"/>
          </a:ln>
        </p:spPr>
      </p:sp>
      <p:pic>
        <p:nvPicPr>
          <p:cNvPr id="15" name="Step 3: Cut no-shows icon" descr="Step 3: Cut no-shows icon">    </p:cNvPr>
          <p:cNvPicPr>
            <a:picLocks noChangeAspect="1"/>
          </p:cNvPicPr>
          <p:nvPr/>
        </p:nvPicPr>
        <p:blipFill>
          <a:blip r:embed="rId3"/>
          <a:stretch>
            <a:fillRect/>
          </a:stretch>
        </p:blipFill>
        <p:spPr>
          <a:xfrm>
            <a:off x="8588959" y="2645359"/>
            <a:ext cx="378562" cy="378562"/>
          </a:xfrm>
          <a:prstGeom prst="rect">
            <a:avLst/>
          </a:prstGeom>
        </p:spPr>
      </p:pic>
      <p:sp>
        <p:nvSpPr>
          <p:cNvPr id="16" name="Text 11"/>
          <p:cNvSpPr txBox="1"/>
          <p:nvPr/>
        </p:nvSpPr>
        <p:spPr>
          <a:xfrm>
            <a:off x="8366760" y="3474720"/>
            <a:ext cx="2926080" cy="457200"/>
          </a:xfrm>
          <a:prstGeom prst="rect">
            <a:avLst/>
          </a:prstGeom>
          <a:noFill/>
          <a:ln/>
        </p:spPr>
        <p:txBody>
          <a:bodyPr wrap="square" lIns="0" tIns="0" rIns="0" bIns="0" rtlCol="0" anchor="t"/>
          <a:lstStyle/>
          <a:p>
            <a:pPr indent="0" marL="0">
              <a:buNone/>
            </a:pPr>
            <a:r>
              <a:rPr lang="en-US" sz="2200" b="1" dirty="0">
                <a:solidFill>
                  <a:schemeClr val="accent1"/>
                </a:solidFill>
              </a:rPr>
              <a:t>Step 3: Cut no-shows</a:t>
            </a:r>
            <a:endParaRPr lang="en-US" sz="2200" dirty="0"/>
          </a:p>
        </p:txBody>
      </p:sp>
      <p:sp>
        <p:nvSpPr>
          <p:cNvPr id="17" name="Text 12"/>
          <p:cNvSpPr txBox="1"/>
          <p:nvPr/>
        </p:nvSpPr>
        <p:spPr>
          <a:xfrm>
            <a:off x="8366760" y="4069080"/>
            <a:ext cx="2926080" cy="1828800"/>
          </a:xfrm>
          <a:prstGeom prst="rect">
            <a:avLst/>
          </a:prstGeom>
          <a:noFill/>
          <a:ln/>
        </p:spPr>
        <p:txBody>
          <a:bodyPr wrap="square" lIns="0" tIns="0" rIns="0" bIns="0" rtlCol="0" anchor="t"/>
          <a:lstStyle/>
          <a:p>
            <a:pPr indent="0" marL="0">
              <a:buNone/>
            </a:pPr>
            <a:r>
              <a:rPr lang="en-US" sz="1600" dirty="0">
                <a:solidFill>
                  <a:schemeClr val="bg1"/>
                </a:solidFill>
              </a:rPr>
              <a:t>Reminders, optional deposits and a weekly report that tracks every patient from click to treatment.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Our Guarantee and Fee</a:t>
            </a:r>
            <a:endParaRPr lang="en-US" sz="3800" dirty="0"/>
          </a:p>
        </p:txBody>
      </p:sp>
      <p:sp>
        <p:nvSpPr>
          <p:cNvPr id="3" name="Guarantee panel"/>
          <p:cNvSpPr/>
          <p:nvPr/>
        </p:nvSpPr>
        <p:spPr>
          <a:xfrm>
            <a:off x="548640" y="2011680"/>
            <a:ext cx="6675120" cy="4023360"/>
          </a:xfrm>
          <a:prstGeom prst="roundRect">
            <a:avLst>
              <a:gd name="adj" fmla="val 2727"/>
            </a:avLst>
          </a:prstGeom>
          <a:solidFill>
            <a:schemeClr val="accent6"/>
          </a:solidFill>
          <a:ln w="12700">
            <a:solidFill>
              <a:schemeClr val="accent6"/>
            </a:solidFill>
            <a:prstDash val="solid"/>
          </a:ln>
        </p:spPr>
      </p:sp>
      <p:sp>
        <p:nvSpPr>
          <p:cNvPr id="4" name="Text 2"/>
          <p:cNvSpPr txBox="1"/>
          <p:nvPr/>
        </p:nvSpPr>
        <p:spPr>
          <a:xfrm>
            <a:off x="914400" y="2286000"/>
            <a:ext cx="5943600" cy="1371600"/>
          </a:xfrm>
          <a:prstGeom prst="rect">
            <a:avLst/>
          </a:prstGeom>
          <a:noFill/>
          <a:ln/>
        </p:spPr>
        <p:txBody>
          <a:bodyPr wrap="square" lIns="0" tIns="0" rIns="0" bIns="0" rtlCol="0" anchor="t"/>
          <a:lstStyle/>
          <a:p>
            <a:pPr indent="0" marL="0">
              <a:buNone/>
            </a:pPr>
            <a:r>
              <a:rPr lang="en-US" sz="2800" b="1" dirty="0">
                <a:solidFill>
                  <a:schemeClr val="accent1"/>
                </a:solidFill>
              </a:rPr>
              <a:t>If we miss your number by day 90, we work free until we deliver it</a:t>
            </a:r>
            <a:endParaRPr lang="en-US" sz="2800" dirty="0"/>
          </a:p>
        </p:txBody>
      </p:sp>
      <p:sp>
        <p:nvSpPr>
          <p:cNvPr id="5" name="Text 3"/>
          <p:cNvSpPr txBox="1"/>
          <p:nvPr/>
        </p:nvSpPr>
        <p:spPr>
          <a:xfrm>
            <a:off x="914400" y="3840480"/>
            <a:ext cx="5943600" cy="20116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Number of attended appointments agreed in writing at day 30</a:t>
            </a:r>
            <a:endParaRPr lang="en-US" sz="1800" dirty="0"/>
          </a:p>
          <a:p>
            <a:pPr marL="342900" indent="-342900">
              <a:spcAft>
                <a:spcPts val="800"/>
              </a:spcAft>
              <a:buSzPct val="100000"/>
              <a:buChar char="•"/>
            </a:pPr>
            <a:r>
              <a:rPr lang="en-US" sz="1800" dirty="0">
                <a:solidFill>
                  <a:schemeClr val="bg1"/>
                </a:solidFill>
              </a:rPr>
              <a:t>Counted from your booking system, not ad platform clicks</a:t>
            </a:r>
            <a:endParaRPr lang="en-US" sz="1800" dirty="0"/>
          </a:p>
          <a:p>
            <a:pPr marL="342900" indent="-342900">
              <a:spcAft>
                <a:spcPts val="800"/>
              </a:spcAft>
              <a:buSzPct val="100000"/>
              <a:buChar char="•"/>
            </a:pPr>
            <a:r>
              <a:rPr lang="en-US" sz="1800" dirty="0">
                <a:solidFill>
                  <a:schemeClr val="bg1"/>
                </a:solidFill>
              </a:rPr>
              <a:t>One clinic per area</a:t>
            </a:r>
            <a:endParaRPr lang="en-US" sz="1800" dirty="0"/>
          </a:p>
        </p:txBody>
      </p:sp>
      <p:sp>
        <p:nvSpPr>
          <p:cNvPr id="6" name="Fee panel"/>
          <p:cNvSpPr/>
          <p:nvPr/>
        </p:nvSpPr>
        <p:spPr>
          <a:xfrm>
            <a:off x="7498080" y="2011680"/>
            <a:ext cx="4160520" cy="4023360"/>
          </a:xfrm>
          <a:prstGeom prst="roundRect">
            <a:avLst>
              <a:gd name="adj" fmla="val 2727"/>
            </a:avLst>
          </a:prstGeom>
          <a:solidFill>
            <a:schemeClr val="bg1"/>
          </a:solidFill>
          <a:ln w="12700">
            <a:solidFill>
              <a:schemeClr val="bg1"/>
            </a:solidFill>
            <a:prstDash val="solid"/>
          </a:ln>
        </p:spPr>
      </p:sp>
      <p:sp>
        <p:nvSpPr>
          <p:cNvPr id="7" name="Text 5"/>
          <p:cNvSpPr txBox="1"/>
          <p:nvPr/>
        </p:nvSpPr>
        <p:spPr>
          <a:xfrm>
            <a:off x="7818120" y="2286000"/>
            <a:ext cx="3566160" cy="457200"/>
          </a:xfrm>
          <a:prstGeom prst="rect">
            <a:avLst/>
          </a:prstGeom>
          <a:noFill/>
          <a:ln/>
        </p:spPr>
        <p:txBody>
          <a:bodyPr wrap="square" lIns="0" tIns="0" rIns="0" bIns="0" rtlCol="0" anchor="ctr"/>
          <a:lstStyle/>
          <a:p>
            <a:pPr indent="0" marL="0">
              <a:buNone/>
            </a:pPr>
            <a:r>
              <a:rPr lang="en-US" sz="2200" b="1" dirty="0">
                <a:solidFill>
                  <a:schemeClr val="tx1"/>
                </a:solidFill>
              </a:rPr>
              <a:t>How you pay</a:t>
            </a:r>
            <a:endParaRPr lang="en-US" sz="2200" dirty="0"/>
          </a:p>
        </p:txBody>
      </p:sp>
      <p:sp>
        <p:nvSpPr>
          <p:cNvPr id="8" name="Text 6"/>
          <p:cNvSpPr txBox="1"/>
          <p:nvPr/>
        </p:nvSpPr>
        <p:spPr>
          <a:xfrm>
            <a:off x="7818120" y="2926080"/>
            <a:ext cx="361188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Ad spend: paid by you directly to Google and Meta</a:t>
            </a:r>
            <a:endParaRPr lang="en-US" sz="1800" dirty="0"/>
          </a:p>
          <a:p>
            <a:pPr marL="342900" indent="-342900">
              <a:spcAft>
                <a:spcPts val="1000"/>
              </a:spcAft>
              <a:buSzPct val="100000"/>
              <a:buChar char="•"/>
            </a:pPr>
            <a:r>
              <a:rPr lang="en-US" sz="1800" dirty="0">
                <a:solidFill>
                  <a:schemeClr val="tx1"/>
                </a:solidFill>
              </a:rPr>
              <a:t>Our fee: set for your clinic and quoted before you start</a:t>
            </a:r>
            <a:endParaRPr lang="en-US" sz="1800" dirty="0"/>
          </a:p>
          <a:p>
            <a:pPr marL="342900" indent="-342900">
              <a:spcAft>
                <a:spcPts val="1000"/>
              </a:spcAft>
              <a:buSzPct val="100000"/>
              <a:buChar char="•"/>
            </a:pPr>
            <a:r>
              <a:rPr lang="en-US" sz="1800" dirty="0">
                <a:solidFill>
                  <a:schemeClr val="tx1"/>
                </a:solidFill>
              </a:rPr>
              <a:t>First 90 days, then month to month</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Book a Clinic Growth Call</a:t>
            </a:r>
            <a:endParaRPr lang="en-US" sz="3800" dirty="0"/>
          </a:p>
        </p:txBody>
      </p:sp>
      <p:sp>
        <p:nvSpPr>
          <p:cNvPr id="3" name="Text 1"/>
          <p:cNvSpPr txBox="1"/>
          <p:nvPr/>
        </p:nvSpPr>
        <p:spPr>
          <a:xfrm>
            <a:off x="548640" y="2011680"/>
            <a:ext cx="5486400" cy="457200"/>
          </a:xfrm>
          <a:prstGeom prst="rect">
            <a:avLst/>
          </a:prstGeom>
          <a:noFill/>
          <a:ln/>
        </p:spPr>
        <p:txBody>
          <a:bodyPr wrap="square" lIns="0" tIns="0" rIns="0" bIns="0" rtlCol="0" anchor="ctr"/>
          <a:lstStyle/>
          <a:p>
            <a:pPr indent="0" marL="0">
              <a:buNone/>
            </a:pPr>
            <a:r>
              <a:rPr lang="en-US" sz="2200" b="1" dirty="0">
                <a:solidFill>
                  <a:schemeClr val="accent1"/>
                </a:solidFill>
              </a:rPr>
              <a:t>On this call, we'll:</a:t>
            </a:r>
            <a:endParaRPr lang="en-US" sz="2200" dirty="0"/>
          </a:p>
        </p:txBody>
      </p:sp>
      <p:sp>
        <p:nvSpPr>
          <p:cNvPr id="4" name="Call point dot 1"/>
          <p:cNvSpPr/>
          <p:nvPr/>
        </p:nvSpPr>
        <p:spPr>
          <a:xfrm>
            <a:off x="548640" y="274320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325880" y="2743200"/>
            <a:ext cx="5852160" cy="548640"/>
          </a:xfrm>
          <a:prstGeom prst="rect">
            <a:avLst/>
          </a:prstGeom>
          <a:noFill/>
          <a:ln/>
        </p:spPr>
        <p:txBody>
          <a:bodyPr wrap="square" lIns="0" tIns="0" rIns="0" bIns="0" rtlCol="0" anchor="ctr"/>
          <a:lstStyle/>
          <a:p>
            <a:pPr indent="0" marL="0">
              <a:buNone/>
            </a:pPr>
            <a:r>
              <a:rPr lang="en-US" sz="2000" dirty="0">
                <a:solidFill>
                  <a:schemeClr val="bg1"/>
                </a:solidFill>
              </a:rPr>
              <a:t>Find where new patients leak out of your clinic</a:t>
            </a:r>
            <a:endParaRPr lang="en-US" sz="2000" dirty="0"/>
          </a:p>
        </p:txBody>
      </p:sp>
      <p:sp>
        <p:nvSpPr>
          <p:cNvPr id="7" name="Call point dot 2"/>
          <p:cNvSpPr/>
          <p:nvPr/>
        </p:nvSpPr>
        <p:spPr>
          <a:xfrm>
            <a:off x="548640" y="361188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548640" y="36118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ext 7"/>
          <p:cNvSpPr txBox="1"/>
          <p:nvPr/>
        </p:nvSpPr>
        <p:spPr>
          <a:xfrm>
            <a:off x="1325880" y="3611880"/>
            <a:ext cx="5852160" cy="548640"/>
          </a:xfrm>
          <a:prstGeom prst="rect">
            <a:avLst/>
          </a:prstGeom>
          <a:noFill/>
          <a:ln/>
        </p:spPr>
        <p:txBody>
          <a:bodyPr wrap="square" lIns="0" tIns="0" rIns="0" bIns="0" rtlCol="0" anchor="ctr"/>
          <a:lstStyle/>
          <a:p>
            <a:pPr indent="0" marL="0">
              <a:buNone/>
            </a:pPr>
            <a:r>
              <a:rPr lang="en-US" sz="2000" dirty="0">
                <a:solidFill>
                  <a:schemeClr val="bg1"/>
                </a:solidFill>
              </a:rPr>
              <a:t>Map a plan to your next patient milestone</a:t>
            </a:r>
            <a:endParaRPr lang="en-US" sz="2000" dirty="0"/>
          </a:p>
        </p:txBody>
      </p:sp>
      <p:sp>
        <p:nvSpPr>
          <p:cNvPr id="10" name="Call point dot 3"/>
          <p:cNvSpPr/>
          <p:nvPr/>
        </p:nvSpPr>
        <p:spPr>
          <a:xfrm>
            <a:off x="548640" y="448056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548640" y="44805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2" name="Text 10"/>
          <p:cNvSpPr txBox="1"/>
          <p:nvPr/>
        </p:nvSpPr>
        <p:spPr>
          <a:xfrm>
            <a:off x="1325880" y="4480560"/>
            <a:ext cx="5852160" cy="548640"/>
          </a:xfrm>
          <a:prstGeom prst="rect">
            <a:avLst/>
          </a:prstGeom>
          <a:noFill/>
          <a:ln/>
        </p:spPr>
        <p:txBody>
          <a:bodyPr wrap="square" lIns="0" tIns="0" rIns="0" bIns="0" rtlCol="0" anchor="ctr"/>
          <a:lstStyle/>
          <a:p>
            <a:pPr indent="0" marL="0">
              <a:buNone/>
            </a:pPr>
            <a:r>
              <a:rPr lang="en-US" sz="2000" dirty="0">
                <a:solidFill>
                  <a:schemeClr val="bg1"/>
                </a:solidFill>
              </a:rPr>
              <a:t>Answer your questions and share next steps</a:t>
            </a:r>
            <a:endParaRPr lang="en-US" sz="2000" dirty="0"/>
          </a:p>
        </p:txBody>
      </p:sp>
      <p:sp>
        <p:nvSpPr>
          <p:cNvPr id="13" name="Text 11"/>
          <p:cNvSpPr txBox="1"/>
          <p:nvPr/>
        </p:nvSpPr>
        <p:spPr>
          <a:xfrm>
            <a:off x="548640" y="5486400"/>
            <a:ext cx="6858000" cy="365760"/>
          </a:xfrm>
          <a:prstGeom prst="rect">
            <a:avLst/>
          </a:prstGeom>
          <a:noFill/>
          <a:ln/>
        </p:spPr>
        <p:txBody>
          <a:bodyPr wrap="square" lIns="0" tIns="0" rIns="0" bIns="0" rtlCol="0" anchor="ctr"/>
          <a:lstStyle/>
          <a:p>
            <a:pPr indent="0" marL="0">
              <a:buNone/>
            </a:pPr>
            <a:r>
              <a:rPr lang="en-US" sz="1600" dirty="0">
                <a:solidFill>
                  <a:schemeClr val="accent5"/>
                </a:solidFill>
              </a:rPr>
              <a:t>For clinics already advertising, or ready to invest in ads.</a:t>
            </a:r>
            <a:endParaRPr lang="en-US" sz="1600" dirty="0"/>
          </a:p>
        </p:txBody>
      </p:sp>
      <p:sp>
        <p:nvSpPr>
          <p:cNvPr id="14" name="Contact panel"/>
          <p:cNvSpPr/>
          <p:nvPr/>
        </p:nvSpPr>
        <p:spPr>
          <a:xfrm>
            <a:off x="7863840" y="2011680"/>
            <a:ext cx="3794760" cy="3291840"/>
          </a:xfrm>
          <a:prstGeom prst="roundRect">
            <a:avLst>
              <a:gd name="adj" fmla="val 3333"/>
            </a:avLst>
          </a:prstGeom>
          <a:solidFill>
            <a:schemeClr val="accent6"/>
          </a:solidFill>
          <a:ln w="12700">
            <a:solidFill>
              <a:schemeClr val="accent6"/>
            </a:solidFill>
            <a:prstDash val="solid"/>
          </a:ln>
        </p:spPr>
      </p:sp>
      <p:sp>
        <p:nvSpPr>
          <p:cNvPr id="15" name="Text 13"/>
          <p:cNvSpPr txBox="1"/>
          <p:nvPr/>
        </p:nvSpPr>
        <p:spPr>
          <a:xfrm>
            <a:off x="8183880" y="2286000"/>
            <a:ext cx="3200400" cy="1463040"/>
          </a:xfrm>
          <a:prstGeom prst="rect">
            <a:avLst/>
          </a:prstGeom>
          <a:noFill/>
          <a:ln/>
        </p:spPr>
        <p:txBody>
          <a:bodyPr wrap="square" lIns="0" tIns="0" rIns="0" bIns="0" rtlCol="0" anchor="t"/>
          <a:lstStyle/>
          <a:p>
            <a:pPr indent="0" marL="0">
              <a:buNone/>
            </a:pPr>
            <a:r>
              <a:rPr lang="en-US" sz="2000" b="1" dirty="0">
                <a:solidFill>
                  <a:schemeClr val="bg1"/>
                </a:solidFill>
              </a:rPr>
              <a:t>Reply "Yes" to whoever sent you this video, and we'll send you some times.</a:t>
            </a:r>
            <a:endParaRPr lang="en-US" sz="2000" dirty="0"/>
          </a:p>
        </p:txBody>
      </p:sp>
      <p:sp>
        <p:nvSpPr>
          <p:cNvPr id="16" name="Text 14"/>
          <p:cNvSpPr txBox="1"/>
          <p:nvPr/>
        </p:nvSpPr>
        <p:spPr>
          <a:xfrm>
            <a:off x="8183880" y="4023360"/>
            <a:ext cx="3200400" cy="365760"/>
          </a:xfrm>
          <a:prstGeom prst="rect">
            <a:avLst/>
          </a:prstGeom>
          <a:noFill/>
          <a:ln/>
        </p:spPr>
        <p:txBody>
          <a:bodyPr wrap="square" lIns="0" tIns="0" rIns="0" bIns="0" rtlCol="0" anchor="ctr"/>
          <a:lstStyle/>
          <a:p>
            <a:pPr indent="0" marL="0">
              <a:buNone/>
            </a:pPr>
            <a:r>
              <a:rPr lang="en-US" sz="1600" dirty="0">
                <a:solidFill>
                  <a:schemeClr val="accent1"/>
                </a:solidFill>
              </a:rPr>
              <a:t>connect@dreamlinelabs.com</a:t>
            </a:r>
            <a:endParaRPr lang="en-US" sz="1600" dirty="0"/>
          </a:p>
        </p:txBody>
      </p:sp>
      <p:sp>
        <p:nvSpPr>
          <p:cNvPr id="17" name="Text 15"/>
          <p:cNvSpPr txBox="1"/>
          <p:nvPr/>
        </p:nvSpPr>
        <p:spPr>
          <a:xfrm>
            <a:off x="8183880" y="4434840"/>
            <a:ext cx="3200400" cy="365760"/>
          </a:xfrm>
          <a:prstGeom prst="rect">
            <a:avLst/>
          </a:prstGeom>
          <a:noFill/>
          <a:ln/>
        </p:spPr>
        <p:txBody>
          <a:bodyPr wrap="square" lIns="0" tIns="0" rIns="0" bIns="0" rtlCol="0" anchor="ctr"/>
          <a:lstStyle/>
          <a:p>
            <a:pPr indent="0" marL="0">
              <a:buNone/>
            </a:pPr>
            <a:r>
              <a:rPr lang="en-US" sz="1600" dirty="0">
                <a:solidFill>
                  <a:schemeClr val="accent1"/>
                </a:solidFill>
              </a:rPr>
              <a:t>+91 7977193104</a:t>
            </a:r>
            <a:endParaRPr lang="en-US" sz="1600" dirty="0"/>
          </a:p>
        </p:txBody>
      </p:sp>
    </p:spTree>
  </p:cSld>
  <p:clrMapOvr>
    <a:masterClrMapping/>
  </p:clrMapOvr>
</p:sld>
</file>

<file path=ppt/theme/theme1.xml><?xml version="1.0" encoding="utf-8"?>
<a:theme xmlns:a="http://schemas.openxmlformats.org/drawingml/2006/main" name="Dreamline Clinics Short">
  <a:themeElements>
    <a:clrScheme name="Dreamline Clinics Short">
      <a:dk1>
        <a:srgbClr val="0B1636"/>
      </a:dk1>
      <a:lt1>
        <a:srgbClr val="FFFFFF"/>
      </a:lt1>
      <a:dk2>
        <a:srgbClr val="0F2057"/>
      </a:dk2>
      <a:lt2>
        <a:srgbClr val="EEF2FA"/>
      </a:lt2>
      <a:accent1>
        <a:srgbClr val="5FE0C0"/>
      </a:accent1>
      <a:accent2>
        <a:srgbClr val="0B2E9B"/>
      </a:accent2>
      <a:accent3>
        <a:srgbClr val="E0594D"/>
      </a:accent3>
      <a:accent4>
        <a:srgbClr val="F2B84B"/>
      </a:accent4>
      <a:accent5>
        <a:srgbClr val="9FB0D0"/>
      </a:accent5>
      <a:accent6>
        <a:srgbClr val="1B2B63"/>
      </a:accent6>
      <a:hlink>
        <a:srgbClr val="5FE0C0"/>
      </a:hlink>
      <a:folHlink>
        <a:srgbClr val="9FB0D0"/>
      </a:folHlink>
    </a:clrScheme>
    <a:fontScheme name="Dreamline Clinics Sho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Dreamline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Dreamline Labs - Clinic Growth Deck (2 min)</dc:title>
  <dc:subject>PptxGenJS Presentation</dc:subject>
  <dc:creator>Dreamline Labs</dc:creator>
  <cp:lastModifiedBy>Dreamline Labs</cp:lastModifiedBy>
  <cp:revision>1</cp:revision>
  <dcterms:created xsi:type="dcterms:W3CDTF">2026-10-22T14:02:55Z</dcterms:created>
  <dcterms:modified xsi:type="dcterms:W3CDTF">2026-10-22T14:02:55Z</dcterms:modified>
</cp:coreProperties>
</file>